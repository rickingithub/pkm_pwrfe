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9" r:id="rId25"/>
    <p:sldId id="290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许琴琴" initials="许琴琴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0DE"/>
    <a:srgbClr val="0432FF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61"/>
    <p:restoredTop sz="93963" autoAdjust="0"/>
  </p:normalViewPr>
  <p:slideViewPr>
    <p:cSldViewPr snapToGrid="0" snapToObjects="1">
      <p:cViewPr varScale="1">
        <p:scale>
          <a:sx n="80" d="100"/>
          <a:sy n="80" d="100"/>
        </p:scale>
        <p:origin x="42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lang="en-US" altLang="zh-CN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MT9653 </a:t>
            </a:r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海外</a:t>
            </a:r>
            <a:r>
              <a:rPr lang="en-US" altLang="zh-CN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DI</a:t>
            </a:r>
            <a:r>
              <a:rPr lang="zh-CN" altLang="en-US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值趋势</a:t>
            </a:r>
            <a:endParaRPr lang="zh-CN" altLang="en-US" sz="1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c:rich>
      </c:tx>
      <c:layout>
        <c:manualLayout>
          <c:xMode val="edge"/>
          <c:yMode val="edge"/>
          <c:x val="0.33934"/>
          <c:y val="0.044135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1273"/>
          <c:y val="0.15"/>
          <c:w val="0.880861"/>
          <c:h val="0.605021"/>
        </c:manualLayout>
      </c:layout>
      <c:lineChart>
        <c:grouping val="standar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MT9653总DI</c:v>
                </c:pt>
              </c:strCache>
            </c:strRef>
          </c:tx>
          <c:spPr>
            <a:ln w="12700" cap="rnd" cmpd="sng">
              <a:solidFill>
                <a:schemeClr val="accent2"/>
              </a:solidFill>
              <a:prstDash val="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</c:f>
              <c:strCache>
                <c:ptCount val="13"/>
                <c:pt idx="0">
                  <c:v>M0</c:v>
                </c:pt>
                <c:pt idx="1">
                  <c:v>M1a</c:v>
                </c:pt>
                <c:pt idx="2">
                  <c:v>M1b</c:v>
                </c:pt>
                <c:pt idx="3">
                  <c:v>M1c</c:v>
                </c:pt>
                <c:pt idx="4">
                  <c:v>M1d</c:v>
                </c:pt>
                <c:pt idx="5">
                  <c:v>M1e</c:v>
                </c:pt>
                <c:pt idx="6">
                  <c:v>M2</c:v>
                </c:pt>
                <c:pt idx="7">
                  <c:v>M3</c:v>
                </c:pt>
                <c:pt idx="8">
                  <c:v>M4</c:v>
                </c:pt>
                <c:pt idx="9">
                  <c:v>M5</c:v>
                </c:pt>
                <c:pt idx="10">
                  <c:v>V1</c:v>
                </c:pt>
                <c:pt idx="11">
                  <c:v>V2</c:v>
                </c:pt>
                <c:pt idx="12">
                  <c:v>V3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13"/>
                <c:pt idx="0">
                  <c:v>650</c:v>
                </c:pt>
                <c:pt idx="1">
                  <c:v>3120</c:v>
                </c:pt>
                <c:pt idx="2">
                  <c:v>5330</c:v>
                </c:pt>
                <c:pt idx="3">
                  <c:v>7540</c:v>
                </c:pt>
                <c:pt idx="4">
                  <c:v>9100</c:v>
                </c:pt>
                <c:pt idx="5">
                  <c:v>10400</c:v>
                </c:pt>
                <c:pt idx="6">
                  <c:v>11440</c:v>
                </c:pt>
                <c:pt idx="7">
                  <c:v>12220</c:v>
                </c:pt>
                <c:pt idx="8">
                  <c:v>12740</c:v>
                </c:pt>
                <c:pt idx="9">
                  <c:v>12870</c:v>
                </c:pt>
                <c:pt idx="10">
                  <c:v>12961</c:v>
                </c:pt>
                <c:pt idx="11">
                  <c:v>12993.5</c:v>
                </c:pt>
                <c:pt idx="12">
                  <c:v>13000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MT9653预估
解决DI值</c:v>
                </c:pt>
              </c:strCache>
            </c:strRef>
          </c:tx>
          <c:spPr>
            <a:ln w="12700" cap="rnd" cmpd="sng">
              <a:solidFill>
                <a:schemeClr val="accent1"/>
              </a:solidFill>
              <a:prstDash val="dash"/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</c:f>
              <c:strCache>
                <c:ptCount val="13"/>
                <c:pt idx="0">
                  <c:v>M0</c:v>
                </c:pt>
                <c:pt idx="1">
                  <c:v>M1a</c:v>
                </c:pt>
                <c:pt idx="2">
                  <c:v>M1b</c:v>
                </c:pt>
                <c:pt idx="3">
                  <c:v>M1c</c:v>
                </c:pt>
                <c:pt idx="4">
                  <c:v>M1d</c:v>
                </c:pt>
                <c:pt idx="5">
                  <c:v>M1e</c:v>
                </c:pt>
                <c:pt idx="6">
                  <c:v>M2</c:v>
                </c:pt>
                <c:pt idx="7">
                  <c:v>M3</c:v>
                </c:pt>
                <c:pt idx="8">
                  <c:v>M4</c:v>
                </c:pt>
                <c:pt idx="9">
                  <c:v>M5</c:v>
                </c:pt>
                <c:pt idx="10">
                  <c:v>V1</c:v>
                </c:pt>
                <c:pt idx="11">
                  <c:v>V2</c:v>
                </c:pt>
                <c:pt idx="12">
                  <c:v>V3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13"/>
                <c:pt idx="0">
                  <c:v>0</c:v>
                </c:pt>
                <c:pt idx="1" c:formatCode="0.0_ ">
                  <c:v>910</c:v>
                </c:pt>
                <c:pt idx="2" c:formatCode="0.0_ ">
                  <c:v>2730</c:v>
                </c:pt>
                <c:pt idx="3" c:formatCode="0.0_ ">
                  <c:v>4940</c:v>
                </c:pt>
                <c:pt idx="4" c:formatCode="0.0_ ">
                  <c:v>7410</c:v>
                </c:pt>
                <c:pt idx="5" c:formatCode="0.0_ ">
                  <c:v>9750</c:v>
                </c:pt>
                <c:pt idx="6" c:formatCode="0.0_ ">
                  <c:v>11180</c:v>
                </c:pt>
                <c:pt idx="7" c:formatCode="0.0_ ">
                  <c:v>11960</c:v>
                </c:pt>
                <c:pt idx="8" c:formatCode="0.0_ ">
                  <c:v>12350</c:v>
                </c:pt>
                <c:pt idx="9" c:formatCode="0.0_ ">
                  <c:v>12675</c:v>
                </c:pt>
                <c:pt idx="10" c:formatCode="0.0_ ">
                  <c:v>12870</c:v>
                </c:pt>
                <c:pt idx="11" c:formatCode="0.0_ ">
                  <c:v>12909</c:v>
                </c:pt>
                <c:pt idx="12" c:formatCode="0.0_ ">
                  <c:v>12935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</c:f>
              <c:strCache>
                <c:ptCount val="1"/>
                <c:pt idx="0">
                  <c:v>MT9615总DI值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</c:f>
              <c:strCache>
                <c:ptCount val="13"/>
                <c:pt idx="0">
                  <c:v>M0</c:v>
                </c:pt>
                <c:pt idx="1">
                  <c:v>M1a</c:v>
                </c:pt>
                <c:pt idx="2">
                  <c:v>M1b</c:v>
                </c:pt>
                <c:pt idx="3">
                  <c:v>M1c</c:v>
                </c:pt>
                <c:pt idx="4">
                  <c:v>M1d</c:v>
                </c:pt>
                <c:pt idx="5">
                  <c:v>M1e</c:v>
                </c:pt>
                <c:pt idx="6">
                  <c:v>M2</c:v>
                </c:pt>
                <c:pt idx="7">
                  <c:v>M3</c:v>
                </c:pt>
                <c:pt idx="8">
                  <c:v>M4</c:v>
                </c:pt>
                <c:pt idx="9">
                  <c:v>M5</c:v>
                </c:pt>
                <c:pt idx="10">
                  <c:v>V1</c:v>
                </c:pt>
                <c:pt idx="11">
                  <c:v>V2</c:v>
                </c:pt>
                <c:pt idx="12">
                  <c:v>V3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13"/>
                <c:pt idx="0">
                  <c:v>1324.2</c:v>
                </c:pt>
                <c:pt idx="1">
                  <c:v>3714.7</c:v>
                </c:pt>
                <c:pt idx="2">
                  <c:v>4259.7</c:v>
                </c:pt>
                <c:pt idx="3">
                  <c:v>4960.2</c:v>
                </c:pt>
                <c:pt idx="4">
                  <c:v>5577.5</c:v>
                </c:pt>
                <c:pt idx="5">
                  <c:v>6369.4</c:v>
                </c:pt>
                <c:pt idx="6">
                  <c:v>7321.9</c:v>
                </c:pt>
                <c:pt idx="7">
                  <c:v>8337.1</c:v>
                </c:pt>
                <c:pt idx="8">
                  <c:v>8636.1</c:v>
                </c:pt>
                <c:pt idx="9">
                  <c:v>9363.4</c:v>
                </c:pt>
                <c:pt idx="10">
                  <c:v>12996.2</c:v>
                </c:pt>
                <c:pt idx="11">
                  <c:v>14856.4</c:v>
                </c:pt>
                <c:pt idx="12">
                  <c:v>15593.6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</c:f>
              <c:strCache>
                <c:ptCount val="1"/>
                <c:pt idx="0">
                  <c:v>MT9615 解决DI值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</c:f>
              <c:strCache>
                <c:ptCount val="13"/>
                <c:pt idx="0">
                  <c:v>M0</c:v>
                </c:pt>
                <c:pt idx="1">
                  <c:v>M1a</c:v>
                </c:pt>
                <c:pt idx="2">
                  <c:v>M1b</c:v>
                </c:pt>
                <c:pt idx="3">
                  <c:v>M1c</c:v>
                </c:pt>
                <c:pt idx="4">
                  <c:v>M1d</c:v>
                </c:pt>
                <c:pt idx="5">
                  <c:v>M1e</c:v>
                </c:pt>
                <c:pt idx="6">
                  <c:v>M2</c:v>
                </c:pt>
                <c:pt idx="7">
                  <c:v>M3</c:v>
                </c:pt>
                <c:pt idx="8">
                  <c:v>M4</c:v>
                </c:pt>
                <c:pt idx="9">
                  <c:v>M5</c:v>
                </c:pt>
                <c:pt idx="10">
                  <c:v>V1</c:v>
                </c:pt>
                <c:pt idx="11">
                  <c:v>V2</c:v>
                </c:pt>
                <c:pt idx="12">
                  <c:v>V3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13"/>
                <c:pt idx="0">
                  <c:v>10</c:v>
                </c:pt>
                <c:pt idx="1">
                  <c:v>1238</c:v>
                </c:pt>
                <c:pt idx="2">
                  <c:v>1879.1</c:v>
                </c:pt>
                <c:pt idx="3">
                  <c:v>2580.1</c:v>
                </c:pt>
                <c:pt idx="4">
                  <c:v>2982.1</c:v>
                </c:pt>
                <c:pt idx="5">
                  <c:v>3344.1</c:v>
                </c:pt>
                <c:pt idx="6">
                  <c:v>3874.1</c:v>
                </c:pt>
                <c:pt idx="7">
                  <c:v>4584.3</c:v>
                </c:pt>
                <c:pt idx="8">
                  <c:v>5091.5</c:v>
                </c:pt>
                <c:pt idx="9">
                  <c:v>5549.9</c:v>
                </c:pt>
                <c:pt idx="10">
                  <c:v>9746.8</c:v>
                </c:pt>
                <c:pt idx="11">
                  <c:v>11473.5</c:v>
                </c:pt>
                <c:pt idx="12">
                  <c:v>11927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11325218"/>
        <c:axId val="214042342"/>
      </c:lineChart>
      <c:catAx>
        <c:axId val="41132521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4042342"/>
        <c:crosses val="autoZero"/>
        <c:auto val="1"/>
        <c:lblAlgn val="ctr"/>
        <c:lblOffset val="100"/>
        <c:noMultiLvlLbl val="0"/>
      </c:catAx>
      <c:valAx>
        <c:axId val="21404234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1132521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d09155f-eb3e-49cf-bef5-3e3065ea79e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30T16:49:35.651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DC459-2FDE-384B-BC4D-E0C5A62CC535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F79E-B6B7-534B-AAEE-1F443B7D50DA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单独部分发给部门长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5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69F79E-B6B7-534B-AAEE-1F443B7D50DA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/>
            </a:endParaRPr>
          </a:p>
          <a:p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/>
            </a:endParaRPr>
          </a:p>
          <a:p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/>
            </a:endParaRPr>
          </a:p>
          <a:p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208747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012C4FC9-AD83-4DFA-94F1-B3C99A7E5CB7}" type="slidenum">
              <a:rPr/>
            </a:fld>
            <a:endParaRPr lang="zh-CN"/>
          </a:p>
        </p:txBody>
      </p:sp>
      <p:grpSp>
        <p:nvGrpSpPr>
          <p:cNvPr id="5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6" name="图片 8" descr="图片包含 图形用户界面  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7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solid"/>
              <a:miter/>
            </a:ln>
          </p:spPr>
        </p:cxnSp>
      </p:grpSp>
      <p:pic>
        <p:nvPicPr>
          <p:cNvPr id="8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93413" y="269875"/>
            <a:ext cx="854075" cy="2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18A676D4-7E11-46D8-B20F-62AE693770E5}" type="slidenum">
              <a:rPr/>
            </a:fld>
            <a:endParaRPr lang="zh-CN"/>
          </a:p>
        </p:txBody>
      </p:sp>
      <p:pic>
        <p:nvPicPr>
          <p:cNvPr id="11" name="图片 10" descr="徽标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pic>
        <p:nvPicPr>
          <p:cNvPr id="12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93413" y="269875"/>
            <a:ext cx="854075" cy="2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0" descr="徽标, 公司名称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15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>
                <a:solidFill>
                  <a:srgbClr val="898989"/>
                </a:solidFill>
                <a:latin typeface="FZLanTingHei-M-GBK"/>
                <a:ea typeface="FZLanTingHei-M-GBK"/>
              </a:rPr>
              <a:t>www.tcl.com</a:t>
            </a:r>
            <a:endParaRPr lang="zh-CN" sz="1200">
              <a:solidFill>
                <a:srgbClr val="898989"/>
              </a:solidFill>
              <a:latin typeface="FZLanTingHei-M-GBK"/>
              <a:ea typeface="FZLanTingHei-M-GB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5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DE934BB1-384F-43B5-B05F-2414E83EAAE3}" type="slidenum">
              <a:rPr/>
            </a:fld>
            <a:endParaRPr lang="zh-CN"/>
          </a:p>
        </p:txBody>
      </p:sp>
      <p:pic>
        <p:nvPicPr>
          <p:cNvPr id="1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3413" y="269875"/>
            <a:ext cx="854075" cy="2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D7185-6511-4F20-803A-528B81C96EDF}" type="slidenum">
              <a:rPr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为方正兰亭 , 最大30pt"/>
          <p:cNvSpPr txBox="1"/>
          <p:nvPr/>
        </p:nvSpPr>
        <p:spPr>
          <a:xfrm>
            <a:off x="733511" y="3025009"/>
            <a:ext cx="3613150" cy="50800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lvl="0" defTabSz="203200"/>
            <a:r>
              <a:rPr lang="en-US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XXX</a:t>
            </a:r>
            <a:r>
              <a:rPr lang="zh-CN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项目结项报告</a:t>
            </a: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3.0</a:t>
            </a:r>
            <a:endParaRPr lang="en-US" sz="30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副标题字体为方正兰亭, 14pt"/>
          <p:cNvSpPr txBox="1"/>
          <p:nvPr/>
        </p:nvSpPr>
        <p:spPr>
          <a:xfrm>
            <a:off x="740174" y="4163123"/>
            <a:ext cx="3508974" cy="312906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10820">
              <a:defRPr sz="2800" b="0">
                <a:solidFill>
                  <a:srgbClr val="5E5E5E"/>
                </a:solidFill>
                <a:latin typeface="Helvetica"/>
                <a:ea typeface="Helvetica"/>
              </a:defRPr>
            </a:pPr>
            <a:r>
              <a:rPr lang="en-US" sz="1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软件工程中心</a:t>
            </a:r>
            <a:r>
              <a:rPr lang="zh-CN" sz="1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| </a:t>
            </a:r>
            <a:r>
              <a:rPr lang="zh-CN" sz="1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泛智屏解决方案中心</a:t>
            </a:r>
            <a:endParaRPr sz="17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Helvetica 常规体 8pt"/>
          <p:cNvSpPr txBox="1"/>
          <p:nvPr/>
        </p:nvSpPr>
        <p:spPr>
          <a:xfrm>
            <a:off x="740174" y="4736478"/>
            <a:ext cx="3422650" cy="330200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>
            <a:lvl1pPr lvl="0" algn="l" defTabSz="421640">
              <a:defRPr sz="1600" b="0">
                <a:solidFill>
                  <a:srgbClr val="5E5E5E"/>
                </a:solidFill>
                <a:latin typeface="Helvetica"/>
                <a:ea typeface="Helvetica"/>
              </a:defRPr>
            </a:lvl1pPr>
          </a:lstStyle>
          <a:p>
            <a:pPr>
              <a:lnSpc>
                <a:spcPct val="150000"/>
              </a:lnSpc>
            </a:pPr>
            <a:r>
              <a:rPr lang="zh-CN" sz="120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汇报时间：</a:t>
            </a:r>
            <a:r>
              <a:rPr lang="en-US" sz="120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2024-xx-xx</a:t>
            </a:r>
            <a:endParaRPr lang="en-US" sz="120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581" y="1211127"/>
            <a:ext cx="1686959" cy="540000"/>
          </a:xfrm>
          <a:prstGeom prst="rect">
            <a:avLst/>
          </a:prstGeom>
        </p:spPr>
      </p:pic>
      <p:sp>
        <p:nvSpPr>
          <p:cNvPr id="6" name="文本框 12"/>
          <p:cNvSpPr txBox="1"/>
          <p:nvPr/>
        </p:nvSpPr>
        <p:spPr>
          <a:xfrm>
            <a:off x="733511" y="5177562"/>
            <a:ext cx="1762811" cy="295658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>
            <a:lvl1pPr lvl="0" defTabSz="421640">
              <a:lnSpc>
                <a:spcPct val="150000"/>
              </a:lnSpc>
              <a:defRPr sz="12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dirty="0"/>
              <a:t>拟制</a:t>
            </a:r>
            <a:r>
              <a:rPr lang="zh-CN" dirty="0" smtClean="0"/>
              <a:t>：</a:t>
            </a:r>
            <a:endParaRPr lang="zh-CN" dirty="0"/>
          </a:p>
        </p:txBody>
      </p:sp>
      <p:sp>
        <p:nvSpPr>
          <p:cNvPr id="7" name="文本框 13"/>
          <p:cNvSpPr txBox="1"/>
          <p:nvPr/>
        </p:nvSpPr>
        <p:spPr>
          <a:xfrm>
            <a:off x="733511" y="5501412"/>
            <a:ext cx="1467275" cy="295658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>
            <a:lvl1pPr lvl="0" defTabSz="421640">
              <a:lnSpc>
                <a:spcPct val="150000"/>
              </a:lnSpc>
              <a:defRPr sz="12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dirty="0"/>
              <a:t>审核</a:t>
            </a:r>
            <a:r>
              <a:rPr lang="zh-CN" dirty="0" smtClean="0"/>
              <a:t>：</a:t>
            </a:r>
            <a:endParaRPr lang="zh-CN" dirty="0"/>
          </a:p>
        </p:txBody>
      </p:sp>
      <p:sp>
        <p:nvSpPr>
          <p:cNvPr id="8" name="文本框 14"/>
          <p:cNvSpPr txBox="1"/>
          <p:nvPr/>
        </p:nvSpPr>
        <p:spPr>
          <a:xfrm>
            <a:off x="740174" y="5811166"/>
            <a:ext cx="1279670" cy="323850"/>
          </a:xfrm>
          <a:prstGeom prst="rect">
            <a:avLst/>
          </a:prstGeom>
          <a:ln w="12700">
            <a:miter/>
          </a:ln>
        </p:spPr>
        <p:txBody>
          <a:bodyPr wrap="square" lIns="25400" tIns="25400" rIns="25400" bIns="25400" anchor="ctr">
            <a:spAutoFit/>
          </a:bodyPr>
          <a:lstStyle>
            <a:lvl1pPr lvl="0" defTabSz="421640">
              <a:lnSpc>
                <a:spcPct val="150000"/>
              </a:lnSpc>
              <a:defRPr sz="12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/>
              <a:t>批准：赵德民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E292F-1EBE-6D4A-B339-A324D614A372}" type="slidenum">
              <a:rPr/>
            </a:fld>
            <a:endParaRPr kumimoji="1" lang="zh-CN" altLang="en-US"/>
          </a:p>
        </p:txBody>
      </p:sp>
      <p:sp>
        <p:nvSpPr>
          <p:cNvPr id="78" name="主标题为方正兰亭 , 最大30pt"/>
          <p:cNvSpPr txBox="1"/>
          <p:nvPr/>
        </p:nvSpPr>
        <p:spPr>
          <a:xfrm>
            <a:off x="1123472" y="195099"/>
            <a:ext cx="1128514" cy="374461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21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rPr>
              <a:t>写作思路</a:t>
            </a:r>
            <a:endParaRPr sz="21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FZLanTingHei-M-GBK" panose="02000000000000000000" pitchFamily="2" charset="-122"/>
            </a:endParaRPr>
          </a:p>
        </p:txBody>
      </p:sp>
      <p:grpSp>
        <p:nvGrpSpPr>
          <p:cNvPr id="79" name="Group 4"/>
          <p:cNvGrpSpPr/>
          <p:nvPr/>
        </p:nvGrpSpPr>
        <p:grpSpPr>
          <a:xfrm>
            <a:off x="786185" y="1197927"/>
            <a:ext cx="10619629" cy="4471670"/>
            <a:chOff x="655320" y="1231265"/>
            <a:chExt cx="10619629" cy="4471670"/>
          </a:xfrm>
        </p:grpSpPr>
        <p:sp>
          <p:nvSpPr>
            <p:cNvPr id="80" name="内容占位符 2"/>
            <p:cNvSpPr txBox="1"/>
            <p:nvPr/>
          </p:nvSpPr>
          <p:spPr>
            <a:xfrm>
              <a:off x="6096000" y="1231265"/>
              <a:ext cx="5178949" cy="44716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2">
                      <a:lumMod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2">
                      <a:lumMod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2">
                      <a:lumMod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2">
                      <a:lumMod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2">
                      <a:lumMod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lvl="0" indent="-285750" algn="l" defTabSz="412750">
                <a:lnSpc>
                  <a:spcPct val="130000"/>
                </a:lnSpc>
                <a:buFont typeface="Wingdings" panose="05000000000000000000" charset="0"/>
                <a:buChar char="Ø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Helvetica Neue"/>
                  <a:sym typeface="等线" panose="02010600030101010101" charset="-122"/>
                </a:rPr>
                <a:t>三个核心目的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Helvetica Neue"/>
                <a:sym typeface="等线" panose="02010600030101010101" charset="-122"/>
              </a:endParaRPr>
            </a:p>
            <a:p>
              <a:pPr marL="199390" lvl="1" algn="l" defTabSz="39878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对</a:t>
              </a:r>
              <a:r>
                <a:rPr lang="zh-CN" b="0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目标达成</a:t>
              </a:r>
              <a:r>
                <a:rPr lang="zh-CN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情况进行复盘，</a:t>
              </a:r>
              <a:r>
                <a:rPr lang="zh-CN" b="1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竞争力指标与上一代产品和同档位竞品相比</a:t>
              </a:r>
              <a:r>
                <a:rPr lang="zh-CN" sz="1800" b="1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是否领先</a:t>
              </a:r>
              <a:endParaRPr lang="zh-CN" sz="1800" b="1">
                <a:solidFill>
                  <a:srgbClr val="0000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endParaRPr>
            </a:p>
            <a:p>
              <a:pPr marL="199390" lvl="1" algn="l" defTabSz="39878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对</a:t>
              </a:r>
              <a:r>
                <a:rPr lang="zh-CN" b="0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下一阶段关键目标</a:t>
              </a:r>
              <a:r>
                <a:rPr lang="zh-CN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进行规划，指导产品</a:t>
              </a:r>
              <a:r>
                <a:rPr lang="zh-CN" b="0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上市保障</a:t>
              </a:r>
              <a:r>
                <a:rPr lang="zh-CN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策略制定和执行，</a:t>
              </a:r>
              <a:r>
                <a:rPr lang="zh-CN" sz="1800" b="1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项目价值落地到用户侧</a:t>
              </a:r>
              <a:endParaRPr lang="zh-CN" sz="1800" b="1">
                <a:solidFill>
                  <a:srgbClr val="0000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endParaRPr>
            </a:p>
            <a:p>
              <a:pPr marL="199390" lvl="1" algn="l" defTabSz="39878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回顾整个项目开发过程，对需求管控、策略制定和执行、风险管控、资源管控等方面，进行复盘总结，</a:t>
              </a:r>
              <a:r>
                <a:rPr lang="zh-CN" b="0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指导后续其他项目开发，</a:t>
              </a:r>
              <a:r>
                <a:rPr lang="zh-CN" sz="1800" b="1">
                  <a:solidFill>
                    <a:srgbClr val="0000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等线" panose="02010600030101010101" charset="-122"/>
                </a:rPr>
                <a:t>知识沉淀，能力提升</a:t>
              </a:r>
              <a:endParaRPr lang="zh-CN" sz="1800" b="1">
                <a:solidFill>
                  <a:srgbClr val="0000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endParaRPr>
            </a:p>
            <a:p>
              <a:pPr marL="0" lvl="0" algn="l" defTabSz="412750">
                <a:lnSpc>
                  <a:spcPct val="130000"/>
                </a:lnSpc>
                <a:buFontTx/>
                <a:buNone/>
              </a:pPr>
              <a:r>
                <a:rPr lang="zh-CN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Helvetica Neue"/>
                  <a:sym typeface="等线" panose="02010600030101010101" charset="-122"/>
                </a:rPr>
                <a:t>    </a:t>
              </a:r>
              <a:endParaRPr lang="zh-CN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Helvetica Neue"/>
                <a:sym typeface="等线" panose="02010600030101010101" charset="-122"/>
              </a:endParaRPr>
            </a:p>
          </p:txBody>
        </p:sp>
        <p:sp>
          <p:nvSpPr>
            <p:cNvPr id="81" name="文本框 2"/>
            <p:cNvSpPr txBox="1"/>
            <p:nvPr/>
          </p:nvSpPr>
          <p:spPr>
            <a:xfrm>
              <a:off x="655320" y="1231265"/>
              <a:ext cx="5178950" cy="44361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 anchor="t" anchorCtr="0">
              <a:noAutofit/>
            </a:bodyPr>
            <a:lstStyle/>
            <a:p>
              <a:pPr marL="285750" lvl="0" indent="-285750" algn="l">
                <a:lnSpc>
                  <a:spcPct val="200000"/>
                </a:lnSpc>
                <a:buFont typeface="Wingdings" panose="05000000000000000000" charset="0"/>
                <a:buChar char="Ø"/>
              </a:pPr>
              <a:r>
                <a:rPr lang="zh-CN" sz="1600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按项目目标和开发策略的达成偏差为分析指引</a:t>
              </a:r>
              <a:endParaRPr lang="zh-CN" sz="1600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  <a:p>
              <a:pPr marL="285750" lvl="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sz="1600" b="1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商业目标</a:t>
              </a:r>
              <a:r>
                <a:rPr lang="zh-CN" sz="1600" b="0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：目标</a:t>
              </a:r>
              <a:r>
                <a:rPr lang="zh-CN" sz="1600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达成偏差分析</a:t>
              </a:r>
              <a:endParaRPr lang="zh-CN" sz="1600">
                <a:solidFill>
                  <a:srgbClr val="3333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  <a:p>
              <a:pPr marL="285750" lvl="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sz="1600" b="1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项目范围</a:t>
              </a:r>
              <a:r>
                <a:rPr lang="zh-CN" sz="1600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：需求管控偏差分析</a:t>
              </a:r>
              <a:endParaRPr lang="zh-CN" sz="1600">
                <a:solidFill>
                  <a:srgbClr val="3333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  <a:p>
              <a:pPr marL="285750" lvl="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sz="1600" b="1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项目开发</a:t>
              </a:r>
              <a:r>
                <a:rPr lang="zh-CN" sz="1600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：开发策略、质量策略、里程碑计划、风险管控偏差分析</a:t>
              </a:r>
              <a:endParaRPr lang="zh-CN" sz="1600">
                <a:solidFill>
                  <a:srgbClr val="3333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  <a:p>
              <a:pPr marL="285750" lvl="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sz="1600" b="1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资源预算</a:t>
              </a:r>
              <a:r>
                <a:rPr lang="zh-CN" sz="1600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：资源预算执行偏差分析</a:t>
              </a:r>
              <a:endParaRPr lang="zh-CN" sz="1600">
                <a:solidFill>
                  <a:srgbClr val="3333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  <a:p>
              <a:pPr marL="285750" lvl="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sz="1600" b="1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上市保障计划</a:t>
              </a:r>
              <a:r>
                <a:rPr lang="zh-CN" sz="1600" b="0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：项目价值落地到用户</a:t>
              </a:r>
              <a:endParaRPr lang="zh-CN" sz="1600" b="0">
                <a:solidFill>
                  <a:srgbClr val="3333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  <a:p>
              <a:pPr marL="285750" lvl="0" indent="-285750" algn="l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CN" sz="1600" b="1">
                  <a:solidFill>
                    <a:srgbClr val="3333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  <a:sym typeface="等线" panose="02010600030101010101" charset="-122"/>
                </a:rPr>
                <a:t>知识沉淀汇总</a:t>
              </a:r>
              <a:endParaRPr lang="zh-CN" sz="1600" b="1">
                <a:solidFill>
                  <a:srgbClr val="3333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等线" panose="02010600030101010101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F07F83B-BC75-4894-AB18-2D662E8AEB0E}" type="slidenum">
              <a:rPr/>
            </a:fld>
            <a:endParaRPr lang="zh-CN"/>
          </a:p>
        </p:txBody>
      </p:sp>
      <p:sp>
        <p:nvSpPr>
          <p:cNvPr id="320" name="主标题为方正兰亭 , 最大30pt"/>
          <p:cNvSpPr txBox="1"/>
          <p:nvPr/>
        </p:nvSpPr>
        <p:spPr>
          <a:xfrm>
            <a:off x="1123472" y="195099"/>
            <a:ext cx="2744341" cy="374461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/>
                </a:solidFill>
                <a:latin typeface="Helvetica"/>
                <a:ea typeface="Helvetica"/>
              </a:defRPr>
            </a:pPr>
            <a:r>
              <a:rPr lang="en-US" sz="21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各领域评审意见及答复</a:t>
            </a:r>
            <a:endParaRPr sz="21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1" name="表格 4"/>
          <p:cNvGraphicFramePr/>
          <p:nvPr>
            <p:custDataLst>
              <p:tags r:id="rId1"/>
            </p:custDataLst>
          </p:nvPr>
        </p:nvGraphicFramePr>
        <p:xfrm>
          <a:off x="158750" y="933450"/>
          <a:ext cx="11870055" cy="5606415"/>
        </p:xfrm>
        <a:graphic>
          <a:graphicData uri="http://schemas.openxmlformats.org/drawingml/2006/table">
            <a:tbl>
              <a:tblPr/>
              <a:tblGrid>
                <a:gridCol w="1858645"/>
                <a:gridCol w="1040765"/>
                <a:gridCol w="3777615"/>
                <a:gridCol w="3987165"/>
                <a:gridCol w="1205865"/>
              </a:tblGrid>
              <a:tr h="219710">
                <a:tc>
                  <a:txBody>
                    <a:bodyPr/>
                    <a:lstStyle/>
                    <a:p>
                      <a:pPr algn="ctr"/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角色</a:t>
                      </a:r>
                      <a:endParaRPr 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姓名</a:t>
                      </a:r>
                      <a:endParaRPr 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沟通意见</a:t>
                      </a:r>
                      <a:endParaRPr 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沟通答复</a:t>
                      </a:r>
                      <a:endParaRPr 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沟通日期</a:t>
                      </a:r>
                      <a:endParaRPr 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905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10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软件代表（该项目所在产品线的软件代表）</a:t>
                      </a:r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10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987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PDT</a:t>
                      </a:r>
                      <a:r>
                        <a:rPr lang="zh-CN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经理</a:t>
                      </a:r>
                      <a:endParaRPr lang="zh-CN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1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10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987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800" kern="12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r>
                        <a:rPr lang="zh-CN" sz="1100" kern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质量保障一中心负责人</a:t>
                      </a:r>
                      <a:endParaRPr sz="1800" kern="120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800" kern="12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r>
                        <a:rPr kumimoji="0" lang="en-US" altLang="zh-CN" sz="11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kumimoji="0" lang="zh-CN" altLang="zh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1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marL="0" algn="ctr" defTabSz="914400">
                        <a:buNone/>
                        <a:defRPr sz="1800">
                          <a:solidFill>
                            <a:srgbClr val="000000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r>
                        <a:rPr lang="zh-CN" sz="11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产品战略与体验管理部负责人</a:t>
                      </a:r>
                      <a:endParaRPr lang="zh-CN" sz="11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800" kern="12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r>
                        <a:rPr lang="en-US" altLang="zh-CN" sz="1100" kern="12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lang="zh-CN" sz="1100" kern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10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10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测试技术部负责人</a:t>
                      </a:r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 sz="11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zh-CN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1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1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软件</a:t>
                      </a:r>
                      <a:r>
                        <a:rPr lang="en-US" altLang="zh-CN" sz="11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LMT</a:t>
                      </a:r>
                      <a:r>
                        <a:rPr lang="zh-CN" altLang="en-US" sz="11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负责人</a:t>
                      </a:r>
                      <a:endParaRPr lang="zh-CN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kumimoji="0" lang="zh-CN" altLang="zh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100" i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1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1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3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泛智屏产品项目部负责人</a:t>
                      </a:r>
                      <a:endParaRPr lang="zh-CN" altLang="en-US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kumimoji="0" lang="en-US" altLang="zh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100" i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1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1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泛智屏解决方案中心</a:t>
                      </a:r>
                      <a:r>
                        <a:rPr lang="en-US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PMO</a:t>
                      </a:r>
                      <a:endParaRPr lang="en-US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kumimoji="0" lang="zh-CN" altLang="zh-C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zh-CN" sz="110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9F74095-967E-4BE1-A307-099B2D4F9119}" type="slidenum">
              <a:rPr/>
            </a:fld>
            <a:endParaRPr lang="zh-CN"/>
          </a:p>
        </p:txBody>
      </p:sp>
      <p:sp>
        <p:nvSpPr>
          <p:cNvPr id="347" name="主标题为方正兰亭 , 最大30pt"/>
          <p:cNvSpPr txBox="1"/>
          <p:nvPr/>
        </p:nvSpPr>
        <p:spPr>
          <a:xfrm>
            <a:off x="1123472" y="195099"/>
            <a:ext cx="27178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结项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报告版本编码明细</a:t>
            </a:r>
            <a:endParaRPr lang="en-US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348" name="表格 1"/>
          <p:cNvGraphicFramePr/>
          <p:nvPr/>
        </p:nvGraphicFramePr>
        <p:xfrm>
          <a:off x="495300" y="1087181"/>
          <a:ext cx="11198080" cy="2420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511"/>
                <a:gridCol w="2949642"/>
                <a:gridCol w="5120631"/>
                <a:gridCol w="1346145"/>
                <a:gridCol w="1313151"/>
              </a:tblGrid>
              <a:tr h="215977">
                <a:tc rowSpan="2">
                  <a:txBody>
                    <a:bodyPr/>
                    <a:lstStyle/>
                    <a:p>
                      <a:pPr algn="ctr"/>
                      <a:r>
                        <a:rPr lang="zh-CN" sz="11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sz="11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报告编码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  <a:p>
                      <a:pPr algn="ctr"/>
                      <a:r>
                        <a:rPr 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（年份</a:t>
                      </a:r>
                      <a:r>
                        <a:rPr 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-</a:t>
                      </a:r>
                      <a:r>
                        <a:rPr 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项目名</a:t>
                      </a:r>
                      <a:r>
                        <a:rPr 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-</a:t>
                      </a:r>
                      <a:r>
                        <a:rPr 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版本）</a:t>
                      </a:r>
                      <a:endParaRPr lang="zh-CN" sz="1000" b="1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变更明细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/>
                </a:tc>
                <a:tc hMerge="1">
                  <a:tcPr marL="72000" marR="72000" marT="36000" marB="36000" anchor="ctr"/>
                </a:tc>
                <a:tc hMerge="1">
                  <a:tcPr marL="72000" marR="72000" marT="36000" marB="36000" anchor="ctr"/>
                </a:tc>
              </a:tr>
              <a:tr h="215977">
                <a:tc vMerge="1">
                  <a:tcPr marL="72000" marR="72000" marT="36000" marB="36000" anchor="ctr"/>
                </a:tc>
                <a:tc vMerge="1"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变更内容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39878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修订人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修订时间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/>
                </a:tc>
              </a:tr>
              <a:tr h="21597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zh-CN" sz="11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39878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5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2024-MT9653-CN-X11H-01</a:t>
                      </a:r>
                      <a:endParaRPr lang="en-US" sz="105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创建</a:t>
                      </a:r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xx/xx/xx</a:t>
                      </a:r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  <a:tr h="2159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</a:t>
                      </a:r>
                      <a:endParaRPr lang="zh-CN" altLang="en-US" sz="110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r>
                        <a:rPr lang="en-US"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2024-MT9653-CN-X11H-02</a:t>
                      </a:r>
                      <a:endParaRPr lang="en-US" sz="105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按内审意见修订</a:t>
                      </a:r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r>
                        <a:rPr lang="zh-CN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、</a:t>
                      </a:r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r>
                        <a:rPr lang="zh-CN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、</a:t>
                      </a:r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xx/xx/xx</a:t>
                      </a:r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  <a:tr h="251481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</a:t>
                      </a:r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r>
                        <a:rPr lang="en-US"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2024-MT9653-CN-X11H-03</a:t>
                      </a:r>
                      <a:endParaRPr lang="en-US" sz="105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增加</a:t>
                      </a:r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</a:t>
                      </a:r>
                      <a:r>
                        <a:rPr lang="zh-CN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、</a:t>
                      </a:r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</a:t>
                      </a:r>
                      <a:r>
                        <a:rPr lang="zh-CN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；完善</a:t>
                      </a:r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</a:t>
                      </a:r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</a:t>
                      </a:r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  <a:tr h="215977"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39878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endParaRPr lang="en-US" sz="105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  <a:tr h="215977"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39878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sz="1050" b="0" i="0" u="none" strike="noStrike" spc="0" baseline="0">
                        <a:ln>
                          <a:noFill/>
                        </a:ln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  <a:tr h="251481"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39878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  <a:defRPr sz="1800">
                          <a:solidFill>
                            <a:schemeClr val="tx1">
                              <a:alpha val="100000"/>
                            </a:scheme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+mn-cs"/>
                        </a:defRPr>
                      </a:pPr>
                      <a:endParaRPr lang="en-US" sz="105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  <a:tr h="215977"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39878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sz="1050" b="0" i="0" u="none" strike="noStrike" spc="0" baseline="0">
                        <a:ln>
                          <a:noFill/>
                        </a:ln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  <a:tr h="215977"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lvl="0" indent="0" algn="ctr" defTabSz="39878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endParaRPr lang="en-US" sz="1050" b="0" i="0" u="none" strike="noStrike" spc="0" baseline="0">
                        <a:ln>
                          <a:noFill/>
                        </a:ln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zh-CN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主标题为方正兰亭 , 最大30pt"/>
          <p:cNvSpPr txBox="1"/>
          <p:nvPr/>
        </p:nvSpPr>
        <p:spPr>
          <a:xfrm>
            <a:off x="1123472" y="195099"/>
            <a:ext cx="589905" cy="374461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rPr>
              <a:t>目录</a:t>
            </a:r>
            <a:endParaRPr sz="21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FZLanTingHei-M-GBK" panose="02000000000000000000" pitchFamily="2" charset="-122"/>
            </a:endParaRPr>
          </a:p>
        </p:txBody>
      </p:sp>
      <p:sp>
        <p:nvSpPr>
          <p:cNvPr id="351" name="矩形 14"/>
          <p:cNvSpPr/>
          <p:nvPr/>
        </p:nvSpPr>
        <p:spPr>
          <a:xfrm>
            <a:off x="1080083" y="591026"/>
            <a:ext cx="7793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89898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catalog</a:t>
            </a:r>
            <a:endParaRPr lang="zh-CN" altLang="en-US" sz="1400" dirty="0">
              <a:solidFill>
                <a:srgbClr val="898989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52" name="Group 29"/>
          <p:cNvGrpSpPr/>
          <p:nvPr/>
        </p:nvGrpSpPr>
        <p:grpSpPr>
          <a:xfrm>
            <a:off x="2602733" y="1659728"/>
            <a:ext cx="4313078" cy="393700"/>
            <a:chOff x="2411999" y="1889730"/>
            <a:chExt cx="4313078" cy="393700"/>
          </a:xfrm>
        </p:grpSpPr>
        <p:pic>
          <p:nvPicPr>
            <p:cNvPr id="353" name="图片 12" descr="形状, 正方形  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1999" y="1961087"/>
              <a:ext cx="279400" cy="266700"/>
            </a:xfrm>
            <a:prstGeom prst="rect">
              <a:avLst/>
            </a:prstGeom>
          </p:spPr>
        </p:pic>
        <p:sp>
          <p:nvSpPr>
            <p:cNvPr id="354" name="主标题为方正兰亭 , 最大30pt"/>
            <p:cNvSpPr txBox="1"/>
            <p:nvPr/>
          </p:nvSpPr>
          <p:spPr>
            <a:xfrm>
              <a:off x="2457876" y="1927735"/>
              <a:ext cx="193964" cy="3436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/>
            <a:p>
              <a:pPr defTabSz="205740">
                <a:defRPr sz="6000">
                  <a:solidFill>
                    <a:srgbClr val="5E5E5E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altLang="zh-CN" sz="1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LanTingHei-M-GBK" panose="02000000000000000000" pitchFamily="2" charset="-122"/>
                </a:rPr>
                <a:t>1</a:t>
              </a:r>
              <a:endParaRPr sz="1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endParaRPr>
            </a:p>
          </p:txBody>
        </p:sp>
        <p:sp>
          <p:nvSpPr>
            <p:cNvPr id="355" name="矩形 18"/>
            <p:cNvSpPr/>
            <p:nvPr/>
          </p:nvSpPr>
          <p:spPr>
            <a:xfrm>
              <a:off x="2737276" y="1889730"/>
              <a:ext cx="3987801" cy="3937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商业目标</a:t>
              </a:r>
              <a:r>
                <a:rPr lang="zh-CN" sz="200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：商业目标达成偏差分析</a:t>
              </a:r>
              <a:endParaRPr lang="zh-CN" sz="200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56" name="Group 28"/>
          <p:cNvGrpSpPr/>
          <p:nvPr/>
        </p:nvGrpSpPr>
        <p:grpSpPr>
          <a:xfrm>
            <a:off x="2602733" y="2269227"/>
            <a:ext cx="3805078" cy="393703"/>
            <a:chOff x="2411999" y="2499229"/>
            <a:chExt cx="3805078" cy="393699"/>
          </a:xfrm>
        </p:grpSpPr>
        <p:pic>
          <p:nvPicPr>
            <p:cNvPr id="357" name="图片 16" descr="形状, 正方形  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1999" y="2558229"/>
              <a:ext cx="279400" cy="266700"/>
            </a:xfrm>
            <a:prstGeom prst="rect">
              <a:avLst/>
            </a:prstGeom>
          </p:spPr>
        </p:pic>
        <p:sp>
          <p:nvSpPr>
            <p:cNvPr id="358" name="主标题为方正兰亭 , 最大30pt"/>
            <p:cNvSpPr txBox="1"/>
            <p:nvPr/>
          </p:nvSpPr>
          <p:spPr>
            <a:xfrm>
              <a:off x="2457876" y="2524877"/>
              <a:ext cx="193964" cy="3436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/>
            <a:p>
              <a:pPr defTabSz="205740">
                <a:defRPr sz="6000">
                  <a:solidFill>
                    <a:srgbClr val="5E5E5E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altLang="zh-CN" sz="1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LanTingHei-M-GBK" panose="02000000000000000000" pitchFamily="2" charset="-122"/>
                </a:rPr>
                <a:t>2</a:t>
              </a:r>
              <a:endParaRPr sz="1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endParaRPr>
            </a:p>
          </p:txBody>
        </p:sp>
        <p:sp>
          <p:nvSpPr>
            <p:cNvPr id="359" name="矩形 19"/>
            <p:cNvSpPr/>
            <p:nvPr/>
          </p:nvSpPr>
          <p:spPr>
            <a:xfrm>
              <a:off x="2737276" y="2499229"/>
              <a:ext cx="3479801" cy="3937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项目范围</a:t>
              </a:r>
              <a:r>
                <a:rPr lang="zh-CN" sz="2000" b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：需求管控偏差分析</a:t>
              </a:r>
              <a:endParaRPr lang="zh-CN" sz="2000" b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60" name="幻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E292F-1EBE-6D4A-B339-A324D614A372}" type="slidenum">
              <a:rPr/>
            </a:fld>
            <a:endParaRPr kumimoji="1" lang="zh-CN" altLang="en-US"/>
          </a:p>
        </p:txBody>
      </p:sp>
      <p:grpSp>
        <p:nvGrpSpPr>
          <p:cNvPr id="361" name="Group 27"/>
          <p:cNvGrpSpPr/>
          <p:nvPr/>
        </p:nvGrpSpPr>
        <p:grpSpPr>
          <a:xfrm>
            <a:off x="2602733" y="2878726"/>
            <a:ext cx="7869077" cy="393700"/>
            <a:chOff x="2411999" y="3108728"/>
            <a:chExt cx="7869077" cy="393700"/>
          </a:xfrm>
        </p:grpSpPr>
        <p:pic>
          <p:nvPicPr>
            <p:cNvPr id="362" name="图片 16" descr="形状, 正方形  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1999" y="3167728"/>
              <a:ext cx="279400" cy="266700"/>
            </a:xfrm>
            <a:prstGeom prst="rect">
              <a:avLst/>
            </a:prstGeom>
          </p:spPr>
        </p:pic>
        <p:sp>
          <p:nvSpPr>
            <p:cNvPr id="363" name="主标题为方正兰亭 , 最大30pt"/>
            <p:cNvSpPr txBox="1"/>
            <p:nvPr/>
          </p:nvSpPr>
          <p:spPr>
            <a:xfrm>
              <a:off x="2457876" y="3134376"/>
              <a:ext cx="193964" cy="3436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/>
            <a:p>
              <a:pPr defTabSz="205740">
                <a:defRPr sz="6000">
                  <a:solidFill>
                    <a:srgbClr val="5E5E5E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altLang="zh-CN" sz="1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LanTingHei-M-GBK" panose="02000000000000000000" pitchFamily="2" charset="-122"/>
                </a:rPr>
                <a:t>3</a:t>
              </a:r>
              <a:endParaRPr sz="1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endParaRPr>
            </a:p>
          </p:txBody>
        </p:sp>
        <p:sp>
          <p:nvSpPr>
            <p:cNvPr id="364" name="矩形 19"/>
            <p:cNvSpPr/>
            <p:nvPr/>
          </p:nvSpPr>
          <p:spPr>
            <a:xfrm>
              <a:off x="2737276" y="3108728"/>
              <a:ext cx="7543800" cy="3937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项目开发</a:t>
              </a:r>
              <a:r>
                <a:rPr lang="zh-CN" sz="200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</a:t>
              </a:r>
              <a:r>
                <a:rPr lang="zh-CN" sz="2000" b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开发策略、质量策略、里程碑计划、风险管控偏差分析</a:t>
              </a:r>
              <a:endParaRPr lang="zh-CN" sz="2000" b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65" name="Group 26"/>
          <p:cNvGrpSpPr/>
          <p:nvPr/>
        </p:nvGrpSpPr>
        <p:grpSpPr>
          <a:xfrm>
            <a:off x="2602733" y="3500120"/>
            <a:ext cx="4313078" cy="393700"/>
            <a:chOff x="2411999" y="3730122"/>
            <a:chExt cx="4313078" cy="393700"/>
          </a:xfrm>
        </p:grpSpPr>
        <p:pic>
          <p:nvPicPr>
            <p:cNvPr id="366" name="图片 16" descr="形状, 正方形  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1999" y="3789122"/>
              <a:ext cx="279400" cy="266700"/>
            </a:xfrm>
            <a:prstGeom prst="rect">
              <a:avLst/>
            </a:prstGeom>
          </p:spPr>
        </p:pic>
        <p:sp>
          <p:nvSpPr>
            <p:cNvPr id="367" name="主标题为方正兰亭 , 最大30pt"/>
            <p:cNvSpPr txBox="1"/>
            <p:nvPr/>
          </p:nvSpPr>
          <p:spPr>
            <a:xfrm>
              <a:off x="2457876" y="3755770"/>
              <a:ext cx="193964" cy="3436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/>
            <a:p>
              <a:pPr defTabSz="205740">
                <a:defRPr sz="6000">
                  <a:solidFill>
                    <a:srgbClr val="5E5E5E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altLang="zh-CN" sz="1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LanTingHei-M-GBK" panose="02000000000000000000" pitchFamily="2" charset="-122"/>
                </a:rPr>
                <a:t>4</a:t>
              </a:r>
              <a:endParaRPr sz="1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endParaRPr>
            </a:p>
          </p:txBody>
        </p:sp>
        <p:sp>
          <p:nvSpPr>
            <p:cNvPr id="368" name="矩形 19"/>
            <p:cNvSpPr/>
            <p:nvPr/>
          </p:nvSpPr>
          <p:spPr>
            <a:xfrm>
              <a:off x="2737276" y="3730122"/>
              <a:ext cx="3987801" cy="3937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资源预算</a:t>
              </a:r>
              <a:r>
                <a:rPr lang="zh-CN" sz="200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：资源预算执行</a:t>
              </a:r>
              <a:r>
                <a:rPr lang="zh-CN" sz="2000" b="0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偏差分析</a:t>
              </a:r>
              <a:endParaRPr lang="zh-CN" sz="2000" b="0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69" name="Group 25"/>
          <p:cNvGrpSpPr/>
          <p:nvPr/>
        </p:nvGrpSpPr>
        <p:grpSpPr>
          <a:xfrm>
            <a:off x="2602733" y="4185686"/>
            <a:ext cx="2027077" cy="393700"/>
            <a:chOff x="2411999" y="4415688"/>
            <a:chExt cx="2027077" cy="393700"/>
          </a:xfrm>
        </p:grpSpPr>
        <p:pic>
          <p:nvPicPr>
            <p:cNvPr id="370" name="图片 16" descr="形状, 正方形  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1999" y="4474688"/>
              <a:ext cx="279400" cy="266700"/>
            </a:xfrm>
            <a:prstGeom prst="rect">
              <a:avLst/>
            </a:prstGeom>
          </p:spPr>
        </p:pic>
        <p:sp>
          <p:nvSpPr>
            <p:cNvPr id="371" name="主标题为方正兰亭 , 最大30pt"/>
            <p:cNvSpPr txBox="1"/>
            <p:nvPr/>
          </p:nvSpPr>
          <p:spPr>
            <a:xfrm>
              <a:off x="2457876" y="4441336"/>
              <a:ext cx="193964" cy="3436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/>
            <a:p>
              <a:pPr defTabSz="205740">
                <a:defRPr sz="6000">
                  <a:solidFill>
                    <a:srgbClr val="5E5E5E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altLang="zh-CN" sz="1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LanTingHei-M-GBK" panose="02000000000000000000" pitchFamily="2" charset="-122"/>
                </a:rPr>
                <a:t>5</a:t>
              </a:r>
              <a:endParaRPr sz="1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endParaRPr>
            </a:p>
          </p:txBody>
        </p:sp>
        <p:sp>
          <p:nvSpPr>
            <p:cNvPr id="372" name="矩形 19"/>
            <p:cNvSpPr/>
            <p:nvPr/>
          </p:nvSpPr>
          <p:spPr>
            <a:xfrm>
              <a:off x="2737276" y="4415688"/>
              <a:ext cx="1701800" cy="3937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上市保障计划</a:t>
              </a:r>
              <a:endParaRPr lang="zh-CN" sz="2000" b="1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373" name="Group 24"/>
          <p:cNvGrpSpPr/>
          <p:nvPr/>
        </p:nvGrpSpPr>
        <p:grpSpPr>
          <a:xfrm>
            <a:off x="2602733" y="4871252"/>
            <a:ext cx="2027077" cy="393700"/>
            <a:chOff x="2411999" y="5101254"/>
            <a:chExt cx="2027077" cy="393700"/>
          </a:xfrm>
        </p:grpSpPr>
        <p:pic>
          <p:nvPicPr>
            <p:cNvPr id="374" name="图片 16" descr="形状, 正方形  描述已自动生成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1999" y="5160254"/>
              <a:ext cx="279400" cy="266700"/>
            </a:xfrm>
            <a:prstGeom prst="rect">
              <a:avLst/>
            </a:prstGeom>
          </p:spPr>
        </p:pic>
        <p:sp>
          <p:nvSpPr>
            <p:cNvPr id="375" name="主标题为方正兰亭 , 最大30pt"/>
            <p:cNvSpPr txBox="1"/>
            <p:nvPr/>
          </p:nvSpPr>
          <p:spPr>
            <a:xfrm>
              <a:off x="2457876" y="5126902"/>
              <a:ext cx="193964" cy="343684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/>
            <a:p>
              <a:pPr defTabSz="205740">
                <a:defRPr sz="6000">
                  <a:solidFill>
                    <a:srgbClr val="5E5E5E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altLang="zh-CN" sz="19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LanTingHei-M-GBK" panose="02000000000000000000" pitchFamily="2" charset="-122"/>
                </a:rPr>
                <a:t>6</a:t>
              </a:r>
              <a:endParaRPr sz="1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LanTingHei-M-GBK" panose="02000000000000000000" pitchFamily="2" charset="-122"/>
              </a:endParaRPr>
            </a:p>
          </p:txBody>
        </p:sp>
        <p:sp>
          <p:nvSpPr>
            <p:cNvPr id="376" name="矩形 19"/>
            <p:cNvSpPr/>
            <p:nvPr/>
          </p:nvSpPr>
          <p:spPr>
            <a:xfrm>
              <a:off x="2737276" y="5101254"/>
              <a:ext cx="1701800" cy="3937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sz="2000" b="1"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知识沉淀汇总</a:t>
              </a:r>
              <a:endParaRPr lang="zh-CN" sz="2000" b="1"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07570E6-E614-45D8-96EA-149B8ECEB8B6}" type="slidenum">
              <a:rPr/>
            </a:fld>
            <a:endParaRPr lang="zh-CN"/>
          </a:p>
        </p:txBody>
      </p:sp>
      <p:sp>
        <p:nvSpPr>
          <p:cNvPr id="379" name="矩形 2"/>
          <p:cNvSpPr/>
          <p:nvPr/>
        </p:nvSpPr>
        <p:spPr>
          <a:xfrm>
            <a:off x="4697219" y="2912181"/>
            <a:ext cx="2616200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+mn-cs"/>
              </a:rPr>
              <a:t>一、商业目标</a:t>
            </a:r>
            <a:endParaRPr lang="zh-CN" sz="32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0" name="矩形 3"/>
          <p:cNvSpPr/>
          <p:nvPr/>
        </p:nvSpPr>
        <p:spPr>
          <a:xfrm>
            <a:off x="4684863" y="3517664"/>
            <a:ext cx="2717800" cy="393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商业目标达成偏差分析</a:t>
            </a:r>
            <a:endParaRPr lang="zh-CN" sz="2000" b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E1FDBB-49D6-42F2-8C34-EBB058735BD1}" type="slidenum">
              <a:rPr/>
            </a:fld>
            <a:endParaRPr lang="zh-CN"/>
          </a:p>
        </p:txBody>
      </p:sp>
      <p:sp>
        <p:nvSpPr>
          <p:cNvPr id="383" name="主标题为方正兰亭 , 最大30pt"/>
          <p:cNvSpPr txBox="1"/>
          <p:nvPr/>
        </p:nvSpPr>
        <p:spPr>
          <a:xfrm>
            <a:off x="1123472" y="195099"/>
            <a:ext cx="30988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1.1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商业目标达成偏差分析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4" name="TextBox 77"/>
          <p:cNvSpPr>
            <a:spLocks noChangeArrowheads="1"/>
          </p:cNvSpPr>
          <p:nvPr/>
        </p:nvSpPr>
        <p:spPr>
          <a:xfrm>
            <a:off x="7786607" y="769575"/>
            <a:ext cx="4273170" cy="2006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4K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高端（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4K120Hz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）产品，主打音画、游戏、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歌</a:t>
            </a:r>
            <a:endParaRPr lang="en-US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该机芯会覆盖到</a:t>
            </a:r>
            <a:r>
              <a:rPr 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X/C/P</a:t>
            </a: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产品线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CBG：线上腰部主销产品，对标海信E5/E7；线下全渠道布局，KA主销</a:t>
            </a:r>
            <a:endParaRPr lang="zh-CN" sz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OBG：线下聚焦重点国家重点KA卖场，覆盖客户线上渠道，超大尺寸作为某些国家渠道特供型号。</a:t>
            </a:r>
            <a:endParaRPr lang="zh-CN" sz="1200" b="1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TextBox 83"/>
          <p:cNvSpPr>
            <a:spLocks noChangeArrowheads="1"/>
          </p:cNvSpPr>
          <p:nvPr/>
        </p:nvSpPr>
        <p:spPr>
          <a:xfrm>
            <a:off x="132224" y="949034"/>
            <a:ext cx="3765896" cy="11676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全球共机芯，取代中国MT9652/海外MT9615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机芯，通过LD、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Tconless120Hz</a:t>
            </a:r>
            <a:r>
              <a:rPr lang="zh-CN" sz="1200" b="1" dirty="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</a:rPr>
              <a:t>降本</a:t>
            </a: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及高刷提升中腰产品竞争力，取得市场突破</a:t>
            </a:r>
            <a:endParaRPr lang="zh-CN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预测销量：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万台</a:t>
            </a:r>
            <a:endParaRPr lang="en-US" sz="1200" b="1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TextBox 90"/>
          <p:cNvSpPr>
            <a:spLocks noChangeArrowheads="1"/>
          </p:cNvSpPr>
          <p:nvPr/>
        </p:nvSpPr>
        <p:spPr>
          <a:xfrm>
            <a:off x="461894" y="2512947"/>
            <a:ext cx="4656903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lvl="0"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1pPr>
            <a:lvl2pPr marL="742950" lvl="1" indent="-285750"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2pPr>
            <a:lvl3pPr marL="1143000" lvl="2" indent="-228600"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3pPr>
            <a:lvl4pPr marL="1600200" lvl="3" indent="-228600"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4pPr>
            <a:lvl5pPr marL="2057400" lvl="4" indent="-228600"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/>
                <a:ea typeface="华文细黑" panose="02010600040101010101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中国：</a:t>
            </a:r>
            <a:endParaRPr lang="en-US" sz="12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线下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C11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G：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55/65/75</a:t>
            </a:r>
            <a:endParaRPr lang="en-US" sz="12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线上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C78G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55/65/75</a:t>
            </a:r>
            <a:endParaRPr lang="en-US" sz="12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50000"/>
              </a:lnSpc>
            </a:pP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海外：</a:t>
            </a:r>
            <a:endParaRPr lang="zh-CN" sz="12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33045" lvl="0" indent="-233045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C74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GL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55/65/75</a:t>
            </a:r>
            <a:r>
              <a:rPr lang="en-US" alt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/85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</a:t>
            </a:r>
            <a:endParaRPr lang="en-US" sz="12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33045" lvl="0" indent="-233045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C84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GL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55/65/75        </a:t>
            </a:r>
            <a:endParaRPr lang="en-US" sz="12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33045" lvl="0" indent="-233045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Q750G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NA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55/65/75</a:t>
            </a:r>
            <a:r>
              <a:rPr lang="en-US" alt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/85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sz="12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33045" lvl="0" indent="-233045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QM850G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NA</a:t>
            </a:r>
            <a:r>
              <a:rPr lang="zh-CN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en-US" sz="12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55/65/75 </a:t>
            </a:r>
            <a:endParaRPr lang="en-US" sz="1200" b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87" name="Group 27"/>
          <p:cNvGrpSpPr/>
          <p:nvPr/>
        </p:nvGrpSpPr>
        <p:grpSpPr>
          <a:xfrm>
            <a:off x="4211051" y="949034"/>
            <a:ext cx="3575556" cy="3575390"/>
            <a:chOff x="4795838" y="2112963"/>
            <a:chExt cx="2633662" cy="2622550"/>
          </a:xfrm>
        </p:grpSpPr>
        <p:grpSp>
          <p:nvGrpSpPr>
            <p:cNvPr id="388" name="组合 23"/>
            <p:cNvGrpSpPr/>
            <p:nvPr/>
          </p:nvGrpSpPr>
          <p:grpSpPr>
            <a:xfrm>
              <a:off x="4795838" y="2112963"/>
              <a:ext cx="2633662" cy="2622550"/>
              <a:chOff x="4277618" y="1813081"/>
              <a:chExt cx="3512584" cy="3496242"/>
            </a:xfrm>
          </p:grpSpPr>
          <p:grpSp>
            <p:nvGrpSpPr>
              <p:cNvPr id="389" name="组合 13"/>
              <p:cNvGrpSpPr/>
              <p:nvPr/>
            </p:nvGrpSpPr>
            <p:grpSpPr>
              <a:xfrm>
                <a:off x="4277618" y="3489753"/>
                <a:ext cx="1677196" cy="1819570"/>
                <a:chOff x="4277618" y="3489753"/>
                <a:chExt cx="1677196" cy="1819570"/>
              </a:xfrm>
            </p:grpSpPr>
            <p:sp>
              <p:nvSpPr>
                <p:cNvPr id="390" name="等腰三角形 51"/>
                <p:cNvSpPr>
                  <a:spLocks noChangeArrowheads="1"/>
                </p:cNvSpPr>
                <p:nvPr/>
              </p:nvSpPr>
              <p:spPr>
                <a:xfrm>
                  <a:off x="4277618" y="3489753"/>
                  <a:ext cx="1676894" cy="1819570"/>
                </a:xfrm>
                <a:custGeom>
                  <a:avLst/>
                  <a:gdLst>
                    <a:gd name="T0" fmla="*/ 216016 w 1260000"/>
                    <a:gd name="T1" fmla="*/ 0 h 1367762"/>
                    <a:gd name="T2" fmla="*/ 287857 w 1260000"/>
                    <a:gd name="T3" fmla="*/ 107762 h 1367762"/>
                    <a:gd name="T4" fmla="*/ 852738 w 1260000"/>
                    <a:gd name="T5" fmla="*/ 107762 h 1367762"/>
                    <a:gd name="T6" fmla="*/ 1260000 w 1260000"/>
                    <a:gd name="T7" fmla="*/ 517549 h 1367762"/>
                    <a:gd name="T8" fmla="*/ 1260000 w 1260000"/>
                    <a:gd name="T9" fmla="*/ 1043866 h 1367762"/>
                    <a:gd name="T10" fmla="*/ 1152000 w 1260000"/>
                    <a:gd name="T11" fmla="*/ 1115866 h 1367762"/>
                    <a:gd name="T12" fmla="*/ 1260000 w 1260000"/>
                    <a:gd name="T13" fmla="*/ 1187866 h 1367762"/>
                    <a:gd name="T14" fmla="*/ 1260000 w 1260000"/>
                    <a:gd name="T15" fmla="*/ 1367762 h 1367762"/>
                    <a:gd name="T16" fmla="*/ 0 w 1260000"/>
                    <a:gd name="T17" fmla="*/ 1367762 h 1367762"/>
                    <a:gd name="T18" fmla="*/ 0 w 1260000"/>
                    <a:gd name="T19" fmla="*/ 107762 h 1367762"/>
                    <a:gd name="T20" fmla="*/ 144175 w 1260000"/>
                    <a:gd name="T21" fmla="*/ 107762 h 13677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60000" h="1367762">
                      <a:moveTo>
                        <a:pt x="216016" y="0"/>
                      </a:moveTo>
                      <a:lnTo>
                        <a:pt x="287857" y="107762"/>
                      </a:lnTo>
                      <a:lnTo>
                        <a:pt x="852738" y="107762"/>
                      </a:lnTo>
                      <a:cubicBezTo>
                        <a:pt x="874619" y="323286"/>
                        <a:pt x="1044854" y="494352"/>
                        <a:pt x="1260000" y="517549"/>
                      </a:cubicBezTo>
                      <a:lnTo>
                        <a:pt x="1260000" y="1043866"/>
                      </a:lnTo>
                      <a:lnTo>
                        <a:pt x="1152000" y="1115866"/>
                      </a:lnTo>
                      <a:lnTo>
                        <a:pt x="1260000" y="1187866"/>
                      </a:lnTo>
                      <a:lnTo>
                        <a:pt x="1260000" y="1367762"/>
                      </a:lnTo>
                      <a:lnTo>
                        <a:pt x="0" y="1367762"/>
                      </a:lnTo>
                      <a:lnTo>
                        <a:pt x="0" y="107762"/>
                      </a:lnTo>
                      <a:lnTo>
                        <a:pt x="144175" y="107762"/>
                      </a:lnTo>
                      <a:close/>
                    </a:path>
                  </a:pathLst>
                </a:custGeom>
                <a:solidFill>
                  <a:srgbClr val="B081A8"/>
                </a:solidFill>
                <a:ln>
                  <a:noFill/>
                </a:ln>
              </p:spPr>
              <p:txBody>
                <a:bodyPr anchor="ctr"/>
                <a:lstStyle/>
                <a:p>
                  <a:endParaRPr lang="zh-CN"/>
                </a:p>
              </p:txBody>
            </p:sp>
            <p:sp>
              <p:nvSpPr>
                <p:cNvPr id="391" name="矩形 83"/>
                <p:cNvSpPr>
                  <a:spLocks noChangeArrowheads="1"/>
                </p:cNvSpPr>
                <p:nvPr/>
              </p:nvSpPr>
              <p:spPr>
                <a:xfrm>
                  <a:off x="4277618" y="4255720"/>
                  <a:ext cx="1677196" cy="553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zh-CN" sz="210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规划尺寸</a:t>
                  </a:r>
                  <a:endParaRPr lang="zh-CN" sz="210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92" name="组合 14"/>
              <p:cNvGrpSpPr/>
              <p:nvPr/>
            </p:nvGrpSpPr>
            <p:grpSpPr>
              <a:xfrm>
                <a:off x="5954512" y="3632651"/>
                <a:ext cx="1821398" cy="1676672"/>
                <a:chOff x="5954512" y="3632651"/>
                <a:chExt cx="1821398" cy="1676672"/>
              </a:xfrm>
            </p:grpSpPr>
            <p:sp>
              <p:nvSpPr>
                <p:cNvPr id="393" name="矩形 42"/>
                <p:cNvSpPr>
                  <a:spLocks noChangeArrowheads="1"/>
                </p:cNvSpPr>
                <p:nvPr/>
              </p:nvSpPr>
              <p:spPr>
                <a:xfrm>
                  <a:off x="5954512" y="3632651"/>
                  <a:ext cx="1821398" cy="1676672"/>
                </a:xfrm>
                <a:custGeom>
                  <a:avLst/>
                  <a:gdLst>
                    <a:gd name="T0" fmla="*/ 108000 w 1368152"/>
                    <a:gd name="T1" fmla="*/ 936104 h 1260000"/>
                    <a:gd name="T2" fmla="*/ 108000 w 1368152"/>
                    <a:gd name="T3" fmla="*/ 1080104 h 1260000"/>
                    <a:gd name="T4" fmla="*/ 0 w 1368152"/>
                    <a:gd name="T5" fmla="*/ 1008104 h 1260000"/>
                    <a:gd name="T6" fmla="*/ 518222 w 1368152"/>
                    <a:gd name="T7" fmla="*/ 0 h 1260000"/>
                    <a:gd name="T8" fmla="*/ 1075047 w 1368152"/>
                    <a:gd name="T9" fmla="*/ 0 h 1260000"/>
                    <a:gd name="T10" fmla="*/ 1145229 w 1368152"/>
                    <a:gd name="T11" fmla="*/ 105273 h 1260000"/>
                    <a:gd name="T12" fmla="*/ 1215411 w 1368152"/>
                    <a:gd name="T13" fmla="*/ 0 h 1260000"/>
                    <a:gd name="T14" fmla="*/ 1368152 w 1368152"/>
                    <a:gd name="T15" fmla="*/ 0 h 1260000"/>
                    <a:gd name="T16" fmla="*/ 1368152 w 1368152"/>
                    <a:gd name="T17" fmla="*/ 1260000 h 1260000"/>
                    <a:gd name="T18" fmla="*/ 108152 w 1368152"/>
                    <a:gd name="T19" fmla="*/ 1260000 h 1260000"/>
                    <a:gd name="T20" fmla="*/ 108152 w 1368152"/>
                    <a:gd name="T21" fmla="*/ 410070 h 1260000"/>
                    <a:gd name="T22" fmla="*/ 518222 w 1368152"/>
                    <a:gd name="T23" fmla="*/ 0 h 126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368152" h="1260000">
                      <a:moveTo>
                        <a:pt x="108000" y="936104"/>
                      </a:moveTo>
                      <a:lnTo>
                        <a:pt x="108000" y="1080104"/>
                      </a:lnTo>
                      <a:lnTo>
                        <a:pt x="0" y="1008104"/>
                      </a:lnTo>
                      <a:close/>
                      <a:moveTo>
                        <a:pt x="518222" y="0"/>
                      </a:moveTo>
                      <a:lnTo>
                        <a:pt x="1075047" y="0"/>
                      </a:lnTo>
                      <a:lnTo>
                        <a:pt x="1145229" y="105273"/>
                      </a:lnTo>
                      <a:lnTo>
                        <a:pt x="1215411" y="0"/>
                      </a:lnTo>
                      <a:lnTo>
                        <a:pt x="1368152" y="0"/>
                      </a:lnTo>
                      <a:lnTo>
                        <a:pt x="1368152" y="1260000"/>
                      </a:lnTo>
                      <a:lnTo>
                        <a:pt x="108152" y="1260000"/>
                      </a:lnTo>
                      <a:lnTo>
                        <a:pt x="108152" y="410070"/>
                      </a:lnTo>
                      <a:cubicBezTo>
                        <a:pt x="324617" y="388083"/>
                        <a:pt x="496235" y="216464"/>
                        <a:pt x="518222" y="0"/>
                      </a:cubicBezTo>
                      <a:close/>
                    </a:path>
                  </a:pathLst>
                </a:custGeom>
                <a:solidFill>
                  <a:srgbClr val="7EB5A3"/>
                </a:solidFill>
                <a:ln>
                  <a:noFill/>
                </a:ln>
              </p:spPr>
              <p:txBody>
                <a:bodyPr anchor="ctr"/>
                <a:lstStyle/>
                <a:p>
                  <a:endParaRPr lang="zh-CN"/>
                </a:p>
              </p:txBody>
            </p:sp>
            <p:sp>
              <p:nvSpPr>
                <p:cNvPr id="394" name="矩形 84"/>
                <p:cNvSpPr>
                  <a:spLocks noChangeArrowheads="1"/>
                </p:cNvSpPr>
                <p:nvPr/>
              </p:nvSpPr>
              <p:spPr>
                <a:xfrm>
                  <a:off x="6098574" y="4208658"/>
                  <a:ext cx="1677196" cy="55391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zh-CN" sz="210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目标量产</a:t>
                  </a:r>
                  <a:endParaRPr lang="zh-CN" sz="210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95" name="组合 15"/>
              <p:cNvGrpSpPr/>
              <p:nvPr/>
            </p:nvGrpSpPr>
            <p:grpSpPr>
              <a:xfrm>
                <a:off x="6099016" y="1813081"/>
                <a:ext cx="1691186" cy="1821158"/>
                <a:chOff x="6099016" y="1813081"/>
                <a:chExt cx="1691186" cy="1821158"/>
              </a:xfrm>
            </p:grpSpPr>
            <p:sp>
              <p:nvSpPr>
                <p:cNvPr id="396" name="矩形 35"/>
                <p:cNvSpPr>
                  <a:spLocks noChangeArrowheads="1"/>
                </p:cNvSpPr>
                <p:nvPr/>
              </p:nvSpPr>
              <p:spPr>
                <a:xfrm>
                  <a:off x="6099016" y="1813081"/>
                  <a:ext cx="1676894" cy="1821158"/>
                </a:xfrm>
                <a:custGeom>
                  <a:avLst/>
                  <a:gdLst>
                    <a:gd name="T0" fmla="*/ 965077 w 1260000"/>
                    <a:gd name="T1" fmla="*/ 1260389 h 1368389"/>
                    <a:gd name="T2" fmla="*/ 1109077 w 1260000"/>
                    <a:gd name="T3" fmla="*/ 1260389 h 1368389"/>
                    <a:gd name="T4" fmla="*/ 1037077 w 1260000"/>
                    <a:gd name="T5" fmla="*/ 1368389 h 1368389"/>
                    <a:gd name="T6" fmla="*/ 0 w 1260000"/>
                    <a:gd name="T7" fmla="*/ 0 h 1368389"/>
                    <a:gd name="T8" fmla="*/ 1260000 w 1260000"/>
                    <a:gd name="T9" fmla="*/ 0 h 1368389"/>
                    <a:gd name="T10" fmla="*/ 1260000 w 1260000"/>
                    <a:gd name="T11" fmla="*/ 1260000 h 1368389"/>
                    <a:gd name="T12" fmla="*/ 409787 w 1260000"/>
                    <a:gd name="T13" fmla="*/ 1260000 h 1368389"/>
                    <a:gd name="T14" fmla="*/ 0 w 1260000"/>
                    <a:gd name="T15" fmla="*/ 852738 h 1368389"/>
                    <a:gd name="T16" fmla="*/ 0 w 1260000"/>
                    <a:gd name="T17" fmla="*/ 288016 h 1368389"/>
                    <a:gd name="T18" fmla="*/ 108000 w 1260000"/>
                    <a:gd name="T19" fmla="*/ 216016 h 1368389"/>
                    <a:gd name="T20" fmla="*/ 0 w 1260000"/>
                    <a:gd name="T21" fmla="*/ 144016 h 13683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60000" h="1368389">
                      <a:moveTo>
                        <a:pt x="965077" y="1260389"/>
                      </a:moveTo>
                      <a:lnTo>
                        <a:pt x="1109077" y="1260389"/>
                      </a:lnTo>
                      <a:lnTo>
                        <a:pt x="1037077" y="1368389"/>
                      </a:lnTo>
                      <a:close/>
                      <a:moveTo>
                        <a:pt x="0" y="0"/>
                      </a:moveTo>
                      <a:lnTo>
                        <a:pt x="1260000" y="0"/>
                      </a:lnTo>
                      <a:lnTo>
                        <a:pt x="1260000" y="1260000"/>
                      </a:lnTo>
                      <a:lnTo>
                        <a:pt x="409787" y="1260000"/>
                      </a:lnTo>
                      <a:cubicBezTo>
                        <a:pt x="386590" y="1044854"/>
                        <a:pt x="215525" y="874619"/>
                        <a:pt x="0" y="852738"/>
                      </a:cubicBezTo>
                      <a:lnTo>
                        <a:pt x="0" y="288016"/>
                      </a:lnTo>
                      <a:lnTo>
                        <a:pt x="108000" y="216016"/>
                      </a:lnTo>
                      <a:lnTo>
                        <a:pt x="0" y="144016"/>
                      </a:lnTo>
                      <a:close/>
                    </a:path>
                  </a:pathLst>
                </a:custGeom>
                <a:solidFill>
                  <a:srgbClr val="B081A8"/>
                </a:solidFill>
                <a:ln>
                  <a:noFill/>
                </a:ln>
              </p:spPr>
              <p:txBody>
                <a:bodyPr anchor="ctr"/>
                <a:lstStyle/>
                <a:p>
                  <a:endParaRPr lang="zh-CN"/>
                </a:p>
              </p:txBody>
            </p:sp>
            <p:sp>
              <p:nvSpPr>
                <p:cNvPr id="397" name="矩形 85"/>
                <p:cNvSpPr>
                  <a:spLocks noChangeArrowheads="1"/>
                </p:cNvSpPr>
                <p:nvPr/>
              </p:nvSpPr>
              <p:spPr>
                <a:xfrm>
                  <a:off x="6113005" y="2273109"/>
                  <a:ext cx="1677197" cy="553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zh-CN" sz="210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产品定位</a:t>
                  </a:r>
                  <a:endParaRPr lang="zh-CN" sz="210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98" name="组合 16"/>
              <p:cNvGrpSpPr/>
              <p:nvPr/>
            </p:nvGrpSpPr>
            <p:grpSpPr>
              <a:xfrm>
                <a:off x="4277618" y="1813081"/>
                <a:ext cx="1821398" cy="1676672"/>
                <a:chOff x="4277618" y="1813081"/>
                <a:chExt cx="1821398" cy="1676672"/>
              </a:xfrm>
            </p:grpSpPr>
            <p:sp>
              <p:nvSpPr>
                <p:cNvPr id="399" name="等腰三角形 52"/>
                <p:cNvSpPr>
                  <a:spLocks noChangeArrowheads="1"/>
                </p:cNvSpPr>
                <p:nvPr/>
              </p:nvSpPr>
              <p:spPr>
                <a:xfrm rot="5400000">
                  <a:off x="4349981" y="1740718"/>
                  <a:ext cx="1676672" cy="1821398"/>
                </a:xfrm>
                <a:custGeom>
                  <a:avLst/>
                  <a:gdLst>
                    <a:gd name="T0" fmla="*/ 0 w 1260000"/>
                    <a:gd name="T1" fmla="*/ 1368000 h 1368000"/>
                    <a:gd name="T2" fmla="*/ 0 w 1260000"/>
                    <a:gd name="T3" fmla="*/ 108000 h 1368000"/>
                    <a:gd name="T4" fmla="*/ 144016 w 1260000"/>
                    <a:gd name="T5" fmla="*/ 108000 h 1368000"/>
                    <a:gd name="T6" fmla="*/ 216016 w 1260000"/>
                    <a:gd name="T7" fmla="*/ 0 h 1368000"/>
                    <a:gd name="T8" fmla="*/ 288016 w 1260000"/>
                    <a:gd name="T9" fmla="*/ 108000 h 1368000"/>
                    <a:gd name="T10" fmla="*/ 853021 w 1260000"/>
                    <a:gd name="T11" fmla="*/ 108000 h 1368000"/>
                    <a:gd name="T12" fmla="*/ 1260000 w 1260000"/>
                    <a:gd name="T13" fmla="*/ 514979 h 1368000"/>
                    <a:gd name="T14" fmla="*/ 1260000 w 1260000"/>
                    <a:gd name="T15" fmla="*/ 1080069 h 1368000"/>
                    <a:gd name="T16" fmla="*/ 1152128 w 1260000"/>
                    <a:gd name="T17" fmla="*/ 1151984 h 1368000"/>
                    <a:gd name="T18" fmla="*/ 1260000 w 1260000"/>
                    <a:gd name="T19" fmla="*/ 1223899 h 1368000"/>
                    <a:gd name="T20" fmla="*/ 1260000 w 1260000"/>
                    <a:gd name="T21" fmla="*/ 1368000 h 1368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60000" h="1368000">
                      <a:moveTo>
                        <a:pt x="0" y="1368000"/>
                      </a:moveTo>
                      <a:lnTo>
                        <a:pt x="0" y="108000"/>
                      </a:lnTo>
                      <a:lnTo>
                        <a:pt x="144016" y="108000"/>
                      </a:lnTo>
                      <a:lnTo>
                        <a:pt x="216016" y="0"/>
                      </a:lnTo>
                      <a:lnTo>
                        <a:pt x="288016" y="108000"/>
                      </a:lnTo>
                      <a:lnTo>
                        <a:pt x="853021" y="108000"/>
                      </a:lnTo>
                      <a:cubicBezTo>
                        <a:pt x="876107" y="322207"/>
                        <a:pt x="1045793" y="491893"/>
                        <a:pt x="1260000" y="514979"/>
                      </a:cubicBezTo>
                      <a:lnTo>
                        <a:pt x="1260000" y="1080069"/>
                      </a:lnTo>
                      <a:lnTo>
                        <a:pt x="1152128" y="1151984"/>
                      </a:lnTo>
                      <a:lnTo>
                        <a:pt x="1260000" y="1223899"/>
                      </a:lnTo>
                      <a:lnTo>
                        <a:pt x="1260000" y="1368000"/>
                      </a:lnTo>
                      <a:close/>
                    </a:path>
                  </a:pathLst>
                </a:custGeom>
                <a:solidFill>
                  <a:srgbClr val="7EB5A3"/>
                </a:solidFill>
                <a:ln>
                  <a:noFill/>
                </a:ln>
              </p:spPr>
              <p:txBody>
                <a:bodyPr anchor="ctr"/>
                <a:lstStyle/>
                <a:p>
                  <a:endParaRPr lang="zh-CN"/>
                </a:p>
              </p:txBody>
            </p:sp>
            <p:sp>
              <p:nvSpPr>
                <p:cNvPr id="400" name="矩形 86"/>
                <p:cNvSpPr>
                  <a:spLocks noChangeArrowheads="1"/>
                </p:cNvSpPr>
                <p:nvPr/>
              </p:nvSpPr>
              <p:spPr>
                <a:xfrm>
                  <a:off x="4277618" y="2279719"/>
                  <a:ext cx="1677196" cy="55391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zh-CN" sz="2100">
                      <a:solidFill>
                        <a:srgbClr val="FFFFFF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项目背景</a:t>
                  </a:r>
                  <a:endParaRPr lang="zh-CN" sz="210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401" name="组合 69"/>
            <p:cNvGrpSpPr/>
            <p:nvPr/>
          </p:nvGrpSpPr>
          <p:grpSpPr>
            <a:xfrm>
              <a:off x="5627688" y="3013075"/>
              <a:ext cx="965200" cy="823913"/>
              <a:chOff x="5387199" y="3010872"/>
              <a:chExt cx="1286460" cy="1101492"/>
            </a:xfrm>
          </p:grpSpPr>
          <p:sp>
            <p:nvSpPr>
              <p:cNvPr id="402" name="椭圆 88"/>
              <p:cNvSpPr>
                <a:spLocks noChangeArrowheads="1"/>
              </p:cNvSpPr>
              <p:nvPr/>
            </p:nvSpPr>
            <p:spPr>
              <a:xfrm>
                <a:off x="5479316" y="3010872"/>
                <a:ext cx="1102226" cy="1101492"/>
              </a:xfrm>
              <a:prstGeom prst="ellipse">
                <a:avLst/>
              </a:prstGeom>
              <a:solidFill>
                <a:srgbClr val="F79A54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 lang="zh-CN" sz="17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3" name="矩形 87"/>
              <p:cNvSpPr>
                <a:spLocks noChangeArrowheads="1"/>
              </p:cNvSpPr>
              <p:nvPr/>
            </p:nvSpPr>
            <p:spPr>
              <a:xfrm>
                <a:off x="5387199" y="3273837"/>
                <a:ext cx="1286460" cy="573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zh-CN" sz="16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</a:t>
                </a:r>
                <a:endParaRPr lang="en-US"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/>
                <a:r>
                  <a:rPr lang="zh-CN" sz="1600" b="1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背景</a:t>
                </a:r>
                <a:endParaRPr lang="en-US" sz="16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404" name="TextBox 80"/>
          <p:cNvSpPr>
            <a:spLocks noChangeArrowheads="1"/>
          </p:cNvSpPr>
          <p:nvPr/>
        </p:nvSpPr>
        <p:spPr>
          <a:xfrm>
            <a:off x="8145778" y="3088138"/>
            <a:ext cx="3467100" cy="175432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中国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Leading</a:t>
            </a: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2022/12/18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海外：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AP/AU  2023/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EU 2023/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/24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NA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/LA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2023/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/30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Rectangle 15"/>
          <p:cNvSpPr/>
          <p:nvPr/>
        </p:nvSpPr>
        <p:spPr>
          <a:xfrm rot="1907724">
            <a:off x="3405897" y="2091175"/>
            <a:ext cx="52629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机密文件</a:t>
            </a:r>
            <a:r>
              <a:rPr lang="zh-CN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，请勿外发</a:t>
            </a:r>
            <a:endParaRPr lang="en-US" sz="4400" b="0" spc="0">
              <a:ln w="0"/>
              <a:solidFill>
                <a:schemeClr val="tx1">
                  <a:alpha val="31000"/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06" name="文本框 13"/>
          <p:cNvSpPr txBox="1"/>
          <p:nvPr/>
        </p:nvSpPr>
        <p:spPr>
          <a:xfrm>
            <a:off x="8420100" y="412"/>
            <a:ext cx="3771900" cy="4572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200" b="1"/>
              <a:t>软件运作代表</a:t>
            </a:r>
            <a:r>
              <a:rPr lang="en-US" sz="1200" b="1"/>
              <a:t> xxx </a:t>
            </a:r>
            <a:r>
              <a:rPr lang="zh-CN" sz="1200" b="1"/>
              <a:t>输出（</a:t>
            </a:r>
            <a:r>
              <a:rPr lang="en-US" sz="1200" b="1"/>
              <a:t>1</a:t>
            </a:r>
            <a:r>
              <a:rPr lang="zh-CN" sz="1200" b="1"/>
              <a:t>页）</a:t>
            </a:r>
            <a:r>
              <a:rPr lang="zh-CN" sz="1200"/>
              <a:t>，上半部分是立项报告的原始信息，下半部分是对未达成的复盘</a:t>
            </a:r>
            <a:endParaRPr lang="zh-CN" sz="1200"/>
          </a:p>
        </p:txBody>
      </p:sp>
      <p:graphicFrame>
        <p:nvGraphicFramePr>
          <p:cNvPr id="407" name="表格 3"/>
          <p:cNvGraphicFramePr/>
          <p:nvPr/>
        </p:nvGraphicFramePr>
        <p:xfrm>
          <a:off x="647381" y="4984325"/>
          <a:ext cx="11068050" cy="1568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4200"/>
                <a:gridCol w="2578100"/>
                <a:gridCol w="3143250"/>
                <a:gridCol w="3232150"/>
                <a:gridCol w="660400"/>
                <a:gridCol w="869950"/>
              </a:tblGrid>
              <a:tr h="38100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r>
                        <a:rPr lang="zh-CN" sz="1400" b="1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sz="1400" b="1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r>
                        <a:rPr lang="zh-CN"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400" b="1" i="0" strike="noStrik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400" b="1" i="0" strike="noStrik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400" b="1" i="0" strike="noStrik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r>
                        <a:rPr lang="en-US" sz="1200" b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sz="1200" b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thaiDist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sz="12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简洁语言描述关键偏差即可</a:t>
                      </a:r>
                      <a:endParaRPr lang="zh-CN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thaiDist"/>
                      <a:r>
                        <a:rPr lang="zh-CN" sz="12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简洁语言描述，有些属于正常变更，不需要过度在此部分进行分析描述</a:t>
                      </a:r>
                      <a:endParaRPr lang="zh-CN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thaiDist"/>
                      <a:r>
                        <a:rPr lang="zh-CN" sz="12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简洁语言描述，有些属于正常变更，不需要过度在此部分进行分析描述</a:t>
                      </a:r>
                      <a:endParaRPr lang="zh-CN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等线" panose="02010600030101010101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等线" panose="02010600030101010101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r>
                        <a:rPr lang="en-US" sz="1200" b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sz="1200" b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thaiDist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sz="12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简洁语言描述关键偏差即可</a:t>
                      </a:r>
                      <a:endParaRPr lang="zh-CN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thaiDist"/>
                      <a:r>
                        <a:rPr lang="zh-CN" sz="12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简洁语言描述，有些属于正常变更，不需要过度在此部分进行分析描述</a:t>
                      </a:r>
                      <a:endParaRPr lang="zh-CN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thaiDist"/>
                      <a:r>
                        <a:rPr lang="zh-CN" sz="12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简洁语言描述，有些属于正常变更，不需要过度在此部分进行分析描述</a:t>
                      </a:r>
                      <a:endParaRPr lang="zh-CN" sz="12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等线" panose="02010600030101010101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等线" panose="02010600030101010101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F52B47-27CB-40FF-9A98-D1B2CE4FC0CF}" type="slidenum">
              <a:rPr/>
            </a:fld>
            <a:endParaRPr lang="zh-CN"/>
          </a:p>
        </p:txBody>
      </p:sp>
      <p:sp>
        <p:nvSpPr>
          <p:cNvPr id="410" name="矩形 2"/>
          <p:cNvSpPr/>
          <p:nvPr/>
        </p:nvSpPr>
        <p:spPr>
          <a:xfrm>
            <a:off x="4697219" y="2912181"/>
            <a:ext cx="2616200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+mn-cs"/>
              </a:rPr>
              <a:t>二、项目范围</a:t>
            </a:r>
            <a:endParaRPr lang="zh-CN" sz="32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1" name="矩形 3"/>
          <p:cNvSpPr/>
          <p:nvPr/>
        </p:nvSpPr>
        <p:spPr>
          <a:xfrm>
            <a:off x="4684863" y="3517664"/>
            <a:ext cx="2209800" cy="393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+mn-cs"/>
              </a:rPr>
              <a:t>需求管控偏差分析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82D90F0-D4DF-498C-BB7E-3936ED361C6E}" type="slidenum">
              <a:rPr/>
            </a:fld>
            <a:endParaRPr lang="zh-CN"/>
          </a:p>
        </p:txBody>
      </p:sp>
      <p:sp>
        <p:nvSpPr>
          <p:cNvPr id="414" name="主标题为方正兰亭 , 最大30pt"/>
          <p:cNvSpPr txBox="1"/>
          <p:nvPr/>
        </p:nvSpPr>
        <p:spPr>
          <a:xfrm>
            <a:off x="1123472" y="195099"/>
            <a:ext cx="42164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2.1 产品核心卖点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达成情况偏差分析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415" name="表格 2"/>
          <p:cNvGraphicFramePr/>
          <p:nvPr/>
        </p:nvGraphicFramePr>
        <p:xfrm>
          <a:off x="1185317" y="1118257"/>
          <a:ext cx="9929649" cy="35737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22356"/>
                <a:gridCol w="1552801"/>
                <a:gridCol w="1471785"/>
                <a:gridCol w="1578326"/>
                <a:gridCol w="1553879"/>
                <a:gridCol w="1425251"/>
                <a:gridCol w="1425251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产品系列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线上</a:t>
                      </a:r>
                      <a:r>
                        <a:rPr 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V8</a:t>
                      </a: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*</a:t>
                      </a:r>
                      <a:endParaRPr 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线上</a:t>
                      </a:r>
                      <a:r>
                        <a:rPr 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T7</a:t>
                      </a:r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*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P12G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C74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Q7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达成情况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</a:tcPr>
                </a:tc>
              </a:tr>
              <a:tr h="1149350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一级卖点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B w="12700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画质 </a:t>
                      </a:r>
                      <a:r>
                        <a:rPr lang="en-US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百分区</a:t>
                      </a:r>
                      <a:endParaRPr lang="en-US" sz="1050" b="1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B w="12700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画质 </a:t>
                      </a:r>
                      <a:r>
                        <a:rPr lang="en-US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百分区 </a:t>
                      </a:r>
                      <a:r>
                        <a:rPr lang="en-US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 HDR1000</a:t>
                      </a:r>
                      <a:endParaRPr lang="en-US" sz="1050" b="0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50" b="0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K</a:t>
                      </a:r>
                      <a:r>
                        <a:rPr lang="zh-CN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歌</a:t>
                      </a:r>
                      <a:endParaRPr lang="en-US" sz="1050" b="1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B w="12700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42227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百分区 </a:t>
                      </a:r>
                      <a:endParaRPr lang="en-US" sz="1050" b="1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42227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Free</a:t>
                      </a:r>
                      <a:r>
                        <a:rPr lang="zh-CN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50" b="0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Sync Premium Pro</a:t>
                      </a:r>
                      <a:endParaRPr lang="en-US" sz="1050" b="0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50" b="1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K</a:t>
                      </a:r>
                      <a:r>
                        <a:rPr lang="zh-CN" sz="1050" b="1" i="0" u="none" strike="noStrike" kern="1200" spc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歌 </a:t>
                      </a:r>
                      <a:endParaRPr lang="en-US" sz="1050" b="0" i="0" u="none" strike="noStrike" kern="1200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B w="12700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1" i="0" u="none" strike="noStrike" kern="1200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Gaming</a:t>
                      </a:r>
                      <a:r>
                        <a:rPr lang="zh-CN" sz="1100" b="1" i="0" u="none" strike="noStrike" kern="1200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100" b="1" i="0" u="none" strike="noStrike" kern="1200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TV</a:t>
                      </a:r>
                      <a:endParaRPr lang="en-US" sz="1100" b="1" i="0" u="none" strike="noStrike" kern="1200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120Hz/VRR 144Hz/</a:t>
                      </a:r>
                      <a:r>
                        <a:rPr lang="en-US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DLG240Hz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endParaRPr lang="en-US" sz="8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Free</a:t>
                      </a:r>
                      <a:r>
                        <a:rPr lang="zh-CN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Sync Premium Pro</a:t>
                      </a:r>
                      <a:r>
                        <a:rPr lang="zh-CN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endParaRPr lang="en-US" sz="8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游戏模式（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Game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master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Pro/Game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bar/VRR/ALLM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en-US" sz="8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Dolby</a:t>
                      </a:r>
                      <a:r>
                        <a:rPr lang="zh-CN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Vision</a:t>
                      </a:r>
                      <a:r>
                        <a:rPr lang="zh-CN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Game</a:t>
                      </a:r>
                      <a:r>
                        <a:rPr lang="zh-CN" sz="8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 Input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Lag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&lt;10ms</a:t>
                      </a:r>
                      <a:endParaRPr lang="en-US" sz="8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云游戏（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Google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Stadia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GeForce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Now</a:t>
                      </a:r>
                      <a:r>
                        <a:rPr lang="zh-CN" sz="8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en-US" sz="8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1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1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观影</a:t>
                      </a:r>
                      <a:endParaRPr lang="en-US" sz="11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Rtings8.1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QLED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Full</a:t>
                      </a:r>
                      <a:r>
                        <a:rPr lang="zh-CN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Array</a:t>
                      </a:r>
                      <a:r>
                        <a:rPr lang="zh-CN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HDR600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OBG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IMAX</a:t>
                      </a:r>
                      <a:endParaRPr lang="en-US" sz="800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Dolby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vision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IQ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&amp;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Atmos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DTS</a:t>
                      </a:r>
                      <a:r>
                        <a:rPr lang="zh-CN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Virtual</a:t>
                      </a:r>
                      <a:r>
                        <a:rPr lang="zh-CN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</a:t>
                      </a:r>
                      <a:endParaRPr lang="en-US" sz="800" b="1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AIPQ2.0(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画质芯片包装）  </a:t>
                      </a:r>
                      <a:r>
                        <a:rPr lang="en-US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8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护眼</a:t>
                      </a:r>
                      <a:endParaRPr lang="en-US" sz="80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sz="11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B w="12700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marL="0" lvl="0" algn="ctr" defTabSz="914400">
                        <a:defRPr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defRPr>
                      </a:pPr>
                      <a:r>
                        <a:rPr lang="zh-CN" sz="120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</a:t>
                      </a:r>
                      <a:endParaRPr sz="1800">
                        <a:solidFill>
                          <a:srgbClr val="000000">
                            <a:alpha val="100000"/>
                          </a:srgbClr>
                        </a:solidFill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B w="12700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92D050">
                        <a:alpha val="100000"/>
                      </a:srgbClr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二级卖点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T w="12700">
                      <a:solidFill>
                        <a:srgbClr val="000000">
                          <a:alpha val="100000"/>
                        </a:srgbClr>
                      </a:solidFill>
                    </a:lnT>
                    <a:solidFill>
                      <a:schemeClr val="accent5">
                        <a:lumMod val="20000"/>
                        <a:lumOff val="80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42227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DLG</a:t>
                      </a:r>
                      <a:r>
                        <a:rPr lang="zh-CN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50">
                          <a:latin typeface="微软雅黑" panose="020B0503020204020204" charset="-122"/>
                          <a:ea typeface="微软雅黑" panose="020B0503020204020204" charset="-122"/>
                        </a:rPr>
                        <a:t>120Hz</a:t>
                      </a:r>
                      <a:endParaRPr lang="en-US" sz="105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T w="12700">
                      <a:solidFill>
                        <a:srgbClr val="000000">
                          <a:alpha val="100000"/>
                        </a:srgbClr>
                      </a:solidFill>
                    </a:lnT>
                    <a:solidFill>
                      <a:schemeClr val="accent5">
                        <a:lumMod val="20000"/>
                        <a:lumOff val="80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云游戏</a:t>
                      </a:r>
                      <a:endParaRPr lang="en-US" sz="105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1050" b="0" i="0" u="none" strike="noStrike" kern="1200" spc="0" baseline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120Hz/VRR 144Hz</a:t>
                      </a:r>
                      <a:endParaRPr lang="en-US" sz="1050" b="0" i="0" u="none" strike="noStrike" kern="1200" spc="0" baseline="0">
                        <a:ln>
                          <a:noFill/>
                        </a:ln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42227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IMAX</a:t>
                      </a:r>
                      <a:endParaRPr lang="en-US" sz="105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42227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摄像头姿势判别 </a:t>
                      </a:r>
                      <a:r>
                        <a:rPr lang="en-US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zh-CN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互动健身 </a:t>
                      </a:r>
                      <a:r>
                        <a:rPr lang="en-US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zh-CN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纯跟练</a:t>
                      </a:r>
                      <a:endParaRPr lang="zh-CN" sz="90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T w="12700">
                      <a:solidFill>
                        <a:srgbClr val="000000">
                          <a:alpha val="100000"/>
                        </a:srgbClr>
                      </a:solidFill>
                    </a:lnT>
                    <a:solidFill>
                      <a:schemeClr val="accent5">
                        <a:lumMod val="20000"/>
                        <a:lumOff val="80000"/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5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云游戏</a:t>
                      </a:r>
                      <a:endParaRPr lang="en-US" sz="105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1050" b="1">
                          <a:solidFill>
                            <a:schemeClr val="bg2">
                              <a:lumMod val="9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120Hz</a:t>
                      </a:r>
                      <a:endParaRPr lang="en-US" sz="1050" b="1">
                        <a:solidFill>
                          <a:schemeClr val="bg2">
                            <a:lumMod val="9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1050">
                          <a:solidFill>
                            <a:schemeClr val="bg2">
                              <a:lumMod val="9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2.1CH</a:t>
                      </a:r>
                      <a:r>
                        <a:rPr lang="zh-CN" sz="1050">
                          <a:solidFill>
                            <a:schemeClr val="bg2">
                              <a:lumMod val="9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50">
                          <a:solidFill>
                            <a:schemeClr val="bg2">
                              <a:lumMod val="9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35W</a:t>
                      </a:r>
                      <a:endParaRPr lang="en-US" sz="1050">
                        <a:solidFill>
                          <a:schemeClr val="bg2">
                            <a:lumMod val="9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42227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IMAX</a:t>
                      </a:r>
                      <a:endParaRPr lang="en-US" sz="105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42227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摄像头姿势判别 </a:t>
                      </a:r>
                      <a:r>
                        <a:rPr lang="en-US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zh-CN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互动健身 </a:t>
                      </a:r>
                      <a:r>
                        <a:rPr lang="en-US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zh-CN" sz="900">
                          <a:solidFill>
                            <a:schemeClr val="bg2">
                              <a:lumMod val="2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纯跟练</a:t>
                      </a:r>
                      <a:endParaRPr lang="zh-CN" sz="900">
                        <a:solidFill>
                          <a:schemeClr val="bg2">
                            <a:lumMod val="25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T w="12700">
                      <a:solidFill>
                        <a:srgbClr val="000000">
                          <a:alpha val="100000"/>
                        </a:srgbClr>
                      </a:solidFill>
                    </a:lnT>
                    <a:solidFill>
                      <a:schemeClr val="accent5">
                        <a:lumMod val="20000"/>
                        <a:lumOff val="80000"/>
                        <a:alpha val="10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1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健身</a:t>
                      </a:r>
                      <a:endParaRPr lang="en-US" sz="11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摄像头姿势判别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互动健身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 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纯跟练</a:t>
                      </a:r>
                      <a:endParaRPr lang="zh-CN" sz="9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100" b="1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智慧生活</a:t>
                      </a:r>
                      <a:endParaRPr lang="en-US" sz="1100" b="1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Ok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Google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！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Alexa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en-US" sz="9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Airplay2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Matter</a:t>
                      </a:r>
                      <a:endParaRPr lang="en-US" sz="9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Multi-channel</a:t>
                      </a:r>
                      <a:r>
                        <a:rPr lang="zh-CN" sz="9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（外置无线音箱链接）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endParaRPr lang="en-US" sz="9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Multi-view2.0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关爱模式</a:t>
                      </a:r>
                      <a:endParaRPr lang="en-US" sz="900" b="0" i="0" u="none" strike="noStrike" kern="1200" spc="0" baseline="0" dirty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HDMI2.1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USB3.0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|</a:t>
                      </a:r>
                      <a:r>
                        <a:rPr lang="zh-CN" sz="900" b="0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9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Wi-Fi6</a:t>
                      </a:r>
                      <a:r>
                        <a:rPr lang="zh-CN" sz="900" b="1" i="0" u="none" strike="noStrike" kern="1200" spc="0" baseline="0" dirty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zh-CN" sz="1050" dirty="0">
                        <a:solidFill>
                          <a:schemeClr val="bg2">
                            <a:lumMod val="5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T w="12700">
                      <a:solidFill>
                        <a:srgbClr val="000000">
                          <a:alpha val="100000"/>
                        </a:srgbClr>
                      </a:solidFill>
                    </a:lnT>
                    <a:solidFill>
                      <a:schemeClr val="accent5">
                        <a:lumMod val="20000"/>
                        <a:lumOff val="80000"/>
                        <a:alpha val="100000"/>
                      </a:schemeClr>
                    </a:solidFill>
                  </a:tcPr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未达成</a:t>
                      </a:r>
                      <a:endParaRPr lang="zh-CN" sz="12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12700">
                      <a:solidFill>
                        <a:srgbClr val="000000">
                          <a:alpha val="100000"/>
                        </a:srgbClr>
                      </a:solidFill>
                    </a:lnL>
                    <a:lnR w="12700">
                      <a:solidFill>
                        <a:srgbClr val="000000">
                          <a:alpha val="100000"/>
                        </a:srgbClr>
                      </a:solidFill>
                    </a:lnR>
                    <a:lnT w="12700">
                      <a:solidFill>
                        <a:srgbClr val="000000">
                          <a:alpha val="100000"/>
                        </a:srgbClr>
                      </a:solidFill>
                    </a:lnT>
                    <a:solidFill>
                      <a:srgbClr val="FF0000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16" name="Rectangle 5"/>
          <p:cNvSpPr/>
          <p:nvPr/>
        </p:nvSpPr>
        <p:spPr>
          <a:xfrm rot="1907724">
            <a:off x="3503068" y="2852515"/>
            <a:ext cx="52629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机密文件</a:t>
            </a:r>
            <a:r>
              <a:rPr lang="zh-CN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，请勿外发</a:t>
            </a:r>
            <a:endParaRPr lang="en-US" sz="4400" b="0" spc="0">
              <a:ln w="0"/>
              <a:solidFill>
                <a:schemeClr val="tx1">
                  <a:alpha val="31000"/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17" name="文本框 4"/>
          <p:cNvSpPr txBox="1"/>
          <p:nvPr/>
        </p:nvSpPr>
        <p:spPr>
          <a:xfrm>
            <a:off x="8238744" y="195099"/>
            <a:ext cx="257175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软件规划代表：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418" name="折角形 417"/>
          <p:cNvSpPr/>
          <p:nvPr/>
        </p:nvSpPr>
        <p:spPr>
          <a:xfrm>
            <a:off x="8238744" y="569749"/>
            <a:ext cx="2743200" cy="478658"/>
          </a:xfrm>
          <a:prstGeom prst="foldedCorner">
            <a:avLst/>
          </a:prstGeom>
          <a:noFill/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根据立项报告中列出的核心卖点，确认达成情况，并对未达成项进行复盘分析</a:t>
            </a:r>
            <a:endParaRPr lang="zh-CN" sz="1050"/>
          </a:p>
        </p:txBody>
      </p:sp>
      <p:graphicFrame>
        <p:nvGraphicFramePr>
          <p:cNvPr id="419" name="表格 3"/>
          <p:cNvGraphicFramePr/>
          <p:nvPr/>
        </p:nvGraphicFramePr>
        <p:xfrm>
          <a:off x="1185317" y="4762500"/>
          <a:ext cx="9931400" cy="141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4677"/>
                <a:gridCol w="1299605"/>
                <a:gridCol w="2913533"/>
                <a:gridCol w="1904072"/>
                <a:gridCol w="1450722"/>
                <a:gridCol w="918791"/>
              </a:tblGrid>
              <a:tr h="24765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编号占位符 1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5E9FD-D6E0-4A0A-90FC-D5E93BB0D7DA}" type="slidenum">
              <a:rPr/>
            </a:fld>
            <a:endParaRPr lang="zh-CN"/>
          </a:p>
        </p:txBody>
      </p:sp>
      <p:sp>
        <p:nvSpPr>
          <p:cNvPr id="11" name="主标题为方正兰亭 , 最大30pt"/>
          <p:cNvSpPr txBox="1"/>
          <p:nvPr/>
        </p:nvSpPr>
        <p:spPr>
          <a:xfrm>
            <a:off x="1123472" y="195193"/>
            <a:ext cx="48006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defTabSz="203200"/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2.2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产品软件功能清单达成情况偏差分析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文本框 3"/>
          <p:cNvSpPr txBox="1">
            <a:spLocks noChangeArrowheads="1"/>
          </p:cNvSpPr>
          <p:nvPr/>
        </p:nvSpPr>
        <p:spPr>
          <a:xfrm>
            <a:off x="877126" y="793499"/>
            <a:ext cx="10737850" cy="7302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基于灵悉</a:t>
            </a:r>
            <a:r>
              <a:rPr lang="en-US" sz="16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UI x.x.x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，产品功能清单基线是基于</a:t>
            </a:r>
            <a:r>
              <a:rPr lang="en-US" sz="16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xxx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产品，有变化或需关注的特性描述如下表</a:t>
            </a:r>
            <a:endParaRPr lang="zh-CN" sz="16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lang="zh-CN" sz="1200"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产品软件功能清单基线链接：</a:t>
            </a:r>
            <a:r>
              <a:rPr lang="en-US" sz="1200">
                <a:latin typeface="微软雅黑" panose="020B0503020204020204" charset="-122"/>
                <a:ea typeface="微软雅黑" panose="020B0503020204020204" charset="-122"/>
                <a:cs typeface="+mn-cs"/>
              </a:rPr>
              <a:t>https://confluence.tclking.com/xxxxxxx</a:t>
            </a:r>
            <a:endParaRPr lang="en-US" sz="12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13" name="表格 3"/>
          <p:cNvGraphicFramePr/>
          <p:nvPr/>
        </p:nvGraphicFramePr>
        <p:xfrm>
          <a:off x="595634" y="1604962"/>
          <a:ext cx="11023600" cy="2590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7550"/>
                <a:gridCol w="781050"/>
                <a:gridCol w="1714500"/>
                <a:gridCol w="6477000"/>
                <a:gridCol w="1333500"/>
              </a:tblGrid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sz="1400" b="1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功能分类</a:t>
                      </a:r>
                      <a:endParaRPr lang="zh-CN" sz="1400" b="1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sz="1400" b="1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功能编号</a:t>
                      </a:r>
                      <a:endParaRPr lang="zh-CN" sz="1400" b="1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sz="1400" b="1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此产品需关注的功能</a:t>
                      </a:r>
                      <a:endParaRPr lang="zh-CN" sz="1400" b="1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sz="1400" b="1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功能价值描述</a:t>
                      </a:r>
                      <a:endParaRPr lang="zh-CN" sz="1400" b="1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lang="zh-CN" sz="1400" b="1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达成情况</a:t>
                      </a:r>
                      <a:endParaRPr lang="zh-CN" sz="1400" b="1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endParaRPr lang="zh-CN" sz="14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endParaRPr lang="zh-CN" sz="14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endParaRPr lang="zh-CN" sz="1400" dirty="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zh-CN" sz="1400" b="0" i="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 defTabSz="914400">
                        <a:lnSpc>
                          <a:spcPct val="150000"/>
                        </a:lnSpc>
                        <a:buClrTx/>
                        <a:buSzTx/>
                        <a:buNone/>
                      </a:pPr>
                      <a:r>
                        <a:rPr lang="zh-CN" sz="14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</a:t>
                      </a:r>
                      <a:endParaRPr lang="zh-CN" sz="14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r>
                        <a:rPr lang="en-US" altLang="zh-CN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</a:t>
                      </a:r>
                      <a:endParaRPr lang="zh-CN" sz="1400" dirty="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r>
                        <a:rPr lang="en-US" altLang="zh-CN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XXXX</a:t>
                      </a:r>
                      <a:endParaRPr lang="zh-CN" sz="1400" dirty="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2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导入的新特性用</a:t>
                      </a:r>
                      <a:r>
                        <a:rPr lang="zh-CN" altLang="en-US" sz="12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橙色</a:t>
                      </a:r>
                      <a:r>
                        <a:rPr lang="zh-CN" altLang="zh-CN" sz="12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标记</a:t>
                      </a:r>
                      <a:endParaRPr lang="zh-CN" altLang="zh-CN" sz="1200" b="0" i="0" dirty="0" smtClean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zh-CN" sz="14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导入的新特性用</a:t>
                      </a:r>
                      <a:r>
                        <a:rPr lang="zh-CN" altLang="en-US" sz="14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橙色</a:t>
                      </a:r>
                      <a:r>
                        <a:rPr lang="zh-CN" altLang="zh-CN" sz="14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标记</a:t>
                      </a:r>
                      <a:endParaRPr lang="zh-CN" altLang="zh-CN" sz="1400" b="0" i="0" dirty="0" smtClean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 defTabSz="914400">
                        <a:lnSpc>
                          <a:spcPct val="150000"/>
                        </a:lnSpc>
                        <a:buClrTx/>
                        <a:buSzTx/>
                        <a:buNone/>
                      </a:pPr>
                      <a:r>
                        <a:rPr lang="zh-CN" sz="14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未达成</a:t>
                      </a:r>
                      <a:endParaRPr dirty="0"/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100000"/>
                      </a:srgbClr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endParaRPr lang="zh-CN" sz="14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endParaRPr lang="zh-CN" sz="14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30000"/>
                        </a:lnSpc>
                      </a:pPr>
                      <a:endParaRPr lang="zh-CN" sz="1400"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zh-CN" sz="1400" b="0" i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 defTabSz="914400">
                        <a:lnSpc>
                          <a:spcPct val="15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endParaRPr lang="zh-CN" sz="1400" b="0" i="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0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Rectangle 5"/>
          <p:cNvSpPr/>
          <p:nvPr/>
        </p:nvSpPr>
        <p:spPr>
          <a:xfrm rot="1907724">
            <a:off x="3503068" y="2852515"/>
            <a:ext cx="52629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spc="0" dirty="0" err="1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机密文件</a:t>
            </a:r>
            <a:r>
              <a:rPr lang="zh-CN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，请勿外发</a:t>
            </a:r>
            <a:endParaRPr lang="en-US" sz="4400" b="0" spc="0" dirty="0">
              <a:ln w="0"/>
              <a:solidFill>
                <a:schemeClr val="tx1">
                  <a:alpha val="31000"/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文本框 4"/>
          <p:cNvSpPr txBox="1"/>
          <p:nvPr/>
        </p:nvSpPr>
        <p:spPr>
          <a:xfrm>
            <a:off x="8238744" y="195099"/>
            <a:ext cx="37338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软件需求管理：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2</a:t>
            </a:r>
            <a:r>
              <a:rPr lang="zh-CN" sz="1400"/>
              <a:t>页内）</a:t>
            </a:r>
            <a:endParaRPr lang="zh-CN" sz="1400"/>
          </a:p>
        </p:txBody>
      </p:sp>
      <p:sp>
        <p:nvSpPr>
          <p:cNvPr id="16" name="折角形 15"/>
          <p:cNvSpPr/>
          <p:nvPr/>
        </p:nvSpPr>
        <p:spPr>
          <a:xfrm>
            <a:off x="8238744" y="569749"/>
            <a:ext cx="3730336" cy="730250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 dirty="0"/>
              <a:t>产品功能清单基线是基于哪个灵悉版本，基于哪款产品？</a:t>
            </a:r>
            <a:endParaRPr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 dirty="0"/>
              <a:t>列出此产品需关注的特性，其中导入的新特性</a:t>
            </a:r>
            <a:r>
              <a:rPr lang="zh-CN" sz="1050" dirty="0" smtClean="0"/>
              <a:t>用</a:t>
            </a:r>
            <a:r>
              <a:rPr lang="zh-CN" altLang="en-US" sz="1050" dirty="0" smtClean="0"/>
              <a:t>橙色</a:t>
            </a:r>
            <a:r>
              <a:rPr lang="zh-CN" sz="1050" dirty="0" smtClean="0"/>
              <a:t>标记</a:t>
            </a:r>
            <a:endParaRPr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 dirty="0"/>
              <a:t>针对非基础机项目，可以仅展示与基础机的差异部分即可</a:t>
            </a:r>
            <a:endParaRPr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 dirty="0"/>
              <a:t>确认各功能达成情况，并对未达成项进行复盘分析</a:t>
            </a:r>
            <a:endParaRPr dirty="0"/>
          </a:p>
        </p:txBody>
      </p:sp>
      <p:graphicFrame>
        <p:nvGraphicFramePr>
          <p:cNvPr id="17" name="表格 3"/>
          <p:cNvGraphicFramePr/>
          <p:nvPr/>
        </p:nvGraphicFramePr>
        <p:xfrm>
          <a:off x="595634" y="4671545"/>
          <a:ext cx="11019342" cy="1799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24765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线形标注 2(无边框) 1"/>
          <p:cNvSpPr/>
          <p:nvPr/>
        </p:nvSpPr>
        <p:spPr>
          <a:xfrm>
            <a:off x="9970936" y="3864775"/>
            <a:ext cx="2138901" cy="790868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7676"/>
              <a:gd name="adj6" fmla="val 3263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970935" y="3848873"/>
            <a:ext cx="21389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/>
              <a:t>对于未达成或部分完成的，需要说明，是承诺未达成，还是已和</a:t>
            </a:r>
            <a:r>
              <a:rPr lang="en-US" altLang="zh-CN" sz="1200" dirty="0" smtClean="0"/>
              <a:t>BU</a:t>
            </a:r>
            <a:r>
              <a:rPr lang="zh-CN" altLang="en-US" sz="1200" dirty="0" smtClean="0"/>
              <a:t>达成一致重新调整了交付时间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4B9EDD2-A361-4DB6-B7E6-33B4EFE30353}" type="slidenum">
              <a:rPr/>
            </a:fld>
            <a:endParaRPr lang="zh-CN"/>
          </a:p>
        </p:txBody>
      </p:sp>
      <p:sp>
        <p:nvSpPr>
          <p:cNvPr id="20" name="矩形 2"/>
          <p:cNvSpPr/>
          <p:nvPr/>
        </p:nvSpPr>
        <p:spPr>
          <a:xfrm>
            <a:off x="4697219" y="2912181"/>
            <a:ext cx="2616200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+mn-cs"/>
              </a:rPr>
              <a:t>三、项目开发</a:t>
            </a:r>
            <a:endParaRPr lang="zh-CN" sz="32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矩形 3"/>
          <p:cNvSpPr/>
          <p:nvPr/>
        </p:nvSpPr>
        <p:spPr>
          <a:xfrm>
            <a:off x="4684863" y="3517664"/>
            <a:ext cx="6273800" cy="393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+mn-cs"/>
              </a:rPr>
              <a:t>开发策略、质量策略、里程碑计划、风险管控偏差分析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706D88-55F9-45BC-8D12-167AB2EDE630}" type="slidenum">
              <a:rPr/>
            </a:fld>
            <a:endParaRPr lang="zh-CN"/>
          </a:p>
        </p:txBody>
      </p:sp>
      <p:sp>
        <p:nvSpPr>
          <p:cNvPr id="24" name="主标题为方正兰亭 , 最大30pt"/>
          <p:cNvSpPr txBox="1"/>
          <p:nvPr/>
        </p:nvSpPr>
        <p:spPr>
          <a:xfrm>
            <a:off x="1123472" y="195099"/>
            <a:ext cx="26162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3.1 开发策略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达成情况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25" name="表格 8"/>
          <p:cNvGraphicFramePr/>
          <p:nvPr/>
        </p:nvGraphicFramePr>
        <p:xfrm>
          <a:off x="987328" y="3429000"/>
          <a:ext cx="9937750" cy="2921510"/>
        </p:xfrm>
        <a:graphic>
          <a:graphicData uri="http://schemas.openxmlformats.org/drawingml/2006/table">
            <a:tbl>
              <a:tblPr/>
              <a:tblGrid>
                <a:gridCol w="1130300"/>
                <a:gridCol w="1200150"/>
                <a:gridCol w="1187450"/>
                <a:gridCol w="1035050"/>
                <a:gridCol w="1035050"/>
                <a:gridCol w="3416300"/>
                <a:gridCol w="933450"/>
              </a:tblGrid>
              <a:tr h="273479"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endParaRPr lang="zh-CN" sz="1200" b="1" i="0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sz="1200" b="1" i="0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MT9653中国区</a:t>
                      </a:r>
                      <a:r>
                        <a:rPr lang="zh-CN" sz="1200" b="1" i="0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开发策略</a:t>
                      </a:r>
                      <a:endParaRPr lang="zh-CN" sz="2400" b="1" i="0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r>
                        <a:rPr lang="en-US" sz="1200" b="1" i="0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MT9653海外区</a:t>
                      </a:r>
                      <a:r>
                        <a:rPr lang="zh-CN" sz="1200" b="1" i="0" strike="noStrike">
                          <a:solidFill>
                            <a:schemeClr val="tx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开发策略</a:t>
                      </a:r>
                      <a:endParaRPr lang="zh-CN" sz="2400" b="1" i="0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sz="1200" b="1" i="0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zh-CN" sz="1200" b="1" i="0" strike="noStrike">
                        <a:solidFill>
                          <a:schemeClr val="tx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40279"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sz="10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年新机芯实际值</a:t>
                      </a:r>
                      <a:endParaRPr lang="en-US" sz="10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T982</a:t>
                      </a:r>
                      <a:endParaRPr lang="en-US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MT9653-CN</a:t>
                      </a: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  <a:endParaRPr lang="zh-CN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年新机芯实际值</a:t>
                      </a:r>
                      <a:endParaRPr lang="en-US" sz="10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MT9615</a:t>
                      </a:r>
                      <a:endParaRPr lang="en-US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MT9653-GL</a:t>
                      </a: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  <a:endParaRPr lang="zh-CN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达成情况</a:t>
                      </a:r>
                      <a:endParaRPr lang="zh-CN" sz="10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12889">
                <a:tc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Android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系统版本</a:t>
                      </a:r>
                      <a:endParaRPr lang="zh-CN" sz="16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Android 11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Android 11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Android 11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Android 12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Andorid 12版本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，北美简化版系统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</a:t>
                      </a:r>
                      <a:endParaRPr lang="zh-CN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100000"/>
                      </a:srgbClr>
                    </a:solidFill>
                  </a:tcPr>
                </a:tc>
              </a:tr>
              <a:tr h="346715"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TROM</a:t>
                      </a: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TROM</a:t>
                      </a:r>
                      <a:r>
                        <a:rPr 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2.0</a:t>
                      </a:r>
                      <a:endParaRPr 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TROM</a:t>
                      </a:r>
                      <a:r>
                        <a:rPr 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2.0</a:t>
                      </a:r>
                      <a:endParaRPr 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TROM</a:t>
                      </a: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TROM</a:t>
                      </a:r>
                      <a:r>
                        <a:rPr 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3.0</a:t>
                      </a:r>
                      <a:endParaRPr 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未达成</a:t>
                      </a:r>
                      <a:endParaRPr lang="zh-CN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</a:tr>
              <a:tr h="355171"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88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中间件版本</a:t>
                      </a:r>
                      <a:endParaRPr lang="zh-CN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indent="0" algn="ctr" defTabSz="8890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TVM</a:t>
                      </a: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5.3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88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TVM</a:t>
                      </a:r>
                      <a:r>
                        <a:rPr lang="zh-CN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5.3</a:t>
                      </a:r>
                      <a:endParaRPr lang="zh-CN" sz="1000" b="0" i="0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TVM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5.3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39878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TVM</a:t>
                      </a:r>
                      <a:r>
                        <a:rPr lang="zh-CN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6.0</a:t>
                      </a:r>
                      <a:endParaRPr lang="zh-CN" sz="1000" b="0" i="0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下一代中间件6.0导入海外全区域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</a:pPr>
                      <a:endParaRPr lang="en-US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715">
                <a:tc>
                  <a:txBody>
                    <a:bodyPr/>
                    <a:lstStyle/>
                    <a:p>
                      <a:pPr marL="0" lvl="0" indent="0" algn="ctr" defTabSz="88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灵悉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UI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灵悉UI 1.3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灵悉UI 1.3</a:t>
                      </a:r>
                      <a:endParaRPr lang="en-US" sz="1000" b="0" i="0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灵悉UI 1.3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灵悉UI 2.1</a:t>
                      </a:r>
                      <a:endParaRPr lang="en-US" sz="1000" b="0" i="0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</a:pPr>
                      <a:endParaRPr lang="en-US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715">
                <a:tc>
                  <a:txBody>
                    <a:bodyPr/>
                    <a:lstStyle/>
                    <a:p>
                      <a:pPr marL="0" lvl="0" indent="0" algn="ctr" defTabSz="88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DFS-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在线质量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在线质量2.0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在线质量2.1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在线质量1.0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在线质量1.3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HeraEye导入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endParaRPr lang="en-US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715">
                <a:tc>
                  <a:txBody>
                    <a:bodyPr/>
                    <a:lstStyle/>
                    <a:p>
                      <a:pPr marL="0" lvl="0" indent="0" algn="ctr" defTabSz="889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DFM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en-US" sz="1000" b="0" i="0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最小化系统</a:t>
                      </a: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</a:t>
                      </a:r>
                      <a:endParaRPr lang="zh-CN" sz="1000" b="0" i="0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最小化系统</a:t>
                      </a:r>
                      <a:r>
                        <a:rPr lang="en-US" sz="1000" b="0" i="0" strike="noStrike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</a:t>
                      </a:r>
                      <a:endParaRPr lang="zh-CN" sz="1000" b="0" i="0" strike="noStrike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最小化系统1.0</a:t>
                      </a:r>
                      <a:r>
                        <a:rPr lang="zh-CN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</a:t>
                      </a:r>
                      <a:r>
                        <a:rPr lang="en-US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MT9221 GTV</a:t>
                      </a:r>
                      <a:r>
                        <a:rPr lang="zh-CN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Leading</a:t>
                      </a:r>
                      <a:r>
                        <a:rPr lang="zh-CN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导入</a:t>
                      </a:r>
                      <a:endParaRPr lang="en-US" sz="1000" b="0" i="0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endParaRPr lang="zh-CN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矩形 9"/>
          <p:cNvSpPr/>
          <p:nvPr/>
        </p:nvSpPr>
        <p:spPr>
          <a:xfrm>
            <a:off x="1123472" y="681243"/>
            <a:ext cx="96585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国内外机芯拉通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MT9653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中国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海外共硬件平台（</a:t>
            </a:r>
            <a:r>
              <a:rPr lang="en-US" sz="1200" dirty="0" err="1">
                <a:latin typeface="微软雅黑" panose="020B0503020204020204" charset="-122"/>
                <a:ea typeface="微软雅黑" panose="020B0503020204020204" charset="-122"/>
              </a:rPr>
              <a:t>SoC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硬件完全相同，机芯板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EU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端子有差异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(CI+/DVBS TUNER)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，存储配置有差异）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异步开发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提前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-3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个月启动</a:t>
            </a: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机芯预研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Android R </a:t>
            </a:r>
            <a:r>
              <a:rPr 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7/1</a:t>
            </a:r>
            <a:r>
              <a:rPr 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～</a:t>
            </a:r>
            <a:r>
              <a:rPr 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8/31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Android S 9/15~12/30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新特性导入采用</a:t>
            </a: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灵悉</a:t>
            </a: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</a:rPr>
              <a:t>UI</a:t>
            </a: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主干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异步开发策略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TROM3.0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预研结项，符合上车质量门禁要求；下一代中间件预研结项，符合上车质量门禁要求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共产品主干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MT9653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中国区共用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TROM2.0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产品主干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(Android S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共下一代中间件和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TROM3.0 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版本</a:t>
            </a:r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1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海外全球共版本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：通过动态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Fingerprint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及内置视频单独分区，做到一个版本覆盖全球（除日本外）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sz="1200" b="1" dirty="0">
                <a:latin typeface="微软雅黑" panose="020B0503020204020204" charset="-122"/>
                <a:ea typeface="微软雅黑" panose="020B0503020204020204" charset="-122"/>
              </a:rPr>
              <a:t>Android 12</a:t>
            </a:r>
            <a:r>
              <a:rPr lang="zh-CN" sz="1200" b="1" dirty="0">
                <a:latin typeface="微软雅黑" panose="020B0503020204020204" charset="-122"/>
                <a:ea typeface="微软雅黑" panose="020B0503020204020204" charset="-122"/>
              </a:rPr>
              <a:t>客制化精简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TCL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服务、系统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patch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dirty="0" err="1">
                <a:latin typeface="微软雅黑" panose="020B0503020204020204" charset="-122"/>
                <a:ea typeface="微软雅黑" panose="020B0503020204020204" charset="-122"/>
              </a:rPr>
              <a:t>Vender&amp;Driver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dirty="0">
                <a:latin typeface="微软雅黑" panose="020B0503020204020204" charset="-122"/>
                <a:ea typeface="微软雅黑" panose="020B0503020204020204" charset="-122"/>
              </a:rPr>
              <a:t>patch</a:t>
            </a:r>
            <a:r>
              <a:rPr lang="zh-CN" sz="1200" dirty="0">
                <a:latin typeface="微软雅黑" panose="020B0503020204020204" charset="-122"/>
                <a:ea typeface="微软雅黑" panose="020B0503020204020204" charset="-122"/>
              </a:rPr>
              <a:t>的重新梳理和精简</a:t>
            </a: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软件开发代表：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28" name="折角形 27"/>
          <p:cNvSpPr/>
          <p:nvPr/>
        </p:nvSpPr>
        <p:spPr>
          <a:xfrm>
            <a:off x="8725890" y="574131"/>
            <a:ext cx="2743200" cy="588875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根据立项报告的整体开发策略，确认达成情况，并对未达标的项进行复盘分析</a:t>
            </a:r>
            <a:endParaRPr lang="zh-CN" sz="1050"/>
          </a:p>
        </p:txBody>
      </p:sp>
      <p:sp>
        <p:nvSpPr>
          <p:cNvPr id="29" name="椭圆 15"/>
          <p:cNvSpPr/>
          <p:nvPr/>
        </p:nvSpPr>
        <p:spPr>
          <a:xfrm>
            <a:off x="2569438" y="615338"/>
            <a:ext cx="577158" cy="54320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 anchor="ctr"/>
          <a:lstStyle/>
          <a:p>
            <a:pPr lvl="0"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未达成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椭圆 16"/>
          <p:cNvSpPr/>
          <p:nvPr/>
        </p:nvSpPr>
        <p:spPr>
          <a:xfrm>
            <a:off x="3587436" y="1346703"/>
            <a:ext cx="577158" cy="543208"/>
          </a:xfrm>
          <a:prstGeom prst="ellipse">
            <a:avLst/>
          </a:prstGeom>
          <a:solidFill>
            <a:srgbClr val="87C120"/>
          </a:solidFill>
          <a:ln w="12700">
            <a:solidFill>
              <a:srgbClr val="87C120"/>
            </a:solidFill>
            <a:prstDash val="solid"/>
          </a:ln>
        </p:spPr>
        <p:txBody>
          <a:bodyPr anchor="ctr"/>
          <a:lstStyle/>
          <a:p>
            <a:pPr lvl="0"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达成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椭圆 17"/>
          <p:cNvSpPr/>
          <p:nvPr/>
        </p:nvSpPr>
        <p:spPr>
          <a:xfrm>
            <a:off x="7931248" y="2057812"/>
            <a:ext cx="683319" cy="606904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  <p:txBody>
          <a:bodyPr anchor="ctr"/>
          <a:lstStyle/>
          <a:p>
            <a:pPr lvl="0"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部分达成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706D88-55F9-45BC-8D12-167AB2EDE630}" type="slidenum">
              <a:rPr/>
            </a:fld>
            <a:endParaRPr lang="zh-CN"/>
          </a:p>
        </p:txBody>
      </p:sp>
      <p:sp>
        <p:nvSpPr>
          <p:cNvPr id="34" name="主标题为方正兰亭 , 最大30pt"/>
          <p:cNvSpPr txBox="1"/>
          <p:nvPr/>
        </p:nvSpPr>
        <p:spPr>
          <a:xfrm>
            <a:off x="1123472" y="195099"/>
            <a:ext cx="26162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3.1 开发策略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软件开发代表：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36" name="折角形 35"/>
          <p:cNvSpPr/>
          <p:nvPr/>
        </p:nvSpPr>
        <p:spPr>
          <a:xfrm>
            <a:off x="8725890" y="574131"/>
            <a:ext cx="2743200" cy="588875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根据立项报告的整体开发策略，进行偏差分析</a:t>
            </a:r>
            <a:endParaRPr lang="zh-CN" sz="1050"/>
          </a:p>
        </p:txBody>
      </p:sp>
      <p:graphicFrame>
        <p:nvGraphicFramePr>
          <p:cNvPr id="37" name="表格 3"/>
          <p:cNvGraphicFramePr/>
          <p:nvPr/>
        </p:nvGraphicFramePr>
        <p:xfrm>
          <a:off x="445490" y="1638300"/>
          <a:ext cx="11019342" cy="358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6096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08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706D88-55F9-45BC-8D12-167AB2EDE630}" type="slidenum">
              <a:rPr/>
            </a:fld>
            <a:endParaRPr lang="zh-CN"/>
          </a:p>
        </p:txBody>
      </p:sp>
      <p:sp>
        <p:nvSpPr>
          <p:cNvPr id="40" name="主标题为方正兰亭 , 最大30pt"/>
          <p:cNvSpPr txBox="1"/>
          <p:nvPr/>
        </p:nvSpPr>
        <p:spPr>
          <a:xfrm>
            <a:off x="1123472" y="195099"/>
            <a:ext cx="57023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3.1.1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开发策略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|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分支管理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达成情况偏差分析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软件开发代表：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42" name="折角形 41"/>
          <p:cNvSpPr/>
          <p:nvPr/>
        </p:nvSpPr>
        <p:spPr>
          <a:xfrm>
            <a:off x="8725890" y="574131"/>
            <a:ext cx="2743200" cy="752593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根据立项报告中，灵悉主干</a:t>
            </a:r>
            <a:r>
              <a:rPr lang="en-US" sz="1050"/>
              <a:t>/</a:t>
            </a:r>
            <a:r>
              <a:rPr lang="zh-CN" sz="1050"/>
              <a:t>量产分支</a:t>
            </a:r>
            <a:r>
              <a:rPr lang="en-US" sz="1050"/>
              <a:t>/</a:t>
            </a:r>
            <a:r>
              <a:rPr lang="zh-CN" sz="1050"/>
              <a:t>认证</a:t>
            </a:r>
            <a:r>
              <a:rPr lang="en-US" sz="1050"/>
              <a:t>/hotfix</a:t>
            </a:r>
            <a:r>
              <a:rPr lang="zh-CN" sz="1050"/>
              <a:t>等各相关的分支管理策略、快慢轨版本设计方案，输出达标情况，并对未达标项进行复盘分析</a:t>
            </a:r>
            <a:endParaRPr lang="zh-CN" sz="10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表格 2"/>
          <p:cNvGraphicFramePr/>
          <p:nvPr/>
        </p:nvGraphicFramePr>
        <p:xfrm>
          <a:off x="327025" y="1407092"/>
          <a:ext cx="11537950" cy="3848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3357"/>
                <a:gridCol w="745288"/>
                <a:gridCol w="6007131"/>
                <a:gridCol w="1356087"/>
                <a:gridCol w="1356087"/>
              </a:tblGrid>
              <a:tr h="273050">
                <a:tc>
                  <a:txBody>
                    <a:bodyPr/>
                    <a:lstStyle/>
                    <a:p>
                      <a:pPr algn="ctr"/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关键抓手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应对策略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 dirty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>
                          <a:solidFill>
                            <a:schemeClr val="bg1">
                              <a:alpha val="100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达成情况</a:t>
                      </a:r>
                      <a:endParaRPr lang="zh-CN" sz="1400" b="1">
                        <a:solidFill>
                          <a:schemeClr val="bg1">
                            <a:alpha val="100000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lvl="0" algn="ctr"/>
                      <a:endParaRPr lang="en-US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200" b="0" i="0" strike="noStrik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达成</a:t>
                      </a:r>
                      <a:endParaRPr lang="zh-CN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>
                        <a:alpha val="100000"/>
                      </a:srgbClr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marL="0" lvl="0" indent="127000" algn="ctr" defTabSz="4572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en-US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200" b="0" i="0" strike="noStrike" spc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未达成</a:t>
                      </a:r>
                      <a:endParaRPr lang="zh-CN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100000"/>
                      </a:srgbClr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lvl="0" algn="ctr"/>
                      <a:endParaRPr lang="en-US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 lvl="0" algn="ctr"/>
                      <a:endParaRPr lang="en-US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marL="0" lvl="0" indent="127000" algn="ctr" defTabSz="4572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 b="0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706D88-55F9-45BC-8D12-167AB2EDE630}" type="slidenum">
              <a:rPr/>
            </a:fld>
            <a:endParaRPr lang="zh-CN"/>
          </a:p>
        </p:txBody>
      </p:sp>
      <p:sp>
        <p:nvSpPr>
          <p:cNvPr id="46" name="主标题为方正兰亭 , 最大30pt"/>
          <p:cNvSpPr txBox="1"/>
          <p:nvPr/>
        </p:nvSpPr>
        <p:spPr>
          <a:xfrm>
            <a:off x="1123472" y="195099"/>
            <a:ext cx="68199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3.1.2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开发策略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|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项目关键抓手的识别及达成情况偏差分析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7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软件开发代表：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2</a:t>
            </a:r>
            <a:r>
              <a:rPr lang="zh-CN" sz="1400"/>
              <a:t>页内）</a:t>
            </a:r>
            <a:endParaRPr lang="zh-CN" sz="1400"/>
          </a:p>
        </p:txBody>
      </p:sp>
      <p:sp>
        <p:nvSpPr>
          <p:cNvPr id="48" name="折角形 47"/>
          <p:cNvSpPr/>
          <p:nvPr/>
        </p:nvSpPr>
        <p:spPr>
          <a:xfrm>
            <a:off x="8725890" y="574131"/>
            <a:ext cx="3314698" cy="576779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确认各项达成情况，对不达标项进行分析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对于未识别出来的关键抓手，进行分析</a:t>
            </a:r>
            <a:endParaRPr lang="zh-CN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5D47E6D-C75D-461B-BA2F-E064330344ED}" type="slidenum">
              <a:rPr/>
            </a:fld>
            <a:endParaRPr lang="zh-CN"/>
          </a:p>
        </p:txBody>
      </p:sp>
      <p:sp>
        <p:nvSpPr>
          <p:cNvPr id="51" name="主标题为方正兰亭 , 最大30pt"/>
          <p:cNvSpPr txBox="1"/>
          <p:nvPr/>
        </p:nvSpPr>
        <p:spPr>
          <a:xfrm>
            <a:off x="1123472" y="195099"/>
            <a:ext cx="396875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3.2 质量策略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|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总体目标达成情况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52" name="表格 8"/>
          <p:cNvGraphicFramePr/>
          <p:nvPr/>
        </p:nvGraphicFramePr>
        <p:xfrm>
          <a:off x="715645" y="796290"/>
          <a:ext cx="10496550" cy="4017800"/>
        </p:xfrm>
        <a:graphic>
          <a:graphicData uri="http://schemas.openxmlformats.org/drawingml/2006/table">
            <a:tbl>
              <a:tblPr/>
              <a:tblGrid>
                <a:gridCol w="1155700"/>
                <a:gridCol w="863600"/>
                <a:gridCol w="1974850"/>
                <a:gridCol w="1898650"/>
                <a:gridCol w="3467100"/>
                <a:gridCol w="1136650"/>
              </a:tblGrid>
              <a:tr h="311150">
                <a:tc gridSpan="5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1" i="0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MT9653</a:t>
                      </a:r>
                      <a:r>
                        <a:rPr lang="zh-CN" sz="1400" b="1" i="0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质量目标</a:t>
                      </a:r>
                      <a:endParaRPr lang="zh-CN" sz="1400" b="1" i="0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050"/>
                    </a:p>
                  </a:txBody>
                  <a:tcPr marL="0" marR="0" marT="0" marB="0" anchor="ctr" anchorCtr="1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99999">
                          <a:alpha val="100000"/>
                        </a:srgbClr>
                      </a:solidFill>
                    </a:lnB>
                    <a:solidFill>
                      <a:schemeClr val="accent5">
                        <a:lumMod val="40000"/>
                        <a:lumOff val="60000"/>
                        <a:alpha val="100000"/>
                      </a:schemeClr>
                    </a:solidFill>
                  </a:tcPr>
                </a:tc>
              </a:tr>
              <a:tr h="209550">
                <a:tc grid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lang="zh-CN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上一代产品的当前实际值</a:t>
                      </a:r>
                      <a:endParaRPr lang="zh-CN" sz="1000" b="1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MT9653</a:t>
                      </a: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</a:t>
                      </a:r>
                      <a:endParaRPr lang="zh-CN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zh-CN"/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09550"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1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sz="1600" b="1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1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lang="zh-CN" sz="1600" b="1" i="0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0" marR="0" marT="0" marB="0" anchor="ctr" anchorCtr="1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 marL="0" marR="0" marT="0" marB="0" anchor="ctr" anchorCtr="1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 marL="0" marR="0" marT="0" marB="0" anchor="ctr" anchorCtr="1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 marL="0" marR="0" marT="0" marB="0" anchor="ctr" anchorCtr="1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09550">
                <a:tc grid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i="0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卖点命中率</a:t>
                      </a:r>
                      <a:endParaRPr lang="zh-CN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403E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符合公司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KPI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algn="l" defTabSz="398780">
                        <a:defRPr sz="785" kern="12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defRPr>
                      </a:pPr>
                      <a:r>
                        <a:rPr lang="zh-CN" sz="1000" b="0" i="0" strike="noStrike" kern="1200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达成</a:t>
                      </a:r>
                      <a:endParaRPr sz="785" kern="120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>
                        <a:alpha val="100000"/>
                      </a:srgbClr>
                    </a:solidFill>
                  </a:tcPr>
                </a:tc>
              </a:tr>
              <a:tr h="336550">
                <a:tc grid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i="0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卖点达成率</a:t>
                      </a:r>
                      <a:r>
                        <a:rPr lang="en-US" sz="1000" b="0" i="0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TR5</a:t>
                      </a:r>
                      <a:r>
                        <a:rPr lang="zh-CN" sz="1000" b="0" i="0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释放达成</a:t>
                      </a:r>
                      <a:endParaRPr lang="zh-CN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Follow P12G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质量目标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algn="l" defTabSz="398780">
                        <a:defRPr sz="785" kern="12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defRPr>
                      </a:pPr>
                      <a:r>
                        <a:rPr lang="zh-CN" sz="1000" b="0" i="0" strike="noStrike" kern="1200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未达成，实际完成80%</a:t>
                      </a:r>
                      <a:endParaRPr sz="785" kern="120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00"/>
                      </a:srgbClr>
                    </a:solidFill>
                  </a:tcPr>
                </a:tc>
              </a:tr>
              <a:tr h="647700">
                <a:tc grid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用户体验</a:t>
                      </a:r>
                      <a:endParaRPr lang="zh-CN" sz="16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000" b="0" i="0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UXI体验各维度指标优于竞品对标</a:t>
                      </a:r>
                      <a:r>
                        <a:rPr lang="zh-CN" sz="1000" b="0" i="0" strike="noStrike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</a:t>
                      </a:r>
                      <a:r>
                        <a:rPr lang="zh-CN" altLang="en-US" sz="1000" b="0" i="0" strike="noStrike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；</a:t>
                      </a:r>
                      <a:endParaRPr lang="en-US" altLang="zh-CN" sz="1000" b="0" i="0" strike="noStrike" dirty="0" smtClean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竞品机：</a:t>
                      </a:r>
                      <a:r>
                        <a:rPr lang="en-US" altLang="zh-CN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Sony</a:t>
                      </a:r>
                      <a:r>
                        <a:rPr lang="zh-CN" altLang="en-US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同档位</a:t>
                      </a:r>
                      <a:r>
                        <a:rPr lang="en-US" altLang="zh-CN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X90J</a:t>
                      </a:r>
                      <a:r>
                        <a:rPr lang="zh-CN" altLang="en-US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，竞品机</a:t>
                      </a:r>
                      <a:r>
                        <a:rPr lang="en-US" altLang="zh-CN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UXI</a:t>
                      </a:r>
                      <a:r>
                        <a:rPr lang="zh-CN" altLang="en-US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得分：</a:t>
                      </a:r>
                      <a:r>
                        <a:rPr lang="en-US" altLang="zh-CN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</a:t>
                      </a:r>
                      <a:r>
                        <a:rPr lang="zh-CN" altLang="en-US" sz="1000" b="0" i="0" strike="noStrike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分（必填）</a:t>
                      </a:r>
                      <a:endParaRPr lang="zh-CN" sz="1000" b="0" i="0" strike="noStrike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strike="noStrike" spc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用户体验指标，基于新版《UXI体验标准模型》，各维度数据优于竞品对标机即超过对标机（已包括竞争力</a:t>
                      </a:r>
                      <a:r>
                        <a:rPr lang="en-US" sz="1000" b="0" i="0" strike="noStrike" spc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r>
                        <a:rPr lang="zh-CN" sz="1000" b="0" i="0" strike="noStrike" spc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项）</a:t>
                      </a:r>
                      <a:endParaRPr lang="zh-CN" sz="1000" b="0" i="0" strike="noStrike" spc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0" i="0" strike="noStrike" spc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海外体验赶超</a:t>
                      </a:r>
                      <a:r>
                        <a:rPr lang="en-US" sz="1000" b="0" i="0" strike="noStrike" spc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Sony </a:t>
                      </a:r>
                      <a:r>
                        <a:rPr lang="zh-CN" sz="1000" b="1" i="0" strike="noStrike" spc="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同档位</a:t>
                      </a:r>
                      <a:r>
                        <a:rPr lang="en-US" sz="1000" b="1" i="0" strike="noStrike" spc="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X90J </a:t>
                      </a:r>
                      <a:r>
                        <a:rPr lang="zh-CN" sz="1000" b="1" i="0" strike="noStrike" spc="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endParaRPr lang="zh-CN" sz="1000" b="1" i="0" strike="noStrike" spc="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algn="l" defTabSz="398780">
                        <a:defRPr sz="785" kern="12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defRPr>
                      </a:pPr>
                      <a:r>
                        <a:rPr lang="zh-CN" sz="1000" b="0" i="0" strike="noStrike" kern="1200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部分达成</a:t>
                      </a:r>
                      <a:endParaRPr sz="785" kern="120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marL="0" lvl="0" algn="l" defTabSz="398780">
                        <a:defRPr sz="785" kern="120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defRPr>
                      </a:pPr>
                      <a:r>
                        <a:rPr lang="zh-CN" sz="1000" b="0" i="0" strike="noStrike" kern="1200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XX维度得分未达成</a:t>
                      </a:r>
                      <a:endParaRPr sz="785" kern="120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209550">
                <a:tc rowSpan="2"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软件产品成熟度</a:t>
                      </a:r>
                      <a:endParaRPr lang="zh-CN" sz="16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中国</a:t>
                      </a:r>
                      <a:endParaRPr lang="zh-CN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 vMerge="1"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海外</a:t>
                      </a:r>
                      <a:endParaRPr lang="zh-CN" sz="10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229.5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150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性能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</a:t>
                      </a: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海外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MT9615+: 84.67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MT9652</a:t>
                      </a: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</a:t>
                      </a: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75.24</a:t>
                      </a:r>
                      <a:endParaRPr lang="en-US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0">
                          <a:solidFill>
                            <a:srgbClr val="403E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</a:t>
                      </a:r>
                      <a:endParaRPr lang="en-US" sz="1000" b="0" i="0" strike="noStrike" spc="0">
                        <a:solidFill>
                          <a:srgbClr val="403ED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indent="0" algn="l" defTabSz="190500">
                        <a:lnSpc>
                          <a:spcPct val="100000"/>
                        </a:lnSpc>
                        <a:buNone/>
                      </a:pP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indent="0" algn="l" defTabSz="190500">
                        <a:lnSpc>
                          <a:spcPct val="100000"/>
                        </a:lnSpc>
                        <a:buNone/>
                      </a:pP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 row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/>
                        <a:t>/</a:t>
                      </a:r>
                      <a:endParaRPr lang="zh-CN" sz="1000"/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S</a:t>
                      </a:r>
                      <a:endParaRPr lang="en-US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190500">
                        <a:lnSpc>
                          <a:spcPct val="100000"/>
                        </a:lnSpc>
                        <a:buNone/>
                      </a:pPr>
                      <a:endParaRPr lang="zh-CN" sz="1000"/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190500">
                        <a:lnSpc>
                          <a:spcPct val="100000"/>
                        </a:lnSpc>
                        <a:buNone/>
                      </a:pPr>
                      <a:endParaRPr lang="zh-CN" sz="1000"/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 vMerge="1">
                  <a:tcPr marL="0" marR="0" marT="0" marB="0" anchor="ctr">
                    <a:lnL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海外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S/A</a:t>
                      </a:r>
                      <a:endParaRPr lang="en-US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indent="0" algn="l" defTabSz="190500">
                        <a:lnSpc>
                          <a:spcPct val="100000"/>
                        </a:lnSpc>
                        <a:buNone/>
                      </a:pP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indent="0" algn="l" defTabSz="190500">
                        <a:lnSpc>
                          <a:spcPct val="100000"/>
                        </a:lnSpc>
                        <a:buNone/>
                      </a:pP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889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稳定性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indent="0" algn="ctr" defTabSz="889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中国</a:t>
                      </a: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海外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190500">
                        <a:lnSpc>
                          <a:spcPct val="100000"/>
                        </a:lnSpc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MT9615+: 84/79/100/100</a:t>
                      </a:r>
                      <a:endParaRPr lang="en-US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190500">
                        <a:lnSpc>
                          <a:spcPct val="100000"/>
                        </a:lnSpc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MT9652:59/82/100/80</a:t>
                      </a:r>
                      <a:endParaRPr lang="en-US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ctr" defTabSz="88900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  <a:endParaRPr lang="en-US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88900">
                        <a:lnSpc>
                          <a:spcPct val="100000"/>
                        </a:lnSpc>
                        <a:buNone/>
                      </a:pPr>
                      <a:r>
                        <a:rPr lang="zh-CN" sz="1000" b="0" i="0" strike="noStrike" spc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四维度稳定性均达到高档机释放标准</a:t>
                      </a: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88900">
                        <a:lnSpc>
                          <a:spcPct val="100000"/>
                        </a:lnSpc>
                        <a:buNone/>
                      </a:pPr>
                      <a:endParaRPr lang="zh-CN" sz="10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 gridSpan="2"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流程符合度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0" marR="0" marT="0" marB="0" anchor="ctr" anchorCtr="1"/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95%</a:t>
                      </a:r>
                      <a:endParaRPr lang="en-US" sz="16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sz="1000" b="0" i="0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1pPr>
                      <a:lvl2pPr marL="199390" lvl="1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2pPr>
                      <a:lvl3pPr marL="398780" lvl="2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3pPr>
                      <a:lvl4pPr marL="598170" lvl="3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4pPr>
                      <a:lvl5pPr marL="797560" lvl="4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5pPr>
                      <a:lvl6pPr marL="996950" lvl="5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6pPr>
                      <a:lvl7pPr marL="1196340" lvl="6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7pPr>
                      <a:lvl8pPr marL="1395730" lvl="7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8pPr>
                      <a:lvl9pPr marL="1595755" lvl="8" algn="l" defTabSz="398780">
                        <a:defRPr sz="785" kern="1200">
                          <a:solidFill>
                            <a:schemeClr val="tx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marL="0" lvl="0" indent="0" algn="l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zh-CN" sz="1000" b="0" i="0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99999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" name="文本框 4"/>
          <p:cNvSpPr txBox="1"/>
          <p:nvPr/>
        </p:nvSpPr>
        <p:spPr>
          <a:xfrm>
            <a:off x="8877302" y="0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软件质量代表：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54" name="折角形 53"/>
          <p:cNvSpPr/>
          <p:nvPr/>
        </p:nvSpPr>
        <p:spPr>
          <a:xfrm>
            <a:off x="8877302" y="374650"/>
            <a:ext cx="3314698" cy="603250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根据立项报告中制定的质量策略，确认各项达成情况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/>
              <a:t>UXI</a:t>
            </a:r>
            <a:r>
              <a:rPr lang="zh-CN" sz="1050"/>
              <a:t>得分各维度竞争力雷达图，与同档位竞品比，与上一代产品比</a:t>
            </a:r>
            <a:endParaRPr lang="zh-CN" sz="1050"/>
          </a:p>
        </p:txBody>
      </p:sp>
      <p:sp>
        <p:nvSpPr>
          <p:cNvPr id="55" name="文本框 54"/>
          <p:cNvSpPr txBox="1"/>
          <p:nvPr/>
        </p:nvSpPr>
        <p:spPr>
          <a:xfrm>
            <a:off x="715645" y="5384800"/>
            <a:ext cx="411480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/>
              <a:t>UXI</a:t>
            </a:r>
            <a:r>
              <a:rPr lang="zh-CN"/>
              <a:t>雷达图（同档位竞品</a:t>
            </a:r>
            <a:r>
              <a:rPr lang="en-US"/>
              <a:t>&amp;</a:t>
            </a:r>
            <a:r>
              <a:rPr lang="zh-CN"/>
              <a:t>上一代产品）</a:t>
            </a:r>
            <a:endParaRPr 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5D47E6D-C75D-461B-BA2F-E064330344ED}" type="slidenum">
              <a:rPr/>
            </a:fld>
            <a:endParaRPr lang="zh-CN"/>
          </a:p>
        </p:txBody>
      </p:sp>
      <p:sp>
        <p:nvSpPr>
          <p:cNvPr id="58" name="主标题为方正兰亭 , 最大30pt"/>
          <p:cNvSpPr txBox="1"/>
          <p:nvPr/>
        </p:nvSpPr>
        <p:spPr>
          <a:xfrm>
            <a:off x="1123472" y="195099"/>
            <a:ext cx="343535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3.2 质量策略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|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项目同比改善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9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软件质量代表：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60" name="折角形 59"/>
          <p:cNvSpPr/>
          <p:nvPr/>
        </p:nvSpPr>
        <p:spPr>
          <a:xfrm>
            <a:off x="8725890" y="574131"/>
            <a:ext cx="3314698" cy="460230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对于各指标达成情况，要有今年以来每个项目达成的趋势折线图，并与去年达成情况的同比</a:t>
            </a:r>
            <a:endParaRPr lang="zh-CN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5D47E6D-C75D-461B-BA2F-E064330344ED}" type="slidenum">
              <a:rPr/>
            </a:fld>
            <a:endParaRPr lang="zh-CN"/>
          </a:p>
        </p:txBody>
      </p:sp>
      <p:sp>
        <p:nvSpPr>
          <p:cNvPr id="63" name="主标题为方正兰亭 , 最大30pt"/>
          <p:cNvSpPr txBox="1"/>
          <p:nvPr/>
        </p:nvSpPr>
        <p:spPr>
          <a:xfrm>
            <a:off x="1123472" y="195099"/>
            <a:ext cx="343535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3.2 质量策略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|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4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软件质量代表：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65" name="折角形 64"/>
          <p:cNvSpPr/>
          <p:nvPr/>
        </p:nvSpPr>
        <p:spPr>
          <a:xfrm>
            <a:off x="8725890" y="574131"/>
            <a:ext cx="3314698" cy="517759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根据立项报告中制定的质量策略，对不达标项进行复盘分析</a:t>
            </a:r>
            <a:endParaRPr lang="zh-CN" sz="1050"/>
          </a:p>
        </p:txBody>
      </p:sp>
      <p:graphicFrame>
        <p:nvGraphicFramePr>
          <p:cNvPr id="66" name="表格 3"/>
          <p:cNvGraphicFramePr/>
          <p:nvPr/>
        </p:nvGraphicFramePr>
        <p:xfrm>
          <a:off x="445490" y="1638300"/>
          <a:ext cx="11019342" cy="358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6096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08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幻灯片编号占位符 1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008F8-D1CA-4CA9-A7F9-8FDA8B9EEE61}" type="slidenum">
              <a:rPr/>
            </a:fld>
            <a:endParaRPr lang="zh-CN"/>
          </a:p>
        </p:txBody>
      </p:sp>
      <p:sp>
        <p:nvSpPr>
          <p:cNvPr id="69" name="主标题为方正兰亭 , 最大30pt"/>
          <p:cNvSpPr txBox="1"/>
          <p:nvPr/>
        </p:nvSpPr>
        <p:spPr>
          <a:xfrm>
            <a:off x="1123472" y="195193"/>
            <a:ext cx="46863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defTabSz="203200"/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3.2.1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质量策略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| 过程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质量目标偏差分析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0" name="矩形 3"/>
          <p:cNvSpPr/>
          <p:nvPr/>
        </p:nvSpPr>
        <p:spPr>
          <a:xfrm>
            <a:off x="5855704" y="4147185"/>
            <a:ext cx="5251450" cy="7761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sz="800">
                <a:latin typeface="微软雅黑" panose="020B0503020204020204" charset="-122"/>
                <a:ea typeface="微软雅黑" panose="020B0503020204020204" charset="-122"/>
                <a:cs typeface="+mn-cs"/>
              </a:rPr>
              <a:t>定义各阶段的测试、开发质量目标，提前发现、解决</a:t>
            </a:r>
            <a:r>
              <a:rPr lang="en-US" sz="800">
                <a:latin typeface="微软雅黑" panose="020B0503020204020204" charset="-122"/>
                <a:ea typeface="微软雅黑" panose="020B0503020204020204" charset="-122"/>
                <a:cs typeface="+mn-cs"/>
              </a:rPr>
              <a:t>BUG</a:t>
            </a:r>
            <a:r>
              <a:rPr lang="zh-CN" sz="800">
                <a:latin typeface="微软雅黑" panose="020B0503020204020204" charset="-122"/>
                <a:ea typeface="微软雅黑" panose="020B0503020204020204" charset="-122"/>
                <a:cs typeface="+mn-cs"/>
              </a:rPr>
              <a:t>。</a:t>
            </a:r>
            <a:endParaRPr lang="zh-CN" sz="8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l"/>
            <a:r>
              <a:rPr lang="zh-CN" sz="800">
                <a:latin typeface="微软雅黑" panose="020B0503020204020204" charset="-122"/>
                <a:ea typeface="微软雅黑" panose="020B0503020204020204" charset="-122"/>
                <a:cs typeface="+mn-cs"/>
              </a:rPr>
              <a:t>对比</a:t>
            </a:r>
            <a:r>
              <a:rPr lang="en-US" sz="800">
                <a:latin typeface="微软雅黑" panose="020B0503020204020204" charset="-122"/>
                <a:ea typeface="微软雅黑" panose="020B0503020204020204" charset="-122"/>
                <a:cs typeface="+mn-cs"/>
              </a:rPr>
              <a:t>T982</a:t>
            </a:r>
            <a:endParaRPr lang="en-US" sz="8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l"/>
            <a:r>
              <a:rPr lang="en-US" sz="800">
                <a:latin typeface="微软雅黑" panose="020B0503020204020204" charset="-122"/>
                <a:ea typeface="微软雅黑" panose="020B0503020204020204" charset="-122"/>
                <a:cs typeface="+mn-cs"/>
              </a:rPr>
              <a:t>M1</a:t>
            </a:r>
            <a:r>
              <a:rPr lang="zh-CN" sz="800">
                <a:latin typeface="微软雅黑" panose="020B0503020204020204" charset="-122"/>
                <a:ea typeface="微软雅黑" panose="020B0503020204020204" charset="-122"/>
                <a:cs typeface="+mn-cs"/>
              </a:rPr>
              <a:t>目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标，测试从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62%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提升到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75%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开发从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31%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提升到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50%</a:t>
            </a:r>
            <a:endParaRPr lang="en-US" sz="1200">
              <a:solidFill>
                <a:schemeClr val="tx1">
                  <a:alpha val="100000"/>
                </a:schemeClr>
              </a:solidFill>
            </a:endParaRPr>
          </a:p>
          <a:p>
            <a:pPr algn="l"/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M5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目标，测试从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88%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提升到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95%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 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开发从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67%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提升到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93%</a:t>
            </a:r>
            <a:endParaRPr lang="en-US" sz="1200">
              <a:solidFill>
                <a:schemeClr val="tx1">
                  <a:alpha val="100000"/>
                </a:schemeClr>
              </a:solidFill>
              <a:latin typeface="等线" panose="02010600030101010101" charset="-122"/>
              <a:ea typeface="等线" panose="02010600030101010101" charset="-122"/>
              <a:cs typeface="+mn-cs"/>
              <a:sym typeface="等线" panose="02010600030101010101" charset="-122"/>
            </a:endParaRPr>
          </a:p>
          <a:p>
            <a:pPr algn="l"/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对比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MT9615 </a:t>
            </a:r>
            <a:endParaRPr lang="en-US" sz="80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l"/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M5 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到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V1 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阶段，少做一轮全功能测试，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M1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全功能阶段目标从</a:t>
            </a:r>
            <a:r>
              <a:rPr lang="en-US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40.8%</a:t>
            </a:r>
            <a:r>
              <a:rPr lang="zh-CN" sz="80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提升到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80%</a:t>
            </a:r>
            <a:r>
              <a:rPr lang="zh-CN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，总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DI</a:t>
            </a:r>
            <a:r>
              <a:rPr lang="zh-CN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值减低</a:t>
            </a:r>
            <a:r>
              <a:rPr lang="en-US" sz="80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16.63%</a:t>
            </a:r>
            <a:endParaRPr lang="en-US" sz="800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71" name="图表 6"/>
          <p:cNvGraphicFramePr/>
          <p:nvPr/>
        </p:nvGraphicFramePr>
        <p:xfrm>
          <a:off x="382270" y="3040810"/>
          <a:ext cx="4074633" cy="1217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72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" y="1232535"/>
            <a:ext cx="4074634" cy="1808275"/>
          </a:xfrm>
          <a:prstGeom prst="rect">
            <a:avLst/>
          </a:prstGeom>
        </p:spPr>
      </p:pic>
      <p:sp>
        <p:nvSpPr>
          <p:cNvPr id="73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软件质量代表：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74" name="折角形 73"/>
          <p:cNvSpPr/>
          <p:nvPr/>
        </p:nvSpPr>
        <p:spPr>
          <a:xfrm>
            <a:off x="6979556" y="574131"/>
            <a:ext cx="5061032" cy="896810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根据立项报告中制定的质量策略，确认各项达成情况，并对不达标项进行复盘分析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对于不达标项，增加历史项目的趋势图，如是持续改善的，可以不用复盘，如果是持续劣化的，需要深度复盘（包括真正解决关闭的问题占比）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增加</a:t>
            </a:r>
            <a:r>
              <a:rPr lang="en-US" sz="1050"/>
              <a:t>bug</a:t>
            </a:r>
            <a:r>
              <a:rPr lang="zh-CN" sz="1050"/>
              <a:t>发现和</a:t>
            </a:r>
            <a:r>
              <a:rPr lang="en-US" sz="1050"/>
              <a:t>bug</a:t>
            </a:r>
            <a:r>
              <a:rPr lang="zh-CN" sz="1050"/>
              <a:t>解决的折线图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增加总</a:t>
            </a:r>
            <a:r>
              <a:rPr lang="en-US" sz="1050"/>
              <a:t>bug</a:t>
            </a:r>
            <a:r>
              <a:rPr lang="zh-CN" sz="1050"/>
              <a:t>分布饼图（按模块）</a:t>
            </a:r>
            <a:endParaRPr lang="zh-CN" sz="1050"/>
          </a:p>
        </p:txBody>
      </p:sp>
      <p:graphicFrame>
        <p:nvGraphicFramePr>
          <p:cNvPr id="75" name="表格 3"/>
          <p:cNvGraphicFramePr/>
          <p:nvPr/>
        </p:nvGraphicFramePr>
        <p:xfrm>
          <a:off x="245389" y="5016500"/>
          <a:ext cx="11019342" cy="1530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34925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编号占位符 1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60C48-B7BF-4D78-85C1-6C254956211B}" type="slidenum">
              <a:rPr/>
            </a:fld>
            <a:endParaRPr lang="zh-CN"/>
          </a:p>
        </p:txBody>
      </p:sp>
      <p:sp>
        <p:nvSpPr>
          <p:cNvPr id="84" name="主标题为方正兰亭 , 最大30pt"/>
          <p:cNvSpPr txBox="1"/>
          <p:nvPr/>
        </p:nvSpPr>
        <p:spPr>
          <a:xfrm>
            <a:off x="1123472" y="195099"/>
            <a:ext cx="38862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defTabSz="203200"/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3.2.3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质量策略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|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测试执行策略偏差分析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5" name="文本框 4"/>
          <p:cNvSpPr txBox="1"/>
          <p:nvPr/>
        </p:nvSpPr>
        <p:spPr>
          <a:xfrm>
            <a:off x="8680100" y="42699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软件测试代表：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86" name="折角形 85"/>
          <p:cNvSpPr/>
          <p:nvPr/>
        </p:nvSpPr>
        <p:spPr>
          <a:xfrm>
            <a:off x="7822512" y="372273"/>
            <a:ext cx="4172286" cy="558051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根据立项报告中制定的测试执行策略，确认各项达成情况，未达成的进度计划用红色圆点标识，并对未达成的节点进行复盘分析</a:t>
            </a:r>
            <a:endParaRPr lang="zh-CN" sz="1050"/>
          </a:p>
        </p:txBody>
      </p:sp>
      <p:grpSp>
        <p:nvGrpSpPr>
          <p:cNvPr id="87" name="Group 158"/>
          <p:cNvGrpSpPr/>
          <p:nvPr/>
        </p:nvGrpSpPr>
        <p:grpSpPr>
          <a:xfrm>
            <a:off x="697974" y="930244"/>
            <a:ext cx="11025589" cy="1243366"/>
            <a:chOff x="368110" y="4801312"/>
            <a:chExt cx="11025589" cy="1243368"/>
          </a:xfrm>
        </p:grpSpPr>
        <p:cxnSp>
          <p:nvCxnSpPr>
            <p:cNvPr id="88" name="直接箭头连接符 39"/>
            <p:cNvCxnSpPr/>
            <p:nvPr/>
          </p:nvCxnSpPr>
          <p:spPr>
            <a:xfrm>
              <a:off x="368110" y="5179493"/>
              <a:ext cx="11025589" cy="0"/>
            </a:xfrm>
            <a:prstGeom prst="straightConnector1">
              <a:avLst/>
            </a:prstGeom>
            <a:noFill/>
            <a:ln w="6350">
              <a:solidFill>
                <a:schemeClr val="accent1"/>
              </a:solidFill>
              <a:miter/>
              <a:tailEnd type="triangle" w="med" len="med"/>
            </a:ln>
          </p:spPr>
        </p:cxnSp>
        <p:sp>
          <p:nvSpPr>
            <p:cNvPr id="89" name="文本框 6"/>
            <p:cNvSpPr txBox="1">
              <a:spLocks noChangeArrowheads="1"/>
            </p:cNvSpPr>
            <p:nvPr/>
          </p:nvSpPr>
          <p:spPr>
            <a:xfrm>
              <a:off x="1544083" y="4827068"/>
              <a:ext cx="692150" cy="25654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/>
            <a:lstStyle/>
            <a:p>
              <a:pPr lvl="0" algn="ctr"/>
              <a:r>
                <a:rPr lang="en-US" sz="900" b="1">
                  <a:latin typeface="微软雅黑" panose="020B0503020204020204" charset="-122"/>
                  <a:ea typeface="微软雅黑" panose="020B0503020204020204" charset="-122"/>
                </a:rPr>
                <a:t>8/24</a:t>
              </a:r>
              <a:endParaRPr lang="en-US" sz="9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0" name="文本框 7"/>
            <p:cNvSpPr txBox="1">
              <a:spLocks noChangeArrowheads="1"/>
            </p:cNvSpPr>
            <p:nvPr/>
          </p:nvSpPr>
          <p:spPr>
            <a:xfrm>
              <a:off x="1470688" y="5306489"/>
              <a:ext cx="857250" cy="2921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摸底测试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" name="文本框 9"/>
            <p:cNvSpPr txBox="1">
              <a:spLocks noChangeArrowheads="1"/>
            </p:cNvSpPr>
            <p:nvPr/>
          </p:nvSpPr>
          <p:spPr>
            <a:xfrm>
              <a:off x="3397815" y="4812781"/>
              <a:ext cx="622300" cy="25654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/>
            <a:lstStyle/>
            <a:p>
              <a:pPr lvl="0" algn="ctr"/>
              <a:r>
                <a:rPr lang="en-US" sz="900" b="1">
                  <a:latin typeface="微软雅黑" panose="020B0503020204020204" charset="-122"/>
                  <a:ea typeface="微软雅黑" panose="020B0503020204020204" charset="-122"/>
                </a:rPr>
                <a:t>9/7</a:t>
              </a:r>
              <a:endParaRPr lang="en-US" sz="9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2" name="文本框 9"/>
            <p:cNvSpPr txBox="1">
              <a:spLocks noChangeArrowheads="1"/>
            </p:cNvSpPr>
            <p:nvPr/>
          </p:nvSpPr>
          <p:spPr>
            <a:xfrm>
              <a:off x="8962959" y="4801392"/>
              <a:ext cx="70485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 anchor="b"/>
            <a:lstStyle/>
            <a:p>
              <a:pPr lvl="0" algn="ctr"/>
              <a:r>
                <a:rPr lang="en-US" sz="900" b="1">
                  <a:latin typeface="微软雅黑" panose="020B0503020204020204" charset="-122"/>
                  <a:ea typeface="微软雅黑" panose="020B0503020204020204" charset="-122"/>
                </a:rPr>
                <a:t>12/9</a:t>
              </a:r>
              <a:endParaRPr lang="en-US" sz="9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文本框 13"/>
            <p:cNvSpPr txBox="1">
              <a:spLocks noChangeArrowheads="1"/>
            </p:cNvSpPr>
            <p:nvPr/>
          </p:nvSpPr>
          <p:spPr>
            <a:xfrm>
              <a:off x="8856722" y="5360404"/>
              <a:ext cx="1027724" cy="272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SQA释放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椭圆 53"/>
            <p:cNvSpPr>
              <a:spLocks noChangeArrowheads="1"/>
            </p:cNvSpPr>
            <p:nvPr/>
          </p:nvSpPr>
          <p:spPr>
            <a:xfrm>
              <a:off x="9284382" y="5119038"/>
              <a:ext cx="144462" cy="144463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5" name="文本框 9"/>
            <p:cNvSpPr txBox="1">
              <a:spLocks noChangeArrowheads="1"/>
            </p:cNvSpPr>
            <p:nvPr/>
          </p:nvSpPr>
          <p:spPr>
            <a:xfrm>
              <a:off x="4324830" y="4840743"/>
              <a:ext cx="673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/>
            <a:lstStyle/>
            <a:p>
              <a:pPr lvl="0" algn="ctr"/>
              <a:r>
                <a:rPr lang="en-US" sz="900" b="1">
                  <a:latin typeface="微软雅黑" panose="020B0503020204020204" charset="-122"/>
                  <a:ea typeface="微软雅黑" panose="020B0503020204020204" charset="-122"/>
                </a:rPr>
                <a:t>9/20</a:t>
              </a:r>
              <a:endParaRPr lang="en-US" sz="9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6" name="文本框 13"/>
            <p:cNvSpPr txBox="1">
              <a:spLocks noChangeArrowheads="1"/>
            </p:cNvSpPr>
            <p:nvPr/>
          </p:nvSpPr>
          <p:spPr>
            <a:xfrm>
              <a:off x="4149222" y="5356998"/>
              <a:ext cx="1054100" cy="488951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全功能开始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专项测试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7" name="椭圆 60"/>
            <p:cNvSpPr>
              <a:spLocks noChangeArrowheads="1"/>
            </p:cNvSpPr>
            <p:nvPr/>
          </p:nvSpPr>
          <p:spPr>
            <a:xfrm>
              <a:off x="4595238" y="5117450"/>
              <a:ext cx="144462" cy="14446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文本框 9"/>
            <p:cNvSpPr txBox="1">
              <a:spLocks noChangeArrowheads="1"/>
            </p:cNvSpPr>
            <p:nvPr/>
          </p:nvSpPr>
          <p:spPr>
            <a:xfrm>
              <a:off x="5273330" y="4831570"/>
              <a:ext cx="622300" cy="26035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/>
            <a:lstStyle/>
            <a:p>
              <a:pPr lvl="0" algn="ctr"/>
              <a:r>
                <a:rPr lang="en-US" sz="900" b="1">
                  <a:latin typeface="微软雅黑" panose="020B0503020204020204" charset="-122"/>
                  <a:ea typeface="微软雅黑" panose="020B0503020204020204" charset="-122"/>
                </a:rPr>
                <a:t>10/29</a:t>
              </a:r>
              <a:endParaRPr lang="en-US" sz="9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9" name="文本框 13"/>
            <p:cNvSpPr txBox="1">
              <a:spLocks noChangeArrowheads="1"/>
            </p:cNvSpPr>
            <p:nvPr/>
          </p:nvSpPr>
          <p:spPr>
            <a:xfrm>
              <a:off x="5118026" y="5353135"/>
              <a:ext cx="990600" cy="292101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全功能结束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椭圆 63"/>
            <p:cNvSpPr>
              <a:spLocks noChangeArrowheads="1"/>
            </p:cNvSpPr>
            <p:nvPr/>
          </p:nvSpPr>
          <p:spPr>
            <a:xfrm>
              <a:off x="5530114" y="5114145"/>
              <a:ext cx="144462" cy="144462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1" name="文本框 9"/>
            <p:cNvSpPr txBox="1">
              <a:spLocks noChangeArrowheads="1"/>
            </p:cNvSpPr>
            <p:nvPr/>
          </p:nvSpPr>
          <p:spPr>
            <a:xfrm>
              <a:off x="8079688" y="4826270"/>
              <a:ext cx="730250" cy="26035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/>
            <a:lstStyle/>
            <a:p>
              <a:pPr lvl="0" algn="ctr"/>
              <a:r>
                <a:rPr lang="en-US" sz="900" b="1">
                  <a:latin typeface="微软雅黑" panose="020B0503020204020204" charset="-122"/>
                  <a:ea typeface="微软雅黑" panose="020B0503020204020204" charset="-122"/>
                </a:rPr>
                <a:t>11/20</a:t>
              </a:r>
              <a:endParaRPr lang="en-US" sz="9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文本框 13"/>
            <p:cNvSpPr txBox="1">
              <a:spLocks noChangeArrowheads="1"/>
            </p:cNvSpPr>
            <p:nvPr/>
          </p:nvSpPr>
          <p:spPr>
            <a:xfrm>
              <a:off x="8002154" y="5361419"/>
              <a:ext cx="1027724" cy="6832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验收测试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专项验收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公测</a:t>
              </a:r>
              <a:endParaRPr lang="zh-CN" sz="8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椭圆 66"/>
            <p:cNvSpPr>
              <a:spLocks noChangeArrowheads="1"/>
            </p:cNvSpPr>
            <p:nvPr/>
          </p:nvSpPr>
          <p:spPr>
            <a:xfrm>
              <a:off x="8399900" y="5114276"/>
              <a:ext cx="144463" cy="1428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文本框 9"/>
            <p:cNvSpPr txBox="1">
              <a:spLocks noChangeArrowheads="1"/>
            </p:cNvSpPr>
            <p:nvPr/>
          </p:nvSpPr>
          <p:spPr>
            <a:xfrm>
              <a:off x="9721836" y="4801312"/>
              <a:ext cx="701919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 anchor="b"/>
            <a:lstStyle/>
            <a:p>
              <a:pPr lvl="0" algn="ctr"/>
              <a:r>
                <a:rPr lang="en-US" sz="900" b="1">
                  <a:latin typeface="微软雅黑" panose="020B0503020204020204" charset="-122"/>
                  <a:ea typeface="微软雅黑" panose="020B0503020204020204" charset="-122"/>
                </a:rPr>
                <a:t>12/15</a:t>
              </a:r>
              <a:endParaRPr lang="en-US" sz="9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文本框 13"/>
            <p:cNvSpPr txBox="1">
              <a:spLocks noChangeArrowheads="1"/>
            </p:cNvSpPr>
            <p:nvPr/>
          </p:nvSpPr>
          <p:spPr>
            <a:xfrm>
              <a:off x="9583075" y="5360405"/>
              <a:ext cx="1149350" cy="4889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</a:rPr>
                <a:t>C11G Leading</a:t>
              </a:r>
              <a:endParaRPr lang="en-US" sz="8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en-US" sz="800" b="1">
                  <a:latin typeface="微软雅黑" panose="020B0503020204020204" charset="-122"/>
                  <a:ea typeface="微软雅黑" panose="020B0503020204020204" charset="-122"/>
                </a:rPr>
                <a:t>FQA </a:t>
              </a:r>
              <a:r>
                <a:rPr lang="zh-CN" sz="800" b="1">
                  <a:latin typeface="微软雅黑" panose="020B0503020204020204" charset="-122"/>
                  <a:ea typeface="微软雅黑" panose="020B0503020204020204" charset="-122"/>
                </a:rPr>
                <a:t>释放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椭圆 3"/>
            <p:cNvSpPr>
              <a:spLocks noChangeArrowheads="1"/>
            </p:cNvSpPr>
            <p:nvPr/>
          </p:nvSpPr>
          <p:spPr>
            <a:xfrm>
              <a:off x="10032338" y="5117581"/>
              <a:ext cx="169985" cy="1446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7" name="文本框 7"/>
          <p:cNvSpPr txBox="1">
            <a:spLocks noChangeArrowheads="1"/>
          </p:cNvSpPr>
          <p:nvPr/>
        </p:nvSpPr>
        <p:spPr>
          <a:xfrm>
            <a:off x="3642450" y="1424085"/>
            <a:ext cx="857250" cy="292100"/>
          </a:xfrm>
          <a:prstGeom prst="rect">
            <a:avLst/>
          </a:prstGeom>
          <a:noFill/>
          <a:ln>
            <a:noFill/>
          </a:ln>
        </p:spPr>
        <p:txBody>
          <a:bodyPr wrap="square" lIns="91373" tIns="45685" rIns="91373" bIns="45685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algn="ctr">
              <a:lnSpc>
                <a:spcPct val="130000"/>
              </a:lnSpc>
            </a:pPr>
            <a:r>
              <a:rPr lang="zh-CN" sz="1000" b="1">
                <a:latin typeface="微软雅黑" panose="020B0503020204020204" charset="-122"/>
                <a:ea typeface="微软雅黑" panose="020B0503020204020204" charset="-122"/>
              </a:rPr>
              <a:t>模块测试</a:t>
            </a:r>
            <a:endParaRPr lang="zh-CN" sz="1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6"/>
          <p:cNvSpPr txBox="1">
            <a:spLocks noChangeArrowheads="1"/>
          </p:cNvSpPr>
          <p:nvPr/>
        </p:nvSpPr>
        <p:spPr>
          <a:xfrm>
            <a:off x="2791934" y="951652"/>
            <a:ext cx="692150" cy="260350"/>
          </a:xfrm>
          <a:prstGeom prst="rect">
            <a:avLst/>
          </a:prstGeom>
          <a:noFill/>
          <a:ln>
            <a:noFill/>
          </a:ln>
        </p:spPr>
        <p:txBody>
          <a:bodyPr lIns="91373" tIns="45685" rIns="91373" bIns="45685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algn="ctr"/>
            <a:r>
              <a:rPr lang="en-US" sz="1100" b="1">
                <a:latin typeface="微软雅黑" panose="020B0503020204020204" charset="-122"/>
                <a:ea typeface="微软雅黑" panose="020B0503020204020204" charset="-122"/>
              </a:rPr>
              <a:t>9/5</a:t>
            </a:r>
            <a:endParaRPr lang="en-US" sz="11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7"/>
          <p:cNvSpPr txBox="1">
            <a:spLocks noChangeArrowheads="1"/>
          </p:cNvSpPr>
          <p:nvPr/>
        </p:nvSpPr>
        <p:spPr>
          <a:xfrm>
            <a:off x="2767705" y="1400560"/>
            <a:ext cx="857250" cy="488950"/>
          </a:xfrm>
          <a:prstGeom prst="rect">
            <a:avLst/>
          </a:prstGeom>
          <a:noFill/>
          <a:ln>
            <a:noFill/>
          </a:ln>
        </p:spPr>
        <p:txBody>
          <a:bodyPr wrap="square" lIns="91373" tIns="45685" rIns="91373" bIns="45685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algn="ctr">
              <a:lnSpc>
                <a:spcPct val="130000"/>
              </a:lnSpc>
            </a:pPr>
            <a:r>
              <a:rPr lang="zh-CN" sz="1000" b="1">
                <a:latin typeface="微软雅黑" panose="020B0503020204020204" charset="-122"/>
                <a:ea typeface="微软雅黑" panose="020B0503020204020204" charset="-122"/>
              </a:rPr>
              <a:t>测试计划</a:t>
            </a:r>
            <a:r>
              <a:rPr lang="en-US" sz="1000" b="1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sz="1000" b="1">
                <a:latin typeface="微软雅黑" panose="020B0503020204020204" charset="-122"/>
                <a:ea typeface="微软雅黑" panose="020B0503020204020204" charset="-122"/>
              </a:rPr>
              <a:t>测试方案</a:t>
            </a:r>
            <a:endParaRPr lang="zh-CN" sz="1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椭圆 60"/>
          <p:cNvSpPr>
            <a:spLocks noChangeArrowheads="1"/>
          </p:cNvSpPr>
          <p:nvPr/>
        </p:nvSpPr>
        <p:spPr>
          <a:xfrm>
            <a:off x="6701434" y="1234073"/>
            <a:ext cx="144462" cy="144462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9"/>
          <p:cNvSpPr txBox="1">
            <a:spLocks noChangeArrowheads="1"/>
          </p:cNvSpPr>
          <p:nvPr/>
        </p:nvSpPr>
        <p:spPr>
          <a:xfrm>
            <a:off x="6408540" y="941713"/>
            <a:ext cx="730250" cy="260350"/>
          </a:xfrm>
          <a:prstGeom prst="rect">
            <a:avLst/>
          </a:prstGeom>
          <a:noFill/>
          <a:ln>
            <a:noFill/>
          </a:ln>
        </p:spPr>
        <p:txBody>
          <a:bodyPr lIns="91373" tIns="45685" rIns="91373" bIns="45685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algn="ctr"/>
            <a:r>
              <a:rPr lang="en-US" sz="1100" b="1">
                <a:latin typeface="微软雅黑" panose="020B0503020204020204" charset="-122"/>
                <a:ea typeface="微软雅黑" panose="020B0503020204020204" charset="-122"/>
              </a:rPr>
              <a:t>10/30</a:t>
            </a:r>
            <a:endParaRPr lang="en-US" sz="11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3"/>
          <p:cNvSpPr txBox="1">
            <a:spLocks noChangeArrowheads="1"/>
          </p:cNvSpPr>
          <p:nvPr/>
        </p:nvSpPr>
        <p:spPr>
          <a:xfrm>
            <a:off x="6257740" y="1467140"/>
            <a:ext cx="1122123" cy="482600"/>
          </a:xfrm>
          <a:prstGeom prst="rect">
            <a:avLst/>
          </a:prstGeom>
          <a:noFill/>
          <a:ln>
            <a:noFill/>
          </a:ln>
        </p:spPr>
        <p:txBody>
          <a:bodyPr lIns="91373" tIns="45685" rIns="91373" bIns="45685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algn="ctr">
              <a:lnSpc>
                <a:spcPct val="130000"/>
              </a:lnSpc>
            </a:pPr>
            <a:r>
              <a:rPr lang="zh-CN" sz="1000" b="1">
                <a:latin typeface="微软雅黑" panose="020B0503020204020204" charset="-122"/>
                <a:ea typeface="微软雅黑" panose="020B0503020204020204" charset="-122"/>
              </a:rPr>
              <a:t>用户体验测试</a:t>
            </a:r>
            <a:endParaRPr lang="zh-CN" sz="10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>
              <a:lnSpc>
                <a:spcPct val="130000"/>
              </a:lnSpc>
            </a:pPr>
            <a:r>
              <a:rPr lang="zh-CN" sz="1000" b="1">
                <a:latin typeface="微软雅黑" panose="020B0503020204020204" charset="-122"/>
                <a:ea typeface="微软雅黑" panose="020B0503020204020204" charset="-122"/>
              </a:rPr>
              <a:t>第二轮专项测试</a:t>
            </a:r>
            <a:endParaRPr lang="zh-CN" sz="1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椭圆 60"/>
          <p:cNvSpPr>
            <a:spLocks noChangeArrowheads="1"/>
          </p:cNvSpPr>
          <p:nvPr/>
        </p:nvSpPr>
        <p:spPr>
          <a:xfrm>
            <a:off x="3066572" y="1224285"/>
            <a:ext cx="144462" cy="142875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椭圆 60"/>
          <p:cNvSpPr>
            <a:spLocks noChangeArrowheads="1"/>
          </p:cNvSpPr>
          <p:nvPr/>
        </p:nvSpPr>
        <p:spPr>
          <a:xfrm>
            <a:off x="3981349" y="1224285"/>
            <a:ext cx="144462" cy="144462"/>
          </a:xfrm>
          <a:prstGeom prst="ellipse">
            <a:avLst/>
          </a:prstGeom>
          <a:solidFill>
            <a:srgbClr val="00B0F0">
              <a:alpha val="100000"/>
            </a:srgbClr>
          </a:solidFill>
          <a:ln w="12700">
            <a:solidFill>
              <a:srgbClr val="00B0F0">
                <a:alpha val="100000"/>
              </a:srgbClr>
            </a:solidFill>
            <a:prstDash val="solid"/>
          </a:ln>
        </p:spPr>
        <p:txBody>
          <a:bodyPr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椭圆 60"/>
          <p:cNvSpPr>
            <a:spLocks noChangeArrowheads="1"/>
          </p:cNvSpPr>
          <p:nvPr/>
        </p:nvSpPr>
        <p:spPr>
          <a:xfrm>
            <a:off x="2180037" y="1202060"/>
            <a:ext cx="144462" cy="1428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/>
            <a:endParaRPr 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7"/>
          <p:cNvSpPr txBox="1">
            <a:spLocks noChangeArrowheads="1"/>
          </p:cNvSpPr>
          <p:nvPr/>
        </p:nvSpPr>
        <p:spPr>
          <a:xfrm>
            <a:off x="4562620" y="649613"/>
            <a:ext cx="857250" cy="292100"/>
          </a:xfrm>
          <a:prstGeom prst="rect">
            <a:avLst/>
          </a:prstGeom>
          <a:ln>
            <a:noFill/>
          </a:ln>
        </p:spPr>
        <p:txBody>
          <a:bodyPr vert="horz" wrap="square" lIns="91373" tIns="45685" rIns="91373" bIns="45685" anchor="b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lvl="0" indent="0" algn="ctr" defTabSz="25400">
              <a:lnSpc>
                <a:spcPct val="100000"/>
              </a:lnSpc>
              <a:buNone/>
            </a:pPr>
            <a:r>
              <a:rPr lang="en-US" sz="1100" b="1" i="0" strike="noStrike" spc="0">
                <a:solidFill>
                  <a:srgbClr val="ED41FD"/>
                </a:solidFill>
                <a:latin typeface="微软雅黑" panose="020B0503020204020204" charset="-122"/>
                <a:ea typeface="微软雅黑" panose="020B0503020204020204" charset="-122"/>
              </a:rPr>
              <a:t>SR4-1</a:t>
            </a:r>
            <a:endParaRPr lang="en-US" sz="1100" b="1" i="0" strike="noStrike" spc="0">
              <a:solidFill>
                <a:srgbClr val="ED4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文本框 7"/>
          <p:cNvSpPr txBox="1">
            <a:spLocks noChangeArrowheads="1"/>
          </p:cNvSpPr>
          <p:nvPr/>
        </p:nvSpPr>
        <p:spPr>
          <a:xfrm>
            <a:off x="5452114" y="649613"/>
            <a:ext cx="857250" cy="292100"/>
          </a:xfrm>
          <a:prstGeom prst="rect">
            <a:avLst/>
          </a:prstGeom>
          <a:ln>
            <a:noFill/>
          </a:ln>
        </p:spPr>
        <p:txBody>
          <a:bodyPr vert="horz" wrap="square" lIns="91373" tIns="45685" rIns="91373" bIns="45685" anchor="b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lvl="0" indent="0" algn="ctr" defTabSz="12700">
              <a:lnSpc>
                <a:spcPct val="100000"/>
              </a:lnSpc>
              <a:buNone/>
            </a:pPr>
            <a:r>
              <a:rPr lang="en-US" sz="1100" b="1" i="0" strike="noStrike" spc="0">
                <a:solidFill>
                  <a:srgbClr val="ED41FD"/>
                </a:solidFill>
                <a:latin typeface="微软雅黑" panose="020B0503020204020204" charset="-122"/>
                <a:ea typeface="微软雅黑" panose="020B0503020204020204" charset="-122"/>
              </a:rPr>
              <a:t>SR4-2</a:t>
            </a:r>
            <a:endParaRPr lang="en-US" sz="1100" b="1" i="0" strike="noStrike" spc="0">
              <a:solidFill>
                <a:srgbClr val="ED4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9"/>
          <p:cNvSpPr txBox="1">
            <a:spLocks noChangeArrowheads="1"/>
          </p:cNvSpPr>
          <p:nvPr/>
        </p:nvSpPr>
        <p:spPr>
          <a:xfrm>
            <a:off x="10051701" y="676244"/>
            <a:ext cx="704850" cy="254000"/>
          </a:xfrm>
          <a:prstGeom prst="rect">
            <a:avLst/>
          </a:prstGeom>
          <a:ln>
            <a:noFill/>
          </a:ln>
        </p:spPr>
        <p:txBody>
          <a:bodyPr vert="horz" wrap="square" lIns="91373" tIns="45685" rIns="91373" bIns="45685" anchor="b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lvl="0" indent="0" algn="ctr">
              <a:lnSpc>
                <a:spcPct val="100000"/>
              </a:lnSpc>
              <a:buNone/>
            </a:pPr>
            <a:r>
              <a:rPr lang="en-US" sz="1100" b="1" i="0" strike="noStrike" spc="0">
                <a:solidFill>
                  <a:srgbClr val="ED41FD"/>
                </a:solidFill>
                <a:latin typeface="微软雅黑" panose="020B0503020204020204" charset="-122"/>
                <a:ea typeface="微软雅黑" panose="020B0503020204020204" charset="-122"/>
              </a:rPr>
              <a:t>SR5</a:t>
            </a:r>
            <a:endParaRPr lang="en-US" sz="1100" b="1" i="0" strike="noStrike" spc="0">
              <a:solidFill>
                <a:srgbClr val="ED4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椭圆 60"/>
          <p:cNvSpPr>
            <a:spLocks noChangeArrowheads="1"/>
          </p:cNvSpPr>
          <p:nvPr/>
        </p:nvSpPr>
        <p:spPr>
          <a:xfrm>
            <a:off x="7750281" y="1241620"/>
            <a:ext cx="144462" cy="14446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C000">
                <a:alpha val="100000"/>
              </a:srgbClr>
            </a:solidFill>
            <a:prstDash val="solid"/>
          </a:ln>
        </p:spPr>
        <p:txBody>
          <a:bodyPr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文本框 13"/>
          <p:cNvSpPr txBox="1">
            <a:spLocks noChangeArrowheads="1"/>
          </p:cNvSpPr>
          <p:nvPr/>
        </p:nvSpPr>
        <p:spPr>
          <a:xfrm>
            <a:off x="7287430" y="1448440"/>
            <a:ext cx="1123950" cy="292100"/>
          </a:xfrm>
          <a:prstGeom prst="rect">
            <a:avLst/>
          </a:prstGeom>
          <a:noFill/>
          <a:ln>
            <a:noFill/>
          </a:ln>
        </p:spPr>
        <p:txBody>
          <a:bodyPr lIns="91373" tIns="45685" rIns="91373" bIns="45685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algn="ctr">
              <a:lnSpc>
                <a:spcPct val="130000"/>
              </a:lnSpc>
            </a:pPr>
            <a:r>
              <a:rPr lang="zh-CN" sz="1000" b="1">
                <a:latin typeface="微软雅黑" panose="020B0503020204020204" charset="-122"/>
                <a:ea typeface="微软雅黑" panose="020B0503020204020204" charset="-122"/>
              </a:rPr>
              <a:t>场测</a:t>
            </a:r>
            <a:endParaRPr lang="zh-CN" sz="1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9"/>
          <p:cNvSpPr txBox="1">
            <a:spLocks noChangeArrowheads="1"/>
          </p:cNvSpPr>
          <p:nvPr/>
        </p:nvSpPr>
        <p:spPr>
          <a:xfrm>
            <a:off x="7457387" y="941713"/>
            <a:ext cx="730250" cy="260350"/>
          </a:xfrm>
          <a:prstGeom prst="rect">
            <a:avLst/>
          </a:prstGeom>
          <a:noFill/>
          <a:ln>
            <a:noFill/>
          </a:ln>
        </p:spPr>
        <p:txBody>
          <a:bodyPr lIns="91373" tIns="45685" rIns="91373" bIns="45685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algn="ctr"/>
            <a:r>
              <a:rPr lang="en-US" sz="1100" b="1">
                <a:latin typeface="微软雅黑" panose="020B0503020204020204" charset="-122"/>
                <a:ea typeface="微软雅黑" panose="020B0503020204020204" charset="-122"/>
              </a:rPr>
              <a:t>11/15</a:t>
            </a:r>
            <a:endParaRPr lang="en-US" sz="11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9"/>
          <p:cNvSpPr txBox="1">
            <a:spLocks noChangeArrowheads="1"/>
          </p:cNvSpPr>
          <p:nvPr/>
        </p:nvSpPr>
        <p:spPr>
          <a:xfrm>
            <a:off x="8409553" y="676244"/>
            <a:ext cx="704850" cy="254000"/>
          </a:xfrm>
          <a:prstGeom prst="rect">
            <a:avLst/>
          </a:prstGeom>
          <a:ln>
            <a:noFill/>
          </a:ln>
        </p:spPr>
        <p:txBody>
          <a:bodyPr vert="horz" wrap="square" lIns="91373" tIns="45685" rIns="91373" bIns="45685" anchor="b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lvl="0" indent="0" algn="ctr" defTabSz="0">
              <a:lnSpc>
                <a:spcPct val="100000"/>
              </a:lnSpc>
              <a:buNone/>
            </a:pPr>
            <a:r>
              <a:rPr lang="en-US" sz="1100" b="1" i="0" strike="noStrike" spc="0">
                <a:solidFill>
                  <a:srgbClr val="ED41FD"/>
                </a:solidFill>
                <a:latin typeface="微软雅黑" panose="020B0503020204020204" charset="-122"/>
                <a:ea typeface="微软雅黑" panose="020B0503020204020204" charset="-122"/>
              </a:rPr>
              <a:t>SR4A</a:t>
            </a:r>
            <a:endParaRPr lang="en-US" sz="1100" b="1" i="0" strike="noStrike" spc="0">
              <a:solidFill>
                <a:srgbClr val="ED4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文本框 7"/>
          <p:cNvSpPr txBox="1">
            <a:spLocks noChangeArrowheads="1"/>
          </p:cNvSpPr>
          <p:nvPr/>
        </p:nvSpPr>
        <p:spPr>
          <a:xfrm>
            <a:off x="1800552" y="677575"/>
            <a:ext cx="857250" cy="292100"/>
          </a:xfrm>
          <a:prstGeom prst="rect">
            <a:avLst/>
          </a:prstGeom>
          <a:ln>
            <a:noFill/>
          </a:ln>
        </p:spPr>
        <p:txBody>
          <a:bodyPr vert="horz" wrap="square" lIns="91373" tIns="45685" rIns="91373" bIns="45685" anchor="b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lvl="0" indent="0" algn="ctr" defTabSz="50800">
              <a:lnSpc>
                <a:spcPct val="100000"/>
              </a:lnSpc>
              <a:buNone/>
            </a:pPr>
            <a:r>
              <a:rPr lang="en-US" sz="1100" b="1" i="0" strike="noStrike" spc="0">
                <a:solidFill>
                  <a:srgbClr val="ED41FD"/>
                </a:solidFill>
                <a:latin typeface="微软雅黑" panose="020B0503020204020204" charset="-122"/>
                <a:ea typeface="微软雅黑" panose="020B0503020204020204" charset="-122"/>
              </a:rPr>
              <a:t>SR3</a:t>
            </a:r>
            <a:endParaRPr lang="en-US" sz="1100" b="1" i="0" strike="noStrike" spc="0">
              <a:solidFill>
                <a:srgbClr val="ED41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4" name="表格 3"/>
          <p:cNvGraphicFramePr/>
          <p:nvPr/>
        </p:nvGraphicFramePr>
        <p:xfrm>
          <a:off x="584200" y="2332230"/>
          <a:ext cx="11019342" cy="358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6096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08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椭圆 40"/>
          <p:cNvSpPr>
            <a:spLocks noChangeArrowheads="1"/>
          </p:cNvSpPr>
          <p:nvPr/>
        </p:nvSpPr>
        <p:spPr>
          <a:xfrm>
            <a:off x="10918132" y="2001414"/>
            <a:ext cx="149422" cy="142873"/>
          </a:xfrm>
          <a:prstGeom prst="ellipse">
            <a:avLst/>
          </a:prstGeom>
          <a:solidFill>
            <a:srgbClr val="FFC000">
              <a:alpha val="100000"/>
            </a:srgbClr>
          </a:solidFill>
          <a:ln w="9525">
            <a:solidFill>
              <a:srgbClr val="FFC000">
                <a:alpha val="100000"/>
              </a:srgbClr>
            </a:solidFill>
          </a:ln>
        </p:spPr>
        <p:txBody>
          <a:bodyPr/>
          <a:lstStyle>
            <a:lvl1pPr lvl="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lvl="1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lvl="2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lvl="3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lvl="4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lvl="5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lvl="6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lvl="7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lvl="8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TextBox 136"/>
          <p:cNvSpPr txBox="1"/>
          <p:nvPr/>
        </p:nvSpPr>
        <p:spPr>
          <a:xfrm>
            <a:off x="11038463" y="1949740"/>
            <a:ext cx="9398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进度延误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节点</a:t>
            </a:r>
            <a:endParaRPr lang="en-US" sz="10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7" name="椭圆 40"/>
          <p:cNvSpPr>
            <a:spLocks noChangeArrowheads="1"/>
          </p:cNvSpPr>
          <p:nvPr/>
        </p:nvSpPr>
        <p:spPr>
          <a:xfrm>
            <a:off x="9139802" y="2002151"/>
            <a:ext cx="149422" cy="14287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/>
          <a:lstStyle>
            <a:lvl1pPr lvl="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lvl="1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lvl="2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lvl="3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lvl="4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lvl="5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lvl="6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lvl="7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lvl="8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TextBox 140"/>
          <p:cNvSpPr txBox="1"/>
          <p:nvPr/>
        </p:nvSpPr>
        <p:spPr>
          <a:xfrm>
            <a:off x="9244868" y="1943070"/>
            <a:ext cx="721576" cy="246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r>
              <a:rPr lang="en-US" sz="1000" dirty="0" err="1" smtClean="0">
                <a:latin typeface="微软雅黑" panose="020B0503020204020204" charset="-122"/>
                <a:ea typeface="微软雅黑" panose="020B0503020204020204" charset="-122"/>
              </a:rPr>
              <a:t>节点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椭圆 40"/>
          <p:cNvSpPr>
            <a:spLocks noChangeArrowheads="1"/>
          </p:cNvSpPr>
          <p:nvPr/>
        </p:nvSpPr>
        <p:spPr>
          <a:xfrm>
            <a:off x="10091229" y="2014046"/>
            <a:ext cx="149422" cy="142873"/>
          </a:xfrm>
          <a:prstGeom prst="ellipse">
            <a:avLst/>
          </a:prstGeom>
          <a:solidFill>
            <a:srgbClr val="00B0F0">
              <a:alpha val="100000"/>
            </a:srgbClr>
          </a:solidFill>
          <a:ln w="9525">
            <a:solidFill>
              <a:srgbClr val="00B0F0">
                <a:alpha val="100000"/>
              </a:srgbClr>
            </a:solidFill>
          </a:ln>
        </p:spPr>
        <p:txBody>
          <a:bodyPr/>
          <a:lstStyle>
            <a:lvl1pPr lvl="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lvl="1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lvl="2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lvl="3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lvl="4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lvl="5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lvl="6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lvl="7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lvl="8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TextBox 136"/>
          <p:cNvSpPr txBox="1"/>
          <p:nvPr/>
        </p:nvSpPr>
        <p:spPr>
          <a:xfrm>
            <a:off x="10211560" y="1962372"/>
            <a:ext cx="6858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测试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节点</a:t>
            </a:r>
            <a:endParaRPr lang="en-US" sz="10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幻灯片编号占位符 1"/>
          <p:cNvSpPr>
            <a:spLocks noGrp="1"/>
          </p:cNvSpPr>
          <p:nvPr>
            <p:ph type="sldNum" idx="12"/>
          </p:nvPr>
        </p:nvSpPr>
        <p:spPr>
          <a:xfrm>
            <a:off x="89422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60C48-B7BF-4D78-85C1-6C254956211B}" type="slidenum">
              <a:rPr/>
            </a:fld>
            <a:endParaRPr lang="zh-CN"/>
          </a:p>
        </p:txBody>
      </p:sp>
      <p:sp>
        <p:nvSpPr>
          <p:cNvPr id="133" name="主标题为方正兰亭 , 最大30pt"/>
          <p:cNvSpPr txBox="1"/>
          <p:nvPr/>
        </p:nvSpPr>
        <p:spPr>
          <a:xfrm>
            <a:off x="1123472" y="195099"/>
            <a:ext cx="38862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lvl="0" defTabSz="203200"/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3.2.3 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质量策略</a:t>
            </a: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| Beta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测试偏差分析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4" name="文本框 4"/>
          <p:cNvSpPr txBox="1"/>
          <p:nvPr/>
        </p:nvSpPr>
        <p:spPr>
          <a:xfrm>
            <a:off x="8680100" y="42699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软件测试代表：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135" name="折角形 134"/>
          <p:cNvSpPr/>
          <p:nvPr/>
        </p:nvSpPr>
        <p:spPr>
          <a:xfrm>
            <a:off x="8680100" y="372273"/>
            <a:ext cx="3314697" cy="365125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/>
              <a:t>Beta</a:t>
            </a:r>
            <a:r>
              <a:rPr lang="zh-CN" sz="1050"/>
              <a:t>测试专项复盘（可以包含场测</a:t>
            </a:r>
            <a:r>
              <a:rPr lang="en-US" sz="1050"/>
              <a:t>/</a:t>
            </a:r>
            <a:r>
              <a:rPr lang="zh-CN" sz="1050"/>
              <a:t>大</a:t>
            </a:r>
            <a:r>
              <a:rPr lang="en-US" sz="1050"/>
              <a:t>V</a:t>
            </a:r>
            <a:r>
              <a:rPr lang="zh-CN" sz="1050"/>
              <a:t>评测</a:t>
            </a:r>
            <a:r>
              <a:rPr lang="en-US" sz="1050"/>
              <a:t>/DF</a:t>
            </a:r>
            <a:r>
              <a:rPr lang="zh-CN" sz="1050"/>
              <a:t>测试等）</a:t>
            </a:r>
            <a:endParaRPr lang="zh-CN" sz="1050"/>
          </a:p>
        </p:txBody>
      </p:sp>
      <p:graphicFrame>
        <p:nvGraphicFramePr>
          <p:cNvPr id="136" name="表格 3"/>
          <p:cNvGraphicFramePr/>
          <p:nvPr/>
        </p:nvGraphicFramePr>
        <p:xfrm>
          <a:off x="584200" y="1989330"/>
          <a:ext cx="11019342" cy="358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6096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08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5D47E6D-C75D-461B-BA2F-E064330344ED}" type="slidenum">
              <a:rPr/>
            </a:fld>
            <a:endParaRPr lang="zh-CN"/>
          </a:p>
        </p:txBody>
      </p:sp>
      <p:sp>
        <p:nvSpPr>
          <p:cNvPr id="51" name="主标题为方正兰亭 , 最大30pt"/>
          <p:cNvSpPr txBox="1"/>
          <p:nvPr/>
        </p:nvSpPr>
        <p:spPr>
          <a:xfrm>
            <a:off x="1123472" y="195193"/>
            <a:ext cx="2157642" cy="374461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3.3 </a:t>
            </a:r>
            <a:r>
              <a:rPr lang="zh-CN" alt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安全合规</a:t>
            </a:r>
            <a:r>
              <a:rPr lang="en-US" sz="2100" b="1" dirty="0" err="1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</a:t>
            </a:r>
            <a:endParaRPr dirty="0"/>
          </a:p>
        </p:txBody>
      </p:sp>
      <p:sp>
        <p:nvSpPr>
          <p:cNvPr id="53" name="文本框 4"/>
          <p:cNvSpPr txBox="1"/>
          <p:nvPr/>
        </p:nvSpPr>
        <p:spPr>
          <a:xfrm>
            <a:off x="8547652" y="56420"/>
            <a:ext cx="3072850" cy="307777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 smtClean="0"/>
              <a:t>泛智屏安全</a:t>
            </a:r>
            <a:r>
              <a:rPr lang="en-US" altLang="zh-CN" sz="1400" dirty="0" smtClean="0"/>
              <a:t>SE</a:t>
            </a:r>
            <a:r>
              <a:rPr lang="zh-CN" sz="1400" dirty="0" smtClean="0"/>
              <a:t>：</a:t>
            </a:r>
            <a:r>
              <a:rPr lang="zh-CN" altLang="en-US" sz="1400" dirty="0" smtClean="0"/>
              <a:t>罗科锋</a:t>
            </a:r>
            <a:r>
              <a:rPr lang="zh-CN" sz="1400" dirty="0" smtClean="0"/>
              <a:t>输出</a:t>
            </a:r>
            <a:r>
              <a:rPr lang="zh-CN" sz="1400" dirty="0"/>
              <a:t>（</a:t>
            </a:r>
            <a:r>
              <a:rPr lang="en-US" sz="1400" dirty="0"/>
              <a:t>1</a:t>
            </a:r>
            <a:r>
              <a:rPr lang="zh-CN" sz="1400" dirty="0"/>
              <a:t>页）</a:t>
            </a:r>
            <a:endParaRPr dirty="0"/>
          </a:p>
        </p:txBody>
      </p:sp>
      <p:sp>
        <p:nvSpPr>
          <p:cNvPr id="54" name="折角形 53"/>
          <p:cNvSpPr/>
          <p:nvPr/>
        </p:nvSpPr>
        <p:spPr>
          <a:xfrm>
            <a:off x="8426728" y="577495"/>
            <a:ext cx="3314698" cy="603250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 dirty="0"/>
              <a:t>根据立项报告中制定</a:t>
            </a:r>
            <a:r>
              <a:rPr lang="zh-CN" sz="1050" dirty="0" smtClean="0"/>
              <a:t>的</a:t>
            </a:r>
            <a:r>
              <a:rPr lang="zh-CN" altLang="en-US" sz="1050" dirty="0" smtClean="0"/>
              <a:t>安全合规</a:t>
            </a:r>
            <a:r>
              <a:rPr lang="zh-CN" sz="1050" dirty="0" smtClean="0"/>
              <a:t>策略</a:t>
            </a:r>
            <a:r>
              <a:rPr lang="zh-CN" sz="1050" dirty="0"/>
              <a:t>，确认各项达成</a:t>
            </a:r>
            <a:r>
              <a:rPr lang="zh-CN" sz="1050" dirty="0" smtClean="0"/>
              <a:t>情况</a:t>
            </a:r>
            <a:r>
              <a:rPr lang="zh-CN" altLang="en-US" sz="1050" dirty="0" smtClean="0"/>
              <a:t>，未达成的进行根因分析及措施制定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12C4FC9-AD83-4DFA-94F1-B3C99A7E5CB7}" type="slidenum">
              <a:rPr/>
            </a:fld>
            <a:endParaRPr lang="zh-CN"/>
          </a:p>
        </p:txBody>
      </p:sp>
      <p:sp>
        <p:nvSpPr>
          <p:cNvPr id="51" name="主标题为方正兰亭 , 最大30pt"/>
          <p:cNvSpPr txBox="1"/>
          <p:nvPr/>
        </p:nvSpPr>
        <p:spPr>
          <a:xfrm>
            <a:off x="1123472" y="195734"/>
            <a:ext cx="2935605" cy="37338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3.4 </a:t>
            </a:r>
            <a:r>
              <a:rPr lang="zh-CN" alt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流程执行符合度</a:t>
            </a:r>
            <a:r>
              <a:rPr lang="en-US" sz="2100" b="1" dirty="0" err="1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策略</a:t>
            </a:r>
            <a:endParaRPr dirty="0"/>
          </a:p>
        </p:txBody>
      </p:sp>
      <p:sp>
        <p:nvSpPr>
          <p:cNvPr id="53" name="文本框 4"/>
          <p:cNvSpPr txBox="1"/>
          <p:nvPr/>
        </p:nvSpPr>
        <p:spPr>
          <a:xfrm>
            <a:off x="8547652" y="56420"/>
            <a:ext cx="3072850" cy="306705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 dirty="0" smtClean="0"/>
              <a:t>质量运营部：肖许输出</a:t>
            </a:r>
            <a:r>
              <a:rPr lang="zh-CN" sz="1400" dirty="0"/>
              <a:t>（</a:t>
            </a:r>
            <a:r>
              <a:rPr lang="en-US" sz="1400" dirty="0"/>
              <a:t>1</a:t>
            </a:r>
            <a:r>
              <a:rPr lang="zh-CN" sz="1400" dirty="0"/>
              <a:t>页）</a:t>
            </a:r>
            <a:endParaRPr dirty="0"/>
          </a:p>
        </p:txBody>
      </p:sp>
      <p:sp>
        <p:nvSpPr>
          <p:cNvPr id="54" name="折角形 53"/>
          <p:cNvSpPr/>
          <p:nvPr/>
        </p:nvSpPr>
        <p:spPr>
          <a:xfrm>
            <a:off x="8426728" y="577495"/>
            <a:ext cx="3314698" cy="603250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 dirty="0"/>
              <a:t>根据立项报告中制定</a:t>
            </a:r>
            <a:r>
              <a:rPr lang="zh-CN" sz="1050" dirty="0" smtClean="0"/>
              <a:t>的</a:t>
            </a:r>
            <a:r>
              <a:rPr lang="zh-CN" altLang="en-US" sz="1050" dirty="0" smtClean="0"/>
              <a:t>流程执行符合度</a:t>
            </a:r>
            <a:r>
              <a:rPr lang="zh-CN" sz="1050" dirty="0" smtClean="0"/>
              <a:t>策略</a:t>
            </a:r>
            <a:r>
              <a:rPr lang="zh-CN" sz="1050" dirty="0"/>
              <a:t>，确认各项达成</a:t>
            </a:r>
            <a:r>
              <a:rPr lang="zh-CN" sz="1050" dirty="0" smtClean="0"/>
              <a:t>情况</a:t>
            </a:r>
            <a:r>
              <a:rPr lang="zh-CN" altLang="en-US" sz="1050" dirty="0" smtClean="0"/>
              <a:t>，未达成的进行根因分析及措施制定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982E8EC-4B12-424F-8F73-63B7E4D7B1E3}" type="slidenum">
              <a:rPr/>
            </a:fld>
            <a:endParaRPr lang="zh-CN"/>
          </a:p>
        </p:txBody>
      </p:sp>
      <p:sp>
        <p:nvSpPr>
          <p:cNvPr id="139" name="主标题为方正兰亭 , 最大30pt"/>
          <p:cNvSpPr txBox="1"/>
          <p:nvPr/>
        </p:nvSpPr>
        <p:spPr>
          <a:xfrm>
            <a:off x="1123472" y="195734"/>
            <a:ext cx="2935605" cy="37338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3.5 </a:t>
            </a:r>
            <a:r>
              <a:rPr lang="en-US" sz="2100" b="1" dirty="0" err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里程碑</a:t>
            </a:r>
            <a:r>
              <a:rPr lang="zh-CN" sz="2100" b="1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计划达成情况</a:t>
            </a:r>
            <a:endParaRPr dirty="0"/>
          </a:p>
        </p:txBody>
      </p:sp>
      <p:grpSp>
        <p:nvGrpSpPr>
          <p:cNvPr id="140" name="Group 158"/>
          <p:cNvGrpSpPr/>
          <p:nvPr/>
        </p:nvGrpSpPr>
        <p:grpSpPr>
          <a:xfrm>
            <a:off x="-32158" y="1370575"/>
            <a:ext cx="12083949" cy="2117299"/>
            <a:chOff x="159866" y="4761619"/>
            <a:chExt cx="11110706" cy="2060009"/>
          </a:xfrm>
        </p:grpSpPr>
        <p:cxnSp>
          <p:nvCxnSpPr>
            <p:cNvPr id="141" name="直接箭头连接符 39"/>
            <p:cNvCxnSpPr>
              <a:cxnSpLocks noChangeShapeType="1"/>
            </p:cNvCxnSpPr>
            <p:nvPr/>
          </p:nvCxnSpPr>
          <p:spPr>
            <a:xfrm>
              <a:off x="506572" y="5179493"/>
              <a:ext cx="10764000" cy="0"/>
            </a:xfrm>
            <a:prstGeom prst="straightConnector1">
              <a:avLst/>
            </a:prstGeom>
            <a:noFill/>
            <a:ln w="6350">
              <a:solidFill>
                <a:schemeClr val="accent1"/>
              </a:solidFill>
              <a:miter/>
              <a:tailEnd type="triangle" w="med" len="med"/>
            </a:ln>
          </p:spPr>
        </p:cxnSp>
        <p:sp>
          <p:nvSpPr>
            <p:cNvPr id="142" name="文本框 21"/>
            <p:cNvSpPr txBox="1">
              <a:spLocks noChangeArrowheads="1"/>
            </p:cNvSpPr>
            <p:nvPr/>
          </p:nvSpPr>
          <p:spPr>
            <a:xfrm>
              <a:off x="1204197" y="5323812"/>
              <a:ext cx="927100" cy="265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endParaRPr 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" name="文本框 9"/>
            <p:cNvSpPr txBox="1">
              <a:spLocks noChangeArrowheads="1"/>
            </p:cNvSpPr>
            <p:nvPr/>
          </p:nvSpPr>
          <p:spPr>
            <a:xfrm>
              <a:off x="2812136" y="4812781"/>
              <a:ext cx="617538" cy="261539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algn="ctr"/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4" name="文本框 8"/>
            <p:cNvSpPr txBox="1">
              <a:spLocks noChangeArrowheads="1"/>
            </p:cNvSpPr>
            <p:nvPr/>
          </p:nvSpPr>
          <p:spPr>
            <a:xfrm>
              <a:off x="275041" y="4812781"/>
              <a:ext cx="954087" cy="261539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algn="ctr"/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2022/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9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/30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文本框 12"/>
            <p:cNvSpPr txBox="1">
              <a:spLocks noChangeArrowheads="1"/>
            </p:cNvSpPr>
            <p:nvPr/>
          </p:nvSpPr>
          <p:spPr>
            <a:xfrm>
              <a:off x="159866" y="5363884"/>
              <a:ext cx="1306213" cy="12576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MTK </a:t>
              </a: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release Alpha SDK</a:t>
              </a: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版本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TROM3.0</a:t>
              </a: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开始移植，与底层对接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应用与</a:t>
              </a: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TROM3.0</a:t>
              </a: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对接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6" name="文本框 13"/>
            <p:cNvSpPr txBox="1">
              <a:spLocks noChangeArrowheads="1"/>
            </p:cNvSpPr>
            <p:nvPr/>
          </p:nvSpPr>
          <p:spPr>
            <a:xfrm>
              <a:off x="7502878" y="5363884"/>
              <a:ext cx="1355558" cy="868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基于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MT9653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下一代中间件释放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DTV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live TV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完成与中间件打通</a:t>
              </a: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7" name="文本框 9"/>
            <p:cNvSpPr txBox="1">
              <a:spLocks noChangeArrowheads="1"/>
            </p:cNvSpPr>
            <p:nvPr/>
          </p:nvSpPr>
          <p:spPr>
            <a:xfrm>
              <a:off x="6223772" y="4787966"/>
              <a:ext cx="900301" cy="2544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2023/1/30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8" name="文本框 13"/>
            <p:cNvSpPr txBox="1">
              <a:spLocks noChangeArrowheads="1"/>
            </p:cNvSpPr>
            <p:nvPr/>
          </p:nvSpPr>
          <p:spPr>
            <a:xfrm>
              <a:off x="4644898" y="5369370"/>
              <a:ext cx="1455038" cy="14522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MTK release Google A/B Approval SDK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应用完成移植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WIFI&amp;BT</a:t>
              </a: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完成移植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输出首版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软件，</a:t>
              </a: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开始认证相关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工作（需与中间件无关的认证）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9" name="文本框 13"/>
            <p:cNvSpPr txBox="1">
              <a:spLocks noChangeArrowheads="1"/>
            </p:cNvSpPr>
            <p:nvPr/>
          </p:nvSpPr>
          <p:spPr>
            <a:xfrm>
              <a:off x="6143371" y="5364595"/>
              <a:ext cx="1359507" cy="10629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下一代中间件完成与上层对接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下一代中间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件基本完成与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AOW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框架对接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0" name="文本框 9"/>
            <p:cNvSpPr txBox="1">
              <a:spLocks noChangeArrowheads="1"/>
            </p:cNvSpPr>
            <p:nvPr/>
          </p:nvSpPr>
          <p:spPr>
            <a:xfrm>
              <a:off x="7768403" y="4806634"/>
              <a:ext cx="734547" cy="253305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13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文本框 9"/>
            <p:cNvSpPr txBox="1">
              <a:spLocks noChangeArrowheads="1"/>
            </p:cNvSpPr>
            <p:nvPr/>
          </p:nvSpPr>
          <p:spPr>
            <a:xfrm>
              <a:off x="9074993" y="4761619"/>
              <a:ext cx="704194" cy="2544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 anchor="b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2/15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2" name="文本框 13"/>
            <p:cNvSpPr txBox="1">
              <a:spLocks noChangeArrowheads="1"/>
            </p:cNvSpPr>
            <p:nvPr/>
          </p:nvSpPr>
          <p:spPr>
            <a:xfrm>
              <a:off x="9137395" y="5226829"/>
              <a:ext cx="813466" cy="284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3" name="文本框 6"/>
            <p:cNvSpPr txBox="1">
              <a:spLocks noChangeArrowheads="1"/>
            </p:cNvSpPr>
            <p:nvPr/>
          </p:nvSpPr>
          <p:spPr>
            <a:xfrm>
              <a:off x="1530276" y="4826416"/>
              <a:ext cx="690562" cy="261539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11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en-US" sz="1100" dirty="0">
                  <a:latin typeface="微软雅黑" panose="020B0503020204020204" charset="-122"/>
                  <a:ea typeface="微软雅黑" panose="020B0503020204020204" charset="-122"/>
                </a:rPr>
                <a:t>7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4" name="文本框 7"/>
            <p:cNvSpPr txBox="1">
              <a:spLocks noChangeArrowheads="1"/>
            </p:cNvSpPr>
            <p:nvPr/>
          </p:nvSpPr>
          <p:spPr>
            <a:xfrm>
              <a:off x="1345612" y="5400151"/>
              <a:ext cx="854014" cy="4600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 algn="ctr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TCL</a:t>
              </a:r>
              <a:r>
                <a:rPr lang="zh-CN" sz="1000" dirty="0">
                  <a:latin typeface="微软雅黑" panose="020B0503020204020204" charset="-122"/>
                  <a:ea typeface="微软雅黑" panose="020B0503020204020204" charset="-122"/>
                </a:rPr>
                <a:t>板子</a:t>
              </a:r>
              <a:r>
                <a:rPr lang="en-US" sz="1000" dirty="0">
                  <a:latin typeface="微软雅黑" panose="020B0503020204020204" charset="-122"/>
                  <a:ea typeface="微软雅黑" panose="020B0503020204020204" charset="-122"/>
                </a:rPr>
                <a:t>ready</a:t>
              </a: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5" name="文本框 6"/>
            <p:cNvSpPr txBox="1">
              <a:spLocks noChangeArrowheads="1"/>
            </p:cNvSpPr>
            <p:nvPr/>
          </p:nvSpPr>
          <p:spPr>
            <a:xfrm>
              <a:off x="2634764" y="4814122"/>
              <a:ext cx="690562" cy="261539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algn="ctr"/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11/30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6" name="文本框 13"/>
            <p:cNvSpPr txBox="1">
              <a:spLocks noChangeArrowheads="1"/>
            </p:cNvSpPr>
            <p:nvPr/>
          </p:nvSpPr>
          <p:spPr>
            <a:xfrm>
              <a:off x="8809763" y="5386508"/>
              <a:ext cx="1219020" cy="4790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 algn="ctr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输出首版整机软件进行摸底测试</a:t>
              </a: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7" name="Group 158"/>
          <p:cNvGrpSpPr/>
          <p:nvPr/>
        </p:nvGrpSpPr>
        <p:grpSpPr>
          <a:xfrm>
            <a:off x="139345" y="1397848"/>
            <a:ext cx="12052655" cy="4430635"/>
            <a:chOff x="138587" y="1970749"/>
            <a:chExt cx="11652616" cy="4430640"/>
          </a:xfrm>
        </p:grpSpPr>
        <p:cxnSp>
          <p:nvCxnSpPr>
            <p:cNvPr id="158" name="直接箭头连接符 39"/>
            <p:cNvCxnSpPr/>
            <p:nvPr/>
          </p:nvCxnSpPr>
          <p:spPr>
            <a:xfrm>
              <a:off x="368110" y="5179493"/>
              <a:ext cx="11287538" cy="0"/>
            </a:xfrm>
            <a:prstGeom prst="straightConnector1">
              <a:avLst/>
            </a:prstGeom>
            <a:noFill/>
            <a:ln w="6350">
              <a:solidFill>
                <a:schemeClr val="accent1"/>
              </a:solidFill>
              <a:miter/>
              <a:tailEnd type="triangle" w="med" len="med"/>
            </a:ln>
          </p:spPr>
        </p:cxnSp>
        <p:sp>
          <p:nvSpPr>
            <p:cNvPr id="159" name="文本框 6"/>
            <p:cNvSpPr txBox="1">
              <a:spLocks noChangeArrowheads="1"/>
            </p:cNvSpPr>
            <p:nvPr/>
          </p:nvSpPr>
          <p:spPr>
            <a:xfrm>
              <a:off x="1073116" y="4817942"/>
              <a:ext cx="1002342" cy="2615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91373" tIns="45685" rIns="91373" bIns="45685">
              <a:spAutoFit/>
            </a:bodyPr>
            <a:lstStyle/>
            <a:p>
              <a:pPr lvl="0" algn="ctr"/>
              <a:r>
                <a:rPr lang="zh-CN" alt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每周版本迭代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0" name="文本框 7"/>
            <p:cNvSpPr txBox="1">
              <a:spLocks noChangeArrowheads="1"/>
            </p:cNvSpPr>
            <p:nvPr/>
          </p:nvSpPr>
          <p:spPr>
            <a:xfrm>
              <a:off x="249502" y="5340265"/>
              <a:ext cx="854014" cy="272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 algn="ctr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1" name="文本框 9"/>
            <p:cNvSpPr txBox="1">
              <a:spLocks noChangeArrowheads="1"/>
            </p:cNvSpPr>
            <p:nvPr/>
          </p:nvSpPr>
          <p:spPr>
            <a:xfrm>
              <a:off x="3275686" y="4812781"/>
              <a:ext cx="622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7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23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2" name="文本框 13"/>
            <p:cNvSpPr txBox="1">
              <a:spLocks noChangeArrowheads="1"/>
            </p:cNvSpPr>
            <p:nvPr/>
          </p:nvSpPr>
          <p:spPr>
            <a:xfrm>
              <a:off x="1857822" y="5313327"/>
              <a:ext cx="1287458" cy="4923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 smtClean="0">
                  <a:latin typeface="微软雅黑" panose="020B0503020204020204" charset="-122"/>
                  <a:ea typeface="微软雅黑" panose="020B0503020204020204" charset="-122"/>
                </a:rPr>
                <a:t>SR4</a:t>
              </a:r>
              <a:r>
                <a:rPr lang="en-US" altLang="zh-CN" sz="1000" b="1" dirty="0" smtClean="0">
                  <a:latin typeface="微软雅黑" panose="020B0503020204020204" charset="-122"/>
                  <a:ea typeface="微软雅黑" panose="020B0503020204020204" charset="-122"/>
                </a:rPr>
                <a:t>-2</a:t>
              </a:r>
              <a:endParaRPr lang="en-US" altLang="zh-CN" sz="1000" b="1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全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功能测试结束</a:t>
              </a:r>
              <a:endParaRPr 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3" name="文本框 8"/>
            <p:cNvSpPr txBox="1">
              <a:spLocks noChangeArrowheads="1"/>
            </p:cNvSpPr>
            <p:nvPr/>
          </p:nvSpPr>
          <p:spPr>
            <a:xfrm>
              <a:off x="275041" y="4812781"/>
              <a:ext cx="9588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3/21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4" name="文本框 12"/>
            <p:cNvSpPr txBox="1">
              <a:spLocks noChangeArrowheads="1"/>
            </p:cNvSpPr>
            <p:nvPr/>
          </p:nvSpPr>
          <p:spPr>
            <a:xfrm>
              <a:off x="10416987" y="2544959"/>
              <a:ext cx="1374216" cy="1292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b="1" dirty="0" smtClean="0">
                  <a:latin typeface="微软雅黑" panose="020B0503020204020204" charset="-122"/>
                  <a:ea typeface="微软雅黑" panose="020B0503020204020204" charset="-122"/>
                </a:rPr>
                <a:t>SR4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进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NPI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需求全部导入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（暂以灵悉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UI2.1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为准）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开始模块测试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（持续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周，每周迭代）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TR4A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样机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ready</a:t>
              </a: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5" name="文本框 9"/>
            <p:cNvSpPr txBox="1">
              <a:spLocks noChangeArrowheads="1"/>
            </p:cNvSpPr>
            <p:nvPr/>
          </p:nvSpPr>
          <p:spPr>
            <a:xfrm>
              <a:off x="8129097" y="4784273"/>
              <a:ext cx="704508" cy="2615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 anchor="b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9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25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6" name="文本框 13"/>
            <p:cNvSpPr txBox="1">
              <a:spLocks noChangeArrowheads="1"/>
            </p:cNvSpPr>
            <p:nvPr/>
          </p:nvSpPr>
          <p:spPr>
            <a:xfrm>
              <a:off x="6223417" y="5368693"/>
              <a:ext cx="1027724" cy="4923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AP-VN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(T2</a:t>
              </a:r>
              <a:r>
                <a:rPr lang="zh-CN" altLang="en-US" sz="1000" dirty="0">
                  <a:latin typeface="微软雅黑" panose="020B0503020204020204" charset="-122"/>
                  <a:ea typeface="微软雅黑" panose="020B0503020204020204" charset="-122"/>
                </a:rPr>
                <a:t>制式</a:t>
              </a:r>
              <a:r>
                <a:rPr lang="en-US" altLang="zh-CN" sz="1000" dirty="0">
                  <a:latin typeface="微软雅黑" panose="020B0503020204020204" charset="-122"/>
                  <a:ea typeface="微软雅黑" panose="020B0503020204020204" charset="-122"/>
                </a:rPr>
                <a:t>)</a:t>
              </a:r>
              <a:r>
                <a:rPr lang="zh-CN" altLang="zh-CN" sz="1000" dirty="0">
                  <a:latin typeface="微软雅黑" panose="020B0503020204020204" charset="-122"/>
                  <a:ea typeface="微软雅黑" panose="020B0503020204020204" charset="-122"/>
                </a:rPr>
                <a:t>释放</a:t>
              </a:r>
              <a:endParaRPr lang="en-US" alt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7" name="文本框 9"/>
            <p:cNvSpPr txBox="1">
              <a:spLocks noChangeArrowheads="1"/>
            </p:cNvSpPr>
            <p:nvPr/>
          </p:nvSpPr>
          <p:spPr>
            <a:xfrm>
              <a:off x="5358227" y="4821954"/>
              <a:ext cx="673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8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/2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8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8" name="文本框 13"/>
            <p:cNvSpPr txBox="1">
              <a:spLocks noChangeArrowheads="1"/>
            </p:cNvSpPr>
            <p:nvPr/>
          </p:nvSpPr>
          <p:spPr>
            <a:xfrm>
              <a:off x="3975927" y="5346841"/>
              <a:ext cx="1054100" cy="47288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lvl="0" indent="-171450" algn="ctr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SQA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释放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   （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DI&lt;150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）</a:t>
              </a:r>
              <a:endParaRPr lang="zh-CN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9" name="文本框 9"/>
            <p:cNvSpPr txBox="1">
              <a:spLocks noChangeArrowheads="1"/>
            </p:cNvSpPr>
            <p:nvPr/>
          </p:nvSpPr>
          <p:spPr>
            <a:xfrm>
              <a:off x="6387446" y="4804739"/>
              <a:ext cx="622300" cy="261539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9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0" name="文本框 13"/>
            <p:cNvSpPr txBox="1">
              <a:spLocks noChangeArrowheads="1"/>
            </p:cNvSpPr>
            <p:nvPr/>
          </p:nvSpPr>
          <p:spPr>
            <a:xfrm>
              <a:off x="5030028" y="5343858"/>
              <a:ext cx="1150670" cy="8924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 smtClean="0">
                  <a:latin typeface="微软雅黑" panose="020B0503020204020204" charset="-122"/>
                  <a:ea typeface="微软雅黑" panose="020B0503020204020204" charset="-122"/>
                </a:rPr>
                <a:t>SR5 </a:t>
              </a:r>
              <a:r>
                <a:rPr 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AP/AU FQA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释放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工厂迭代版本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SQA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释放</a:t>
              </a: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1" name="文本框 9"/>
            <p:cNvSpPr txBox="1">
              <a:spLocks noChangeArrowheads="1"/>
            </p:cNvSpPr>
            <p:nvPr/>
          </p:nvSpPr>
          <p:spPr>
            <a:xfrm>
              <a:off x="7021239" y="4807481"/>
              <a:ext cx="730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9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19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2" name="文本框 9"/>
            <p:cNvSpPr txBox="1">
              <a:spLocks noChangeArrowheads="1"/>
            </p:cNvSpPr>
            <p:nvPr/>
          </p:nvSpPr>
          <p:spPr>
            <a:xfrm>
              <a:off x="10691780" y="1970749"/>
              <a:ext cx="701919" cy="2615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 anchor="b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22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3" name="文本框 13"/>
            <p:cNvSpPr txBox="1">
              <a:spLocks noChangeArrowheads="1"/>
            </p:cNvSpPr>
            <p:nvPr/>
          </p:nvSpPr>
          <p:spPr>
            <a:xfrm>
              <a:off x="7922354" y="5323001"/>
              <a:ext cx="1145761" cy="272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lvl="0" indent="-171450" algn="ctr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SR-IN</a:t>
              </a: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释放</a:t>
              </a: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文本框 6"/>
            <p:cNvSpPr txBox="1">
              <a:spLocks noChangeArrowheads="1"/>
            </p:cNvSpPr>
            <p:nvPr/>
          </p:nvSpPr>
          <p:spPr>
            <a:xfrm>
              <a:off x="2069479" y="4817942"/>
              <a:ext cx="6921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/1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5" name="文本框 7"/>
            <p:cNvSpPr txBox="1">
              <a:spLocks noChangeArrowheads="1"/>
            </p:cNvSpPr>
            <p:nvPr/>
          </p:nvSpPr>
          <p:spPr>
            <a:xfrm>
              <a:off x="138587" y="5294703"/>
              <a:ext cx="1313916" cy="6924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 smtClean="0">
                  <a:latin typeface="微软雅黑" panose="020B0503020204020204" charset="-122"/>
                  <a:ea typeface="微软雅黑" panose="020B0503020204020204" charset="-122"/>
                </a:rPr>
                <a:t>SR4-1 </a:t>
              </a:r>
              <a:endParaRPr lang="en-US" sz="1000" b="1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模块测试结束，开始全功能测试</a:t>
              </a:r>
              <a:endParaRPr lang="en-US" sz="10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6" name="文本框 6"/>
            <p:cNvSpPr txBox="1">
              <a:spLocks noChangeArrowheads="1"/>
            </p:cNvSpPr>
            <p:nvPr/>
          </p:nvSpPr>
          <p:spPr>
            <a:xfrm>
              <a:off x="4193490" y="4824616"/>
              <a:ext cx="6921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 dirty="0" smtClean="0">
                  <a:latin typeface="微软雅黑" panose="020B0503020204020204" charset="-122"/>
                  <a:ea typeface="微软雅黑" panose="020B0503020204020204" charset="-122"/>
                </a:rPr>
                <a:t>8/</a:t>
              </a:r>
              <a:r>
                <a:rPr lang="en-US" altLang="zh-CN" sz="1100" dirty="0" smtClean="0">
                  <a:latin typeface="微软雅黑" panose="020B0503020204020204" charset="-122"/>
                  <a:ea typeface="微软雅黑" panose="020B0503020204020204" charset="-122"/>
                </a:rPr>
                <a:t>21</a:t>
              </a:r>
              <a:endParaRPr lang="en-US" sz="11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7" name="文本框 7"/>
            <p:cNvSpPr txBox="1">
              <a:spLocks noChangeArrowheads="1"/>
            </p:cNvSpPr>
            <p:nvPr/>
          </p:nvSpPr>
          <p:spPr>
            <a:xfrm>
              <a:off x="3004512" y="5330669"/>
              <a:ext cx="1342435" cy="8924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000" b="1" dirty="0" smtClean="0">
                  <a:latin typeface="微软雅黑" panose="020B0503020204020204" charset="-122"/>
                  <a:ea typeface="微软雅黑" panose="020B0503020204020204" charset="-122"/>
                </a:rPr>
                <a:t>SR4A</a:t>
              </a:r>
              <a:endParaRPr lang="en-US" sz="1000" b="1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拉量产分支（</a:t>
              </a:r>
              <a:r>
                <a:rPr lang="en-US" altLang="zh-CN" sz="1000" dirty="0" smtClean="0">
                  <a:latin typeface="微软雅黑" panose="020B0503020204020204" charset="-122"/>
                  <a:ea typeface="微软雅黑" panose="020B0503020204020204" charset="-122"/>
                </a:rPr>
                <a:t>DI&lt;300)</a:t>
              </a:r>
              <a:endParaRPr lang="en-US" altLang="zh-CN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71450" lvl="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latin typeface="微软雅黑" panose="020B0503020204020204" charset="-122"/>
                  <a:ea typeface="微软雅黑" panose="020B0503020204020204" charset="-122"/>
                </a:rPr>
                <a:t>开始安排公测</a:t>
              </a:r>
              <a:endParaRPr lang="en-US" sz="1000" dirty="0" smtClean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78" name="Group 156"/>
            <p:cNvGrpSpPr/>
            <p:nvPr/>
          </p:nvGrpSpPr>
          <p:grpSpPr>
            <a:xfrm>
              <a:off x="7392588" y="6135867"/>
              <a:ext cx="2883020" cy="265522"/>
              <a:chOff x="7651002" y="6135865"/>
              <a:chExt cx="2883020" cy="265523"/>
            </a:xfrm>
          </p:grpSpPr>
          <p:grpSp>
            <p:nvGrpSpPr>
              <p:cNvPr id="179" name="Group 132"/>
              <p:cNvGrpSpPr/>
              <p:nvPr/>
            </p:nvGrpSpPr>
            <p:grpSpPr>
              <a:xfrm>
                <a:off x="8835476" y="6135865"/>
                <a:ext cx="799206" cy="246222"/>
                <a:chOff x="9186903" y="6296637"/>
                <a:chExt cx="799206" cy="246222"/>
              </a:xfrm>
            </p:grpSpPr>
            <p:sp>
              <p:nvSpPr>
                <p:cNvPr id="180" name="椭圆 40"/>
                <p:cNvSpPr>
                  <a:spLocks noChangeArrowheads="1"/>
                </p:cNvSpPr>
                <p:nvPr/>
              </p:nvSpPr>
              <p:spPr>
                <a:xfrm>
                  <a:off x="9186903" y="6355718"/>
                  <a:ext cx="144463" cy="1428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/>
                <a:lstStyle>
                  <a:lvl1pPr lvl="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1pPr>
                  <a:lvl2pPr lvl="1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2pPr>
                  <a:lvl3pPr lvl="2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3pPr>
                  <a:lvl4pPr lvl="3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4pPr>
                  <a:lvl5pPr lvl="4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5pPr>
                  <a:lvl6pPr lvl="5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6pPr>
                  <a:lvl7pPr lvl="6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7pPr>
                  <a:lvl8pPr lvl="7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8pPr>
                  <a:lvl9pPr lvl="8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9pPr>
                </a:lstStyle>
                <a:p>
                  <a:endParaRPr lang="zh-CN" sz="8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81" name="TextBox 140"/>
                <p:cNvSpPr txBox="1"/>
                <p:nvPr/>
              </p:nvSpPr>
              <p:spPr>
                <a:xfrm>
                  <a:off x="9288482" y="6296637"/>
                  <a:ext cx="697627" cy="24622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000" dirty="0" smtClean="0">
                      <a:latin typeface="微软雅黑" panose="020B0503020204020204" charset="-122"/>
                      <a:ea typeface="微软雅黑" panose="020B0503020204020204" charset="-122"/>
                    </a:rPr>
                    <a:t>关键</a:t>
                  </a:r>
                  <a:r>
                    <a:rPr lang="en-US" sz="1000" dirty="0" err="1" smtClean="0">
                      <a:latin typeface="微软雅黑" panose="020B0503020204020204" charset="-122"/>
                      <a:ea typeface="微软雅黑" panose="020B0503020204020204" charset="-122"/>
                    </a:rPr>
                    <a:t>节点</a:t>
                  </a:r>
                  <a:endParaRPr lang="en-US" sz="1000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82" name="Group 133"/>
              <p:cNvGrpSpPr/>
              <p:nvPr/>
            </p:nvGrpSpPr>
            <p:grpSpPr>
              <a:xfrm>
                <a:off x="7651002" y="6154135"/>
                <a:ext cx="809155" cy="246221"/>
                <a:chOff x="8931099" y="6314908"/>
                <a:chExt cx="809155" cy="246221"/>
              </a:xfrm>
            </p:grpSpPr>
            <p:sp>
              <p:nvSpPr>
                <p:cNvPr id="183" name="椭圆 40"/>
                <p:cNvSpPr>
                  <a:spLocks noChangeArrowheads="1"/>
                </p:cNvSpPr>
                <p:nvPr/>
              </p:nvSpPr>
              <p:spPr>
                <a:xfrm>
                  <a:off x="8931099" y="6366582"/>
                  <a:ext cx="144463" cy="142874"/>
                </a:xfrm>
                <a:prstGeom prst="ellipse">
                  <a:avLst/>
                </a:prstGeom>
                <a:solidFill>
                  <a:srgbClr val="92D050">
                    <a:alpha val="100000"/>
                  </a:srgbClr>
                </a:solidFill>
                <a:ln w="9525">
                  <a:solidFill>
                    <a:srgbClr val="92D050">
                      <a:alpha val="100000"/>
                    </a:srgbClr>
                  </a:solidFill>
                </a:ln>
              </p:spPr>
              <p:txBody>
                <a:bodyPr/>
                <a:lstStyle>
                  <a:lvl1pPr lvl="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1pPr>
                  <a:lvl2pPr lvl="1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2pPr>
                  <a:lvl3pPr lvl="2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3pPr>
                  <a:lvl4pPr lvl="3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4pPr>
                  <a:lvl5pPr lvl="4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5pPr>
                  <a:lvl6pPr lvl="5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6pPr>
                  <a:lvl7pPr lvl="6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7pPr>
                  <a:lvl8pPr lvl="7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8pPr>
                  <a:lvl9pPr lvl="8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9pPr>
                </a:lstStyle>
                <a:p>
                  <a:endParaRPr lang="zh-CN" sz="8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84" name="TextBox 138"/>
                <p:cNvSpPr txBox="1"/>
                <p:nvPr/>
              </p:nvSpPr>
              <p:spPr>
                <a:xfrm>
                  <a:off x="9047436" y="6314908"/>
                  <a:ext cx="692818" cy="24622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sz="1000" dirty="0" err="1">
                      <a:latin typeface="微软雅黑" panose="020B0503020204020204" charset="-122"/>
                      <a:ea typeface="微软雅黑" panose="020B0503020204020204" charset="-122"/>
                    </a:rPr>
                    <a:t>预研节点</a:t>
                  </a:r>
                  <a:endParaRPr lang="en-US" sz="1000" dirty="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85" name="Group 134"/>
              <p:cNvGrpSpPr/>
              <p:nvPr/>
            </p:nvGrpSpPr>
            <p:grpSpPr>
              <a:xfrm>
                <a:off x="9755324" y="6155167"/>
                <a:ext cx="778698" cy="246221"/>
                <a:chOff x="8931099" y="6314908"/>
                <a:chExt cx="778698" cy="246221"/>
              </a:xfrm>
            </p:grpSpPr>
            <p:sp>
              <p:nvSpPr>
                <p:cNvPr id="186" name="椭圆 40"/>
                <p:cNvSpPr>
                  <a:spLocks noChangeArrowheads="1"/>
                </p:cNvSpPr>
                <p:nvPr/>
              </p:nvSpPr>
              <p:spPr>
                <a:xfrm>
                  <a:off x="8931099" y="6366582"/>
                  <a:ext cx="144463" cy="142874"/>
                </a:xfrm>
                <a:prstGeom prst="ellipse">
                  <a:avLst/>
                </a:prstGeom>
                <a:solidFill>
                  <a:srgbClr val="00B0F0">
                    <a:alpha val="100000"/>
                  </a:srgbClr>
                </a:solidFill>
                <a:ln>
                  <a:solidFill>
                    <a:srgbClr val="00B0F0">
                      <a:alpha val="100000"/>
                    </a:srgbClr>
                  </a:solidFill>
                </a:ln>
              </p:spPr>
              <p:txBody>
                <a:bodyPr/>
                <a:lstStyle>
                  <a:lvl1pPr lvl="0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1pPr>
                  <a:lvl2pPr lvl="1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2pPr>
                  <a:lvl3pPr lvl="2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3pPr>
                  <a:lvl4pPr lvl="3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4pPr>
                  <a:lvl5pPr lvl="4"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5pPr>
                  <a:lvl6pPr lvl="5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6pPr>
                  <a:lvl7pPr lvl="6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7pPr>
                  <a:lvl8pPr lvl="7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8pPr>
                  <a:lvl9pPr lvl="8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等线" panose="02010600030101010101" charset="-122"/>
                      <a:ea typeface="等线" panose="02010600030101010101" charset="-122"/>
                    </a:defRPr>
                  </a:lvl9pPr>
                </a:lstStyle>
                <a:p>
                  <a:endParaRPr lang="zh-CN" sz="8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87" name="TextBox 136"/>
                <p:cNvSpPr txBox="1"/>
                <p:nvPr/>
              </p:nvSpPr>
              <p:spPr>
                <a:xfrm>
                  <a:off x="9047436" y="6314908"/>
                  <a:ext cx="662361" cy="246221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r>
                    <a:rPr lang="en-US" sz="1000">
                      <a:latin typeface="微软雅黑" panose="020B0503020204020204" charset="-122"/>
                      <a:ea typeface="微软雅黑" panose="020B0503020204020204" charset="-122"/>
                    </a:rPr>
                    <a:t>NPI节点</a:t>
                  </a:r>
                  <a:endParaRPr lang="en-US" sz="1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</p:grpSp>
      <p:sp>
        <p:nvSpPr>
          <p:cNvPr id="188" name="文本框 3"/>
          <p:cNvSpPr txBox="1"/>
          <p:nvPr/>
        </p:nvSpPr>
        <p:spPr>
          <a:xfrm>
            <a:off x="5317891" y="1387172"/>
            <a:ext cx="635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1100" dirty="0" smtClean="0"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en-US" sz="1100" dirty="0" smtClean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1100" dirty="0" smtClean="0"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5"/>
          <p:cNvSpPr txBox="1"/>
          <p:nvPr/>
        </p:nvSpPr>
        <p:spPr>
          <a:xfrm>
            <a:off x="3883294" y="2082794"/>
            <a:ext cx="1001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TR4</a:t>
            </a:r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样机 </a:t>
            </a: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ready</a:t>
            </a:r>
            <a:endParaRPr lang="zh-CN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矩形 6"/>
          <p:cNvSpPr/>
          <p:nvPr/>
        </p:nvSpPr>
        <p:spPr>
          <a:xfrm>
            <a:off x="4026989" y="1439890"/>
            <a:ext cx="4651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 smtClean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sz="1000" dirty="0" smtClean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椭圆 9"/>
          <p:cNvSpPr/>
          <p:nvPr/>
        </p:nvSpPr>
        <p:spPr>
          <a:xfrm>
            <a:off x="586713" y="1743425"/>
            <a:ext cx="126000" cy="12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41"/>
          <p:cNvSpPr/>
          <p:nvPr/>
        </p:nvSpPr>
        <p:spPr>
          <a:xfrm>
            <a:off x="4238041" y="1734369"/>
            <a:ext cx="126000" cy="12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54"/>
          <p:cNvSpPr/>
          <p:nvPr/>
        </p:nvSpPr>
        <p:spPr>
          <a:xfrm>
            <a:off x="2977659" y="1727118"/>
            <a:ext cx="126000" cy="126000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0"/>
          <p:cNvSpPr/>
          <p:nvPr/>
        </p:nvSpPr>
        <p:spPr>
          <a:xfrm>
            <a:off x="2312996" y="2014477"/>
            <a:ext cx="1470801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TROM3.0</a:t>
            </a:r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完成与上层应用的打通（</a:t>
            </a: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live TV</a:t>
            </a:r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除外）</a:t>
            </a:r>
            <a:endParaRPr lang="en-US" altLang="zh-CN" sz="10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TROM3.0</a:t>
            </a:r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完成移植</a:t>
            </a:r>
            <a:endParaRPr lang="en-US" altLang="zh-CN" sz="10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Media </a:t>
            </a:r>
            <a:r>
              <a:rPr lang="en-US" altLang="zh-CN" sz="1000" dirty="0" err="1" smtClean="0">
                <a:latin typeface="微软雅黑" panose="020B0503020204020204" charset="-122"/>
                <a:ea typeface="微软雅黑" panose="020B0503020204020204" charset="-122"/>
              </a:rPr>
              <a:t>Tplayer</a:t>
            </a:r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完成对接</a:t>
            </a:r>
            <a:endParaRPr lang="en-US" altLang="zh-CN" sz="10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椭圆 11"/>
          <p:cNvSpPr/>
          <p:nvPr/>
        </p:nvSpPr>
        <p:spPr>
          <a:xfrm>
            <a:off x="1815342" y="1743426"/>
            <a:ext cx="125926" cy="12592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椭圆 208"/>
          <p:cNvSpPr/>
          <p:nvPr/>
        </p:nvSpPr>
        <p:spPr>
          <a:xfrm>
            <a:off x="5526432" y="1740910"/>
            <a:ext cx="125926" cy="12592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椭圆 209"/>
          <p:cNvSpPr/>
          <p:nvPr/>
        </p:nvSpPr>
        <p:spPr>
          <a:xfrm>
            <a:off x="6964573" y="1713504"/>
            <a:ext cx="125926" cy="12592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210"/>
          <p:cNvSpPr/>
          <p:nvPr/>
        </p:nvSpPr>
        <p:spPr>
          <a:xfrm>
            <a:off x="8585039" y="1735542"/>
            <a:ext cx="125926" cy="12592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椭圆 211"/>
          <p:cNvSpPr/>
          <p:nvPr/>
        </p:nvSpPr>
        <p:spPr>
          <a:xfrm>
            <a:off x="9983866" y="1734369"/>
            <a:ext cx="125926" cy="12592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椭圆 212"/>
          <p:cNvSpPr/>
          <p:nvPr/>
        </p:nvSpPr>
        <p:spPr>
          <a:xfrm>
            <a:off x="649713" y="4546665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01" name="椭圆 213"/>
          <p:cNvSpPr/>
          <p:nvPr/>
        </p:nvSpPr>
        <p:spPr>
          <a:xfrm>
            <a:off x="11314802" y="1755628"/>
            <a:ext cx="125926" cy="12592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15"/>
          <p:cNvSpPr/>
          <p:nvPr/>
        </p:nvSpPr>
        <p:spPr>
          <a:xfrm>
            <a:off x="2331118" y="4553173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03" name="椭圆 216"/>
          <p:cNvSpPr/>
          <p:nvPr/>
        </p:nvSpPr>
        <p:spPr>
          <a:xfrm>
            <a:off x="3657797" y="4534885"/>
            <a:ext cx="126000" cy="126000"/>
          </a:xfrm>
          <a:prstGeom prst="ellipse">
            <a:avLst/>
          </a:prstGeom>
          <a:solidFill>
            <a:srgbClr val="FFC000">
              <a:alpha val="100000"/>
            </a:srgbClr>
          </a:solidFill>
          <a:ln>
            <a:solidFill>
              <a:srgbClr val="FFC00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椭圆 217"/>
          <p:cNvSpPr/>
          <p:nvPr/>
        </p:nvSpPr>
        <p:spPr>
          <a:xfrm>
            <a:off x="4609765" y="4541792"/>
            <a:ext cx="126000" cy="126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5" name="椭圆 218"/>
          <p:cNvSpPr/>
          <p:nvPr/>
        </p:nvSpPr>
        <p:spPr>
          <a:xfrm>
            <a:off x="5832176" y="4550936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06" name="椭圆 219"/>
          <p:cNvSpPr/>
          <p:nvPr/>
        </p:nvSpPr>
        <p:spPr>
          <a:xfrm>
            <a:off x="6838573" y="4541792"/>
            <a:ext cx="126000" cy="126000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椭圆 220"/>
          <p:cNvSpPr/>
          <p:nvPr/>
        </p:nvSpPr>
        <p:spPr>
          <a:xfrm>
            <a:off x="7591090" y="4546665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08" name="椭圆 221"/>
          <p:cNvSpPr/>
          <p:nvPr/>
        </p:nvSpPr>
        <p:spPr>
          <a:xfrm>
            <a:off x="8691271" y="4536252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09" name="椭圆 222"/>
          <p:cNvSpPr/>
          <p:nvPr/>
        </p:nvSpPr>
        <p:spPr>
          <a:xfrm>
            <a:off x="6838573" y="4560080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10" name="文本框 14"/>
          <p:cNvSpPr txBox="1"/>
          <p:nvPr/>
        </p:nvSpPr>
        <p:spPr>
          <a:xfrm>
            <a:off x="7406643" y="4832172"/>
            <a:ext cx="10726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AP-TH</a:t>
            </a:r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ISDB</a:t>
            </a:r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制式）释放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椭圆 223"/>
          <p:cNvSpPr/>
          <p:nvPr/>
        </p:nvSpPr>
        <p:spPr>
          <a:xfrm>
            <a:off x="9624742" y="4540036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12" name="椭圆 224"/>
          <p:cNvSpPr/>
          <p:nvPr/>
        </p:nvSpPr>
        <p:spPr>
          <a:xfrm>
            <a:off x="10555645" y="4542881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13" name="文本框 15"/>
          <p:cNvSpPr txBox="1"/>
          <p:nvPr/>
        </p:nvSpPr>
        <p:spPr>
          <a:xfrm>
            <a:off x="9317781" y="4757481"/>
            <a:ext cx="654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MEA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9"/>
          <p:cNvSpPr txBox="1">
            <a:spLocks noChangeArrowheads="1"/>
          </p:cNvSpPr>
          <p:nvPr/>
        </p:nvSpPr>
        <p:spPr>
          <a:xfrm>
            <a:off x="9299543" y="4184018"/>
            <a:ext cx="728694" cy="261539"/>
          </a:xfrm>
          <a:prstGeom prst="rect">
            <a:avLst/>
          </a:prstGeom>
          <a:noFill/>
          <a:ln>
            <a:noFill/>
          </a:ln>
        </p:spPr>
        <p:txBody>
          <a:bodyPr wrap="square" lIns="91373" tIns="45685" rIns="91373" bIns="45685" anchor="b">
            <a:spAutoFit/>
          </a:bodyPr>
          <a:lstStyle/>
          <a:p>
            <a:pPr lvl="0" algn="ctr"/>
            <a:r>
              <a:rPr lang="en-US" altLang="zh-CN" sz="1100" dirty="0" smtClean="0"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en-US" sz="1100" dirty="0" smtClean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altLang="zh-CN" sz="1100" dirty="0" smtClean="0"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9"/>
          <p:cNvSpPr txBox="1">
            <a:spLocks noChangeArrowheads="1"/>
          </p:cNvSpPr>
          <p:nvPr/>
        </p:nvSpPr>
        <p:spPr>
          <a:xfrm>
            <a:off x="10252133" y="4184018"/>
            <a:ext cx="728694" cy="261539"/>
          </a:xfrm>
          <a:prstGeom prst="rect">
            <a:avLst/>
          </a:prstGeom>
          <a:noFill/>
          <a:ln>
            <a:noFill/>
          </a:ln>
        </p:spPr>
        <p:txBody>
          <a:bodyPr wrap="square" lIns="91373" tIns="45685" rIns="91373" bIns="45685" anchor="b">
            <a:spAutoFit/>
          </a:bodyPr>
          <a:lstStyle/>
          <a:p>
            <a:pPr lvl="0" algn="ctr"/>
            <a:r>
              <a:rPr lang="en-US" altLang="zh-CN" sz="1100" dirty="0" smtClean="0">
                <a:latin typeface="微软雅黑" panose="020B0503020204020204" charset="-122"/>
                <a:ea typeface="微软雅黑" panose="020B0503020204020204" charset="-122"/>
              </a:rPr>
              <a:t>10/10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28"/>
          <p:cNvSpPr txBox="1"/>
          <p:nvPr/>
        </p:nvSpPr>
        <p:spPr>
          <a:xfrm>
            <a:off x="10252133" y="4773371"/>
            <a:ext cx="76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SR-RU</a:t>
            </a:r>
            <a:endParaRPr lang="en-US" altLang="zh-CN" sz="1000" dirty="0" smtClean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EU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文本框 229"/>
          <p:cNvSpPr txBox="1"/>
          <p:nvPr/>
        </p:nvSpPr>
        <p:spPr>
          <a:xfrm>
            <a:off x="11163408" y="4746419"/>
            <a:ext cx="6540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 dirty="0" smtClean="0">
                <a:latin typeface="微软雅黑" panose="020B0503020204020204" charset="-122"/>
                <a:ea typeface="微软雅黑" panose="020B0503020204020204" charset="-122"/>
              </a:rPr>
              <a:t>LA</a:t>
            </a:r>
            <a:endParaRPr lang="zh-CN" alt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椭圆 230"/>
          <p:cNvSpPr/>
          <p:nvPr/>
        </p:nvSpPr>
        <p:spPr>
          <a:xfrm>
            <a:off x="11455926" y="4547859"/>
            <a:ext cx="126000" cy="126000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highlight>
                <a:srgbClr val="00B0F0">
                  <a:alpha val="100000"/>
                </a:srgbClr>
              </a:highlight>
            </a:endParaRPr>
          </a:p>
        </p:txBody>
      </p:sp>
      <p:sp>
        <p:nvSpPr>
          <p:cNvPr id="219" name="文本框 9"/>
          <p:cNvSpPr txBox="1">
            <a:spLocks noChangeArrowheads="1"/>
          </p:cNvSpPr>
          <p:nvPr/>
        </p:nvSpPr>
        <p:spPr>
          <a:xfrm>
            <a:off x="11076381" y="4189714"/>
            <a:ext cx="728694" cy="261539"/>
          </a:xfrm>
          <a:prstGeom prst="rect">
            <a:avLst/>
          </a:prstGeom>
          <a:noFill/>
          <a:ln>
            <a:noFill/>
          </a:ln>
        </p:spPr>
        <p:txBody>
          <a:bodyPr wrap="square" lIns="91373" tIns="45685" rIns="91373" bIns="45685" anchor="b">
            <a:spAutoFit/>
          </a:bodyPr>
          <a:lstStyle/>
          <a:p>
            <a:pPr lvl="0" algn="ctr"/>
            <a:r>
              <a:rPr lang="en-US" altLang="zh-CN" sz="1100" dirty="0" smtClean="0">
                <a:latin typeface="微软雅黑" panose="020B0503020204020204" charset="-122"/>
                <a:ea typeface="微软雅黑" panose="020B0503020204020204" charset="-122"/>
              </a:rPr>
              <a:t>10/20</a:t>
            </a:r>
            <a:endParaRPr lang="en-US" sz="1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软件运作代表：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221" name="折角形 220"/>
          <p:cNvSpPr/>
          <p:nvPr/>
        </p:nvSpPr>
        <p:spPr>
          <a:xfrm>
            <a:off x="7879505" y="523520"/>
            <a:ext cx="4172286" cy="466325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根据立项报告中制定的里程碑计划，确认各项达成情况，未达成的进度计划用红色圆点标识</a:t>
            </a:r>
            <a:endParaRPr lang="zh-CN" sz="1050"/>
          </a:p>
        </p:txBody>
      </p:sp>
      <p:sp>
        <p:nvSpPr>
          <p:cNvPr id="222" name="椭圆 40"/>
          <p:cNvSpPr>
            <a:spLocks noChangeArrowheads="1"/>
          </p:cNvSpPr>
          <p:nvPr/>
        </p:nvSpPr>
        <p:spPr>
          <a:xfrm>
            <a:off x="10695243" y="5633937"/>
            <a:ext cx="149422" cy="142873"/>
          </a:xfrm>
          <a:prstGeom prst="ellipse">
            <a:avLst/>
          </a:prstGeom>
          <a:solidFill>
            <a:srgbClr val="FFC000">
              <a:alpha val="100000"/>
            </a:srgbClr>
          </a:solidFill>
          <a:ln w="9525">
            <a:solidFill>
              <a:srgbClr val="FFC000">
                <a:alpha val="100000"/>
              </a:srgbClr>
            </a:solidFill>
          </a:ln>
        </p:spPr>
        <p:txBody>
          <a:bodyPr/>
          <a:lstStyle>
            <a:lvl1pPr lvl="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lvl="1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lvl="2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lvl="3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lvl="4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lvl="5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lvl="6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lvl="7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lvl="8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TextBox 136"/>
          <p:cNvSpPr txBox="1"/>
          <p:nvPr/>
        </p:nvSpPr>
        <p:spPr>
          <a:xfrm>
            <a:off x="10815574" y="5582263"/>
            <a:ext cx="9398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进度延误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节点</a:t>
            </a:r>
            <a:endParaRPr lang="en-US" sz="10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982E8EC-4B12-424F-8F73-63B7E4D7B1E3}" type="slidenum">
              <a:rPr/>
            </a:fld>
            <a:endParaRPr lang="zh-CN"/>
          </a:p>
        </p:txBody>
      </p:sp>
      <p:sp>
        <p:nvSpPr>
          <p:cNvPr id="226" name="主标题为方正兰亭 , 最大30pt"/>
          <p:cNvSpPr txBox="1"/>
          <p:nvPr/>
        </p:nvSpPr>
        <p:spPr>
          <a:xfrm>
            <a:off x="1123472" y="195734"/>
            <a:ext cx="2935605" cy="37338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3.5 </a:t>
            </a:r>
            <a:r>
              <a:rPr lang="en-US" sz="2100" b="1" dirty="0" err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里程碑</a:t>
            </a:r>
            <a:r>
              <a:rPr lang="zh-CN" sz="2100" b="1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计划偏差分析</a:t>
            </a:r>
            <a:endParaRPr dirty="0"/>
          </a:p>
        </p:txBody>
      </p:sp>
      <p:sp>
        <p:nvSpPr>
          <p:cNvPr id="227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软件运作代表：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228" name="折角形 227"/>
          <p:cNvSpPr/>
          <p:nvPr/>
        </p:nvSpPr>
        <p:spPr>
          <a:xfrm>
            <a:off x="7879505" y="523520"/>
            <a:ext cx="4172286" cy="720325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根据立项报告中制定的里程碑计划，对未达成的节点进行复盘分析，如涉及项较少，合并到上一页呈现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版本管控情况需要在此体现（包括对内</a:t>
            </a:r>
            <a:r>
              <a:rPr lang="en-US" sz="1050"/>
              <a:t>V</a:t>
            </a:r>
            <a:r>
              <a:rPr lang="zh-CN" sz="1050"/>
              <a:t>版本数量</a:t>
            </a:r>
            <a:r>
              <a:rPr lang="en-US" sz="1050"/>
              <a:t>/</a:t>
            </a:r>
            <a:r>
              <a:rPr lang="zh-CN" sz="1050"/>
              <a:t>对外提供的版本数量如谷歌）</a:t>
            </a:r>
            <a:endParaRPr lang="zh-CN" sz="1050"/>
          </a:p>
        </p:txBody>
      </p:sp>
      <p:graphicFrame>
        <p:nvGraphicFramePr>
          <p:cNvPr id="229" name="表格 3"/>
          <p:cNvGraphicFramePr/>
          <p:nvPr/>
        </p:nvGraphicFramePr>
        <p:xfrm>
          <a:off x="445490" y="1638300"/>
          <a:ext cx="11019342" cy="358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6096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08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3"/>
          <p:cNvSpPr/>
          <p:nvPr/>
        </p:nvSpPr>
        <p:spPr>
          <a:xfrm rot="1907724">
            <a:off x="4339733" y="1833047"/>
            <a:ext cx="526297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机密文件</a:t>
            </a:r>
            <a:r>
              <a:rPr lang="zh-CN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，请勿外发</a:t>
            </a:r>
            <a:endParaRPr lang="en-US" sz="4400" b="0" spc="0" dirty="0">
              <a:ln w="0"/>
              <a:solidFill>
                <a:schemeClr val="tx1">
                  <a:alpha val="31000"/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2" name="灯片编号占位符 231"/>
          <p:cNvSpPr>
            <a:spLocks noGrp="1"/>
          </p:cNvSpPr>
          <p:nvPr>
            <p:ph type="sldNum" idx="12"/>
          </p:nvPr>
        </p:nvSpPr>
        <p:spPr>
          <a:xfrm>
            <a:off x="9010188" y="635371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28</a:t>
            </a:r>
            <a:endParaRPr lang="en-US"/>
          </a:p>
        </p:txBody>
      </p:sp>
      <p:sp>
        <p:nvSpPr>
          <p:cNvPr id="233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软件运作代表：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234" name="折角形 233"/>
          <p:cNvSpPr/>
          <p:nvPr/>
        </p:nvSpPr>
        <p:spPr>
          <a:xfrm>
            <a:off x="8725890" y="574131"/>
            <a:ext cx="3314698" cy="510942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根据立项报告中的关键抓手里程碑计划，确认各进度节点达成情况，并对延误节点进行复盘分析</a:t>
            </a:r>
            <a:endParaRPr lang="zh-CN" sz="1050"/>
          </a:p>
        </p:txBody>
      </p:sp>
      <p:sp>
        <p:nvSpPr>
          <p:cNvPr id="235" name="主标题为方正兰亭 , 最大30pt"/>
          <p:cNvSpPr txBox="1"/>
          <p:nvPr/>
        </p:nvSpPr>
        <p:spPr>
          <a:xfrm>
            <a:off x="1123472" y="195734"/>
            <a:ext cx="5826125" cy="37338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3.5.1 </a:t>
            </a:r>
            <a:r>
              <a:rPr lang="en-US" sz="2100" b="1" dirty="0" err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里程碑</a:t>
            </a:r>
            <a:r>
              <a:rPr lang="zh-CN" sz="2100" b="1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计划</a:t>
            </a:r>
            <a:r>
              <a:rPr lang="en-US" sz="2100" b="1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| </a:t>
            </a:r>
            <a:r>
              <a:rPr lang="zh-CN" sz="2100" b="1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关键抓手里程碑计划偏差分析</a:t>
            </a:r>
            <a:endParaRPr dirty="0"/>
          </a:p>
        </p:txBody>
      </p:sp>
      <p:grpSp>
        <p:nvGrpSpPr>
          <p:cNvPr id="236" name="Group 158"/>
          <p:cNvGrpSpPr/>
          <p:nvPr/>
        </p:nvGrpSpPr>
        <p:grpSpPr>
          <a:xfrm>
            <a:off x="791996" y="1085071"/>
            <a:ext cx="11118658" cy="1388236"/>
            <a:chOff x="275041" y="4803168"/>
            <a:chExt cx="11118658" cy="1388238"/>
          </a:xfrm>
        </p:grpSpPr>
        <p:cxnSp>
          <p:nvCxnSpPr>
            <p:cNvPr id="237" name="直接箭头连接符 39"/>
            <p:cNvCxnSpPr/>
            <p:nvPr/>
          </p:nvCxnSpPr>
          <p:spPr>
            <a:xfrm>
              <a:off x="368110" y="5179493"/>
              <a:ext cx="11025589" cy="0"/>
            </a:xfrm>
            <a:prstGeom prst="straightConnector1">
              <a:avLst/>
            </a:prstGeom>
            <a:noFill/>
            <a:ln w="6350">
              <a:solidFill>
                <a:schemeClr val="accent1"/>
              </a:solidFill>
              <a:miter/>
              <a:tailEnd type="triangle" w="med" len="med"/>
            </a:ln>
          </p:spPr>
        </p:cxnSp>
        <p:sp>
          <p:nvSpPr>
            <p:cNvPr id="238" name="文本框 20"/>
            <p:cNvSpPr txBox="1">
              <a:spLocks noChangeArrowheads="1"/>
            </p:cNvSpPr>
            <p:nvPr/>
          </p:nvSpPr>
          <p:spPr>
            <a:xfrm>
              <a:off x="993734" y="4812781"/>
              <a:ext cx="676275" cy="261539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7/12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9" name="文本框 21"/>
            <p:cNvSpPr txBox="1">
              <a:spLocks noChangeArrowheads="1"/>
            </p:cNvSpPr>
            <p:nvPr/>
          </p:nvSpPr>
          <p:spPr>
            <a:xfrm>
              <a:off x="863800" y="5304038"/>
              <a:ext cx="927100" cy="4728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SR2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计划输出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0" name="文本框 6"/>
            <p:cNvSpPr txBox="1">
              <a:spLocks noChangeArrowheads="1"/>
            </p:cNvSpPr>
            <p:nvPr/>
          </p:nvSpPr>
          <p:spPr>
            <a:xfrm>
              <a:off x="1544083" y="4827068"/>
              <a:ext cx="6921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7/14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1" name="文本框 7"/>
            <p:cNvSpPr txBox="1">
              <a:spLocks noChangeArrowheads="1"/>
            </p:cNvSpPr>
            <p:nvPr/>
          </p:nvSpPr>
          <p:spPr>
            <a:xfrm>
              <a:off x="1470688" y="5306489"/>
              <a:ext cx="854014" cy="4728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SR3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开始摸底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椭圆 39"/>
            <p:cNvSpPr>
              <a:spLocks noChangeArrowheads="1"/>
            </p:cNvSpPr>
            <p:nvPr/>
          </p:nvSpPr>
          <p:spPr>
            <a:xfrm>
              <a:off x="1255425" y="5122343"/>
              <a:ext cx="144462" cy="142875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3" name="椭圆 40"/>
            <p:cNvSpPr>
              <a:spLocks noChangeArrowheads="1"/>
            </p:cNvSpPr>
            <p:nvPr/>
          </p:nvSpPr>
          <p:spPr>
            <a:xfrm>
              <a:off x="1812123" y="5125518"/>
              <a:ext cx="144463" cy="142875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4" name="文本框 9"/>
            <p:cNvSpPr txBox="1">
              <a:spLocks noChangeArrowheads="1"/>
            </p:cNvSpPr>
            <p:nvPr/>
          </p:nvSpPr>
          <p:spPr>
            <a:xfrm>
              <a:off x="3275686" y="4812781"/>
              <a:ext cx="622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8/16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5" name="文本框 13"/>
            <p:cNvSpPr txBox="1">
              <a:spLocks noChangeArrowheads="1"/>
            </p:cNvSpPr>
            <p:nvPr/>
          </p:nvSpPr>
          <p:spPr>
            <a:xfrm>
              <a:off x="3022036" y="5304038"/>
              <a:ext cx="1140313" cy="8729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SR4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预研结项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设计评审通过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en-US" sz="1000" b="1">
                  <a:solidFill>
                    <a:srgbClr val="0432FF"/>
                  </a:solidFill>
                  <a:latin typeface="微软雅黑" panose="020B0503020204020204" charset="-122"/>
                  <a:ea typeface="微软雅黑" panose="020B0503020204020204" charset="-122"/>
                </a:rPr>
                <a:t>NPI</a:t>
              </a:r>
              <a:r>
                <a:rPr lang="zh-CN" sz="1000" b="1">
                  <a:solidFill>
                    <a:srgbClr val="0432FF"/>
                  </a:solidFill>
                  <a:latin typeface="微软雅黑" panose="020B0503020204020204" charset="-122"/>
                  <a:ea typeface="微软雅黑" panose="020B0503020204020204" charset="-122"/>
                </a:rPr>
                <a:t>正式启动</a:t>
              </a:r>
              <a:endParaRPr lang="zh-CN" sz="1000" b="1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6" name="椭圆 43"/>
            <p:cNvSpPr>
              <a:spLocks noChangeArrowheads="1"/>
            </p:cNvSpPr>
            <p:nvPr/>
          </p:nvSpPr>
          <p:spPr>
            <a:xfrm>
              <a:off x="3474731" y="5088654"/>
              <a:ext cx="142875" cy="163864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7" name="文本框 8"/>
            <p:cNvSpPr txBox="1">
              <a:spLocks noChangeArrowheads="1"/>
            </p:cNvSpPr>
            <p:nvPr/>
          </p:nvSpPr>
          <p:spPr>
            <a:xfrm>
              <a:off x="275041" y="4812781"/>
              <a:ext cx="9588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2022/6/25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8" name="文本框 12"/>
            <p:cNvSpPr txBox="1">
              <a:spLocks noChangeArrowheads="1"/>
            </p:cNvSpPr>
            <p:nvPr/>
          </p:nvSpPr>
          <p:spPr>
            <a:xfrm>
              <a:off x="352031" y="5306489"/>
              <a:ext cx="793750" cy="4728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SR1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预研启动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9" name="椭圆 46"/>
            <p:cNvSpPr>
              <a:spLocks noChangeArrowheads="1"/>
            </p:cNvSpPr>
            <p:nvPr/>
          </p:nvSpPr>
          <p:spPr>
            <a:xfrm>
              <a:off x="678995" y="5125518"/>
              <a:ext cx="144462" cy="144463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0" name="文本框 9"/>
            <p:cNvSpPr txBox="1">
              <a:spLocks noChangeArrowheads="1"/>
            </p:cNvSpPr>
            <p:nvPr/>
          </p:nvSpPr>
          <p:spPr>
            <a:xfrm>
              <a:off x="8493233" y="4812642"/>
              <a:ext cx="704508" cy="2615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 anchor="b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12/9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1" name="文本框 13"/>
            <p:cNvSpPr txBox="1">
              <a:spLocks noChangeArrowheads="1"/>
            </p:cNvSpPr>
            <p:nvPr/>
          </p:nvSpPr>
          <p:spPr>
            <a:xfrm>
              <a:off x="8340023" y="5304037"/>
              <a:ext cx="1027724" cy="272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SQA释放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2" name="椭圆 53"/>
            <p:cNvSpPr>
              <a:spLocks noChangeArrowheads="1"/>
            </p:cNvSpPr>
            <p:nvPr/>
          </p:nvSpPr>
          <p:spPr>
            <a:xfrm>
              <a:off x="8786472" y="5109643"/>
              <a:ext cx="144462" cy="14446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3" name="文本框 9"/>
            <p:cNvSpPr txBox="1">
              <a:spLocks noChangeArrowheads="1"/>
            </p:cNvSpPr>
            <p:nvPr/>
          </p:nvSpPr>
          <p:spPr>
            <a:xfrm>
              <a:off x="5358227" y="4821954"/>
              <a:ext cx="673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9/20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4" name="文本框 13"/>
            <p:cNvSpPr txBox="1">
              <a:spLocks noChangeArrowheads="1"/>
            </p:cNvSpPr>
            <p:nvPr/>
          </p:nvSpPr>
          <p:spPr>
            <a:xfrm>
              <a:off x="5154436" y="5310026"/>
              <a:ext cx="1054100" cy="88138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SR4-1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全功能开始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TR4样机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需求关闭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5" name="椭圆 60"/>
            <p:cNvSpPr>
              <a:spLocks noChangeArrowheads="1"/>
            </p:cNvSpPr>
            <p:nvPr/>
          </p:nvSpPr>
          <p:spPr>
            <a:xfrm>
              <a:off x="5609846" y="5108056"/>
              <a:ext cx="144462" cy="144462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6" name="文本框 9"/>
            <p:cNvSpPr txBox="1">
              <a:spLocks noChangeArrowheads="1"/>
            </p:cNvSpPr>
            <p:nvPr/>
          </p:nvSpPr>
          <p:spPr>
            <a:xfrm>
              <a:off x="6588563" y="4812781"/>
              <a:ext cx="622300" cy="26035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10/29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7" name="文本框 13"/>
            <p:cNvSpPr txBox="1">
              <a:spLocks noChangeArrowheads="1"/>
            </p:cNvSpPr>
            <p:nvPr/>
          </p:nvSpPr>
          <p:spPr>
            <a:xfrm>
              <a:off x="6395681" y="5296768"/>
              <a:ext cx="987425" cy="4826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SR4-2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全功能结束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8" name="椭圆 63"/>
            <p:cNvSpPr>
              <a:spLocks noChangeArrowheads="1"/>
            </p:cNvSpPr>
            <p:nvPr/>
          </p:nvSpPr>
          <p:spPr>
            <a:xfrm>
              <a:off x="6817163" y="5095356"/>
              <a:ext cx="144462" cy="14446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9" name="文本框 9"/>
            <p:cNvSpPr txBox="1">
              <a:spLocks noChangeArrowheads="1"/>
            </p:cNvSpPr>
            <p:nvPr/>
          </p:nvSpPr>
          <p:spPr>
            <a:xfrm>
              <a:off x="7375100" y="4807481"/>
              <a:ext cx="730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11/20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0" name="文本框 13"/>
            <p:cNvSpPr txBox="1">
              <a:spLocks noChangeArrowheads="1"/>
            </p:cNvSpPr>
            <p:nvPr/>
          </p:nvSpPr>
          <p:spPr>
            <a:xfrm>
              <a:off x="7269382" y="5305052"/>
              <a:ext cx="1027724" cy="672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SR4A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拉量产分支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en-US" sz="1000">
                  <a:solidFill>
                    <a:srgbClr val="0432FF"/>
                  </a:solidFill>
                  <a:latin typeface="微软雅黑" panose="020B0503020204020204" charset="-122"/>
                  <a:ea typeface="微软雅黑" panose="020B0503020204020204" charset="-122"/>
                </a:rPr>
                <a:t>Beta</a:t>
              </a:r>
              <a:r>
                <a:rPr lang="zh-CN" sz="1000">
                  <a:solidFill>
                    <a:srgbClr val="0432FF"/>
                  </a:solidFill>
                  <a:latin typeface="微软雅黑" panose="020B0503020204020204" charset="-122"/>
                  <a:ea typeface="微软雅黑" panose="020B0503020204020204" charset="-122"/>
                </a:rPr>
                <a:t>测试开始</a:t>
              </a:r>
              <a:endParaRPr lang="zh-CN" sz="100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1" name="椭圆 66"/>
            <p:cNvSpPr>
              <a:spLocks noChangeArrowheads="1"/>
            </p:cNvSpPr>
            <p:nvPr/>
          </p:nvSpPr>
          <p:spPr>
            <a:xfrm>
              <a:off x="7714100" y="5104881"/>
              <a:ext cx="144463" cy="1428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2" name="文本框 9"/>
            <p:cNvSpPr txBox="1">
              <a:spLocks noChangeArrowheads="1"/>
            </p:cNvSpPr>
            <p:nvPr/>
          </p:nvSpPr>
          <p:spPr>
            <a:xfrm>
              <a:off x="9571524" y="4803168"/>
              <a:ext cx="701919" cy="26153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 anchor="b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12/15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3" name="文本框 13"/>
            <p:cNvSpPr txBox="1">
              <a:spLocks noChangeArrowheads="1"/>
            </p:cNvSpPr>
            <p:nvPr/>
          </p:nvSpPr>
          <p:spPr>
            <a:xfrm>
              <a:off x="9385790" y="5304038"/>
              <a:ext cx="1145761" cy="679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SR5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C11G Leading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FQA </a:t>
              </a: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释放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4" name="椭圆 3"/>
            <p:cNvSpPr>
              <a:spLocks noChangeArrowheads="1"/>
            </p:cNvSpPr>
            <p:nvPr/>
          </p:nvSpPr>
          <p:spPr>
            <a:xfrm>
              <a:off x="9835053" y="5117581"/>
              <a:ext cx="169985" cy="149224"/>
            </a:xfrm>
            <a:prstGeom prst="ellipse">
              <a:avLst/>
            </a:prstGeom>
            <a:solidFill>
              <a:srgbClr val="00B0F0">
                <a:alpha val="100000"/>
              </a:srgbClr>
            </a:solidFill>
            <a:ln w="12700">
              <a:solidFill>
                <a:srgbClr val="00B0F0">
                  <a:alpha val="100000"/>
                </a:srgbClr>
              </a:solidFill>
              <a:prstDash val="solid"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5" name="文本框 6"/>
            <p:cNvSpPr txBox="1">
              <a:spLocks noChangeArrowheads="1"/>
            </p:cNvSpPr>
            <p:nvPr/>
          </p:nvSpPr>
          <p:spPr>
            <a:xfrm>
              <a:off x="2265595" y="4824616"/>
              <a:ext cx="7088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7/15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6" name="文本框 7"/>
            <p:cNvSpPr txBox="1">
              <a:spLocks noChangeArrowheads="1"/>
            </p:cNvSpPr>
            <p:nvPr/>
          </p:nvSpPr>
          <p:spPr>
            <a:xfrm>
              <a:off x="2192200" y="5304037"/>
              <a:ext cx="8572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D1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TCL</a:t>
              </a: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板子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ready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7" name="椭圆 40"/>
            <p:cNvSpPr>
              <a:spLocks noChangeArrowheads="1"/>
            </p:cNvSpPr>
            <p:nvPr/>
          </p:nvSpPr>
          <p:spPr>
            <a:xfrm>
              <a:off x="2533635" y="5123066"/>
              <a:ext cx="144463" cy="1428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8" name="文本框 6"/>
            <p:cNvSpPr txBox="1">
              <a:spLocks noChangeArrowheads="1"/>
            </p:cNvSpPr>
            <p:nvPr/>
          </p:nvSpPr>
          <p:spPr>
            <a:xfrm>
              <a:off x="4193490" y="4824616"/>
              <a:ext cx="6921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lIns="91373" tIns="45685" rIns="91373" bIns="45685">
              <a:spAutoFit/>
            </a:bodyPr>
            <a:lstStyle/>
            <a:p>
              <a:pPr lvl="0" algn="ctr"/>
              <a:r>
                <a:rPr lang="en-US" sz="1100">
                  <a:latin typeface="微软雅黑" panose="020B0503020204020204" charset="-122"/>
                  <a:ea typeface="微软雅黑" panose="020B0503020204020204" charset="-122"/>
                </a:rPr>
                <a:t>8/17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9" name="文本框 7"/>
            <p:cNvSpPr txBox="1">
              <a:spLocks noChangeArrowheads="1"/>
            </p:cNvSpPr>
            <p:nvPr/>
          </p:nvSpPr>
          <p:spPr>
            <a:xfrm>
              <a:off x="4120095" y="5304037"/>
              <a:ext cx="8572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373" tIns="45685" rIns="91373" bIns="45685">
              <a:spAutoFit/>
            </a:bodyPr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D2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TR</a:t>
              </a:r>
              <a:r>
                <a:rPr lang="zh-CN" sz="1000">
                  <a:latin typeface="微软雅黑" panose="020B0503020204020204" charset="-122"/>
                  <a:ea typeface="微软雅黑" panose="020B0503020204020204" charset="-122"/>
                </a:rPr>
                <a:t>样机</a:t>
              </a:r>
              <a:endParaRPr lang="zh-CN" sz="10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lvl="0" algn="ctr">
                <a:lnSpc>
                  <a:spcPct val="130000"/>
                </a:lnSpc>
              </a:pPr>
              <a:r>
                <a:rPr lang="en-US" sz="1000">
                  <a:latin typeface="微软雅黑" panose="020B0503020204020204" charset="-122"/>
                  <a:ea typeface="微软雅黑" panose="020B0503020204020204" charset="-122"/>
                </a:rPr>
                <a:t>ready</a:t>
              </a:r>
              <a:endParaRPr lang="en-US" sz="1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0" name="椭圆 40"/>
            <p:cNvSpPr>
              <a:spLocks noChangeArrowheads="1"/>
            </p:cNvSpPr>
            <p:nvPr/>
          </p:nvSpPr>
          <p:spPr>
            <a:xfrm>
              <a:off x="4461530" y="5123066"/>
              <a:ext cx="144463" cy="1428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/>
            <a:lstStyle>
              <a:lvl1pPr lvl="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lvl="1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lvl="2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lvl="3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lvl="4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lvl="5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lvl="6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lvl="7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lvl="8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endParaRPr lang="zh-CN" sz="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1" name="椭圆 40"/>
          <p:cNvSpPr>
            <a:spLocks noChangeArrowheads="1"/>
          </p:cNvSpPr>
          <p:nvPr/>
        </p:nvSpPr>
        <p:spPr>
          <a:xfrm>
            <a:off x="10980457" y="2524981"/>
            <a:ext cx="149422" cy="142873"/>
          </a:xfrm>
          <a:prstGeom prst="ellipse">
            <a:avLst/>
          </a:prstGeom>
          <a:solidFill>
            <a:srgbClr val="FFC000">
              <a:alpha val="100000"/>
            </a:srgbClr>
          </a:solidFill>
          <a:ln w="9525">
            <a:solidFill>
              <a:srgbClr val="FFC000">
                <a:alpha val="100000"/>
              </a:srgbClr>
            </a:solidFill>
          </a:ln>
        </p:spPr>
        <p:txBody>
          <a:bodyPr/>
          <a:lstStyle>
            <a:lvl1pPr lvl="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lvl="1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lvl="2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lvl="3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lvl="4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lvl="5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lvl="6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lvl="7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lvl="8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TextBox 136"/>
          <p:cNvSpPr txBox="1"/>
          <p:nvPr/>
        </p:nvSpPr>
        <p:spPr>
          <a:xfrm>
            <a:off x="11100788" y="2473307"/>
            <a:ext cx="939800" cy="2476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进度延误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节点</a:t>
            </a:r>
            <a:endParaRPr lang="en-US" sz="10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3" name="椭圆 40"/>
          <p:cNvSpPr>
            <a:spLocks noChangeArrowheads="1"/>
          </p:cNvSpPr>
          <p:nvPr/>
        </p:nvSpPr>
        <p:spPr>
          <a:xfrm>
            <a:off x="9136473" y="2532388"/>
            <a:ext cx="149422" cy="14287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/>
          <a:lstStyle>
            <a:lvl1pPr lvl="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lvl="1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lvl="2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lvl="3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lvl="4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lvl="5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lvl="6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lvl="7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lvl="8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TextBox 140"/>
          <p:cNvSpPr txBox="1"/>
          <p:nvPr/>
        </p:nvSpPr>
        <p:spPr>
          <a:xfrm>
            <a:off x="9241539" y="2473307"/>
            <a:ext cx="721576" cy="246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000" dirty="0" smtClean="0"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r>
              <a:rPr lang="en-US" sz="1000" dirty="0" err="1" smtClean="0">
                <a:latin typeface="微软雅黑" panose="020B0503020204020204" charset="-122"/>
                <a:ea typeface="微软雅黑" panose="020B0503020204020204" charset="-122"/>
              </a:rPr>
              <a:t>节点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椭圆 40"/>
          <p:cNvSpPr>
            <a:spLocks noChangeArrowheads="1"/>
          </p:cNvSpPr>
          <p:nvPr/>
        </p:nvSpPr>
        <p:spPr>
          <a:xfrm>
            <a:off x="10087900" y="2544283"/>
            <a:ext cx="149422" cy="142873"/>
          </a:xfrm>
          <a:prstGeom prst="ellipse">
            <a:avLst/>
          </a:prstGeom>
          <a:solidFill>
            <a:srgbClr val="00B0F0">
              <a:alpha val="100000"/>
            </a:srgbClr>
          </a:solidFill>
          <a:ln>
            <a:solidFill>
              <a:srgbClr val="00B0F0">
                <a:alpha val="100000"/>
              </a:srgbClr>
            </a:solidFill>
          </a:ln>
        </p:spPr>
        <p:txBody>
          <a:bodyPr/>
          <a:lstStyle>
            <a:lvl1pPr lvl="0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lvl="1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lvl="2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lvl="3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lvl="4"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lvl="5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lvl="6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lvl="7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lvl="8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endParaRPr lang="zh-CN" sz="8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TextBox 136"/>
          <p:cNvSpPr txBox="1"/>
          <p:nvPr/>
        </p:nvSpPr>
        <p:spPr>
          <a:xfrm>
            <a:off x="10208231" y="2492609"/>
            <a:ext cx="685100" cy="246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>
                <a:latin typeface="微软雅黑" panose="020B0503020204020204" charset="-122"/>
                <a:ea typeface="微软雅黑" panose="020B0503020204020204" charset="-122"/>
              </a:rPr>
              <a:t>NPI节点</a:t>
            </a:r>
            <a:endParaRPr 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-27655" y="1201045"/>
            <a:ext cx="1333314" cy="520700"/>
          </a:xfrm>
        </p:spPr>
        <p:txBody>
          <a:bodyPr>
            <a:spAutoFit/>
          </a:bodyPr>
          <a:lstStyle/>
          <a:p>
            <a:r>
              <a:rPr lang="zh-CN" sz="1400"/>
              <a:t>关键抓手</a:t>
            </a:r>
            <a:r>
              <a:rPr lang="en-US" sz="1400"/>
              <a:t>1</a:t>
            </a:r>
            <a:r>
              <a:rPr lang="zh-CN" sz="1400"/>
              <a:t>：认证里程碑</a:t>
            </a:r>
            <a:endParaRPr lang="zh-CN" sz="1400"/>
          </a:p>
        </p:txBody>
      </p:sp>
      <p:graphicFrame>
        <p:nvGraphicFramePr>
          <p:cNvPr id="278" name="表格 3"/>
          <p:cNvGraphicFramePr/>
          <p:nvPr/>
        </p:nvGraphicFramePr>
        <p:xfrm>
          <a:off x="547088" y="3237236"/>
          <a:ext cx="11019342" cy="2362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400"/>
                <a:gridCol w="1444351"/>
                <a:gridCol w="3233937"/>
                <a:gridCol w="2113685"/>
                <a:gridCol w="1606400"/>
                <a:gridCol w="1014569"/>
              </a:tblGrid>
              <a:tr h="40005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偏差项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偏差描述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995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2"/>
          <p:cNvGrpSpPr/>
          <p:nvPr/>
        </p:nvGrpSpPr>
        <p:grpSpPr>
          <a:xfrm>
            <a:off x="244646" y="1955472"/>
            <a:ext cx="11702708" cy="3168085"/>
            <a:chOff x="244646" y="1955472"/>
            <a:chExt cx="11702708" cy="3168085"/>
          </a:xfrm>
        </p:grpSpPr>
        <p:sp>
          <p:nvSpPr>
            <p:cNvPr id="281" name="Rectangle 3"/>
            <p:cNvSpPr/>
            <p:nvPr/>
          </p:nvSpPr>
          <p:spPr>
            <a:xfrm rot="1907724">
              <a:off x="6684375" y="1955472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82" name="Rectangle 4"/>
            <p:cNvSpPr/>
            <p:nvPr/>
          </p:nvSpPr>
          <p:spPr>
            <a:xfrm rot="1907724">
              <a:off x="3503068" y="2852515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83" name="Rectangle 5"/>
            <p:cNvSpPr/>
            <p:nvPr/>
          </p:nvSpPr>
          <p:spPr>
            <a:xfrm rot="1907724">
              <a:off x="244646" y="4354116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284" name="灯片编号占位符 28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</p:sp>
      <p:sp>
        <p:nvSpPr>
          <p:cNvPr id="285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软件运作代表：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2</a:t>
            </a:r>
            <a:r>
              <a:rPr lang="zh-CN" sz="1400"/>
              <a:t>页内）</a:t>
            </a:r>
            <a:endParaRPr lang="zh-CN" sz="1400"/>
          </a:p>
        </p:txBody>
      </p:sp>
      <p:sp>
        <p:nvSpPr>
          <p:cNvPr id="286" name="主标题为方正兰亭 , 最大30pt"/>
          <p:cNvSpPr txBox="1"/>
          <p:nvPr/>
        </p:nvSpPr>
        <p:spPr>
          <a:xfrm>
            <a:off x="1123472" y="195734"/>
            <a:ext cx="2668905" cy="37338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3.6 </a:t>
            </a:r>
            <a:r>
              <a:rPr lang="zh-CN" sz="2100" b="1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风险管控达成情况</a:t>
            </a:r>
            <a:endParaRPr dirty="0"/>
          </a:p>
        </p:txBody>
      </p:sp>
      <p:graphicFrame>
        <p:nvGraphicFramePr>
          <p:cNvPr id="287" name="表格 5"/>
          <p:cNvGraphicFramePr/>
          <p:nvPr/>
        </p:nvGraphicFramePr>
        <p:xfrm>
          <a:off x="72470" y="1164728"/>
          <a:ext cx="12038657" cy="562229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958050"/>
                <a:gridCol w="1752223"/>
                <a:gridCol w="554661"/>
                <a:gridCol w="579872"/>
                <a:gridCol w="554661"/>
                <a:gridCol w="1103018"/>
                <a:gridCol w="2703971"/>
                <a:gridCol w="787870"/>
                <a:gridCol w="2237552"/>
                <a:gridCol w="806779"/>
              </a:tblGrid>
              <a:tr h="1778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风险类型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风险描述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风险评估</a:t>
                      </a: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)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影响描述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风险应对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/>
                      <a:r>
                        <a:rPr lang="zh-CN" sz="12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资源需求</a:t>
                      </a:r>
                      <a:endParaRPr lang="zh-CN" sz="1200" b="1" i="0" strike="noStrike" spc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/>
                      <a:r>
                        <a:rPr lang="zh-CN" sz="12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达成情况</a:t>
                      </a:r>
                      <a:endParaRPr lang="zh-CN" sz="1200" b="1" i="0" strike="noStrike" spc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6195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发生概率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影响程度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 i="0" u="none" strike="noStrike"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风险等级</a:t>
                      </a:r>
                      <a:endParaRPr lang="zh-CN" sz="1200" b="1" i="0" u="none" strike="noStrike"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5560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代码管控风险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中国海外共仓功能相互影响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endParaRPr lang="zh-CN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L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B7E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、国内海外版本管控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值收敛，海内外量产节奏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、梳理中国海外共仓与非公仓列表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唐攀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2022.9.30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/>
                      <a:r>
                        <a:rPr lang="zh-CN" sz="1000">
                          <a:latin typeface="等线" panose="02010600030101010101" charset="-122"/>
                          <a:ea typeface="微软雅黑" panose="020B0503020204020204" charset="-122"/>
                          <a:cs typeface="+mn-cs"/>
                        </a:rPr>
                        <a:t>风险规避</a:t>
                      </a:r>
                      <a:endParaRPr lang="zh-CN" sz="1000">
                        <a:latin typeface="等线" panose="02010600030101010101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120"/>
                    </a:solidFill>
                  </a:tcPr>
                </a:tc>
              </a:tr>
              <a:tr h="298450"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A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A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B7E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、中国海外功能用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feature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隔开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各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feature owner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A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9A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B7E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、代码入库双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SE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审核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申雪梅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余茂盛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2022.12.30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 rowSpan="3"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STR功能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内销Leading项目需要带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STR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功能，周期短，机器压测数量多，对系统稳定性影响较大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影响项目交付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8.31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号功能开发完成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赖泽平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闫洋洋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2022.12.20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全功能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之前提供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台整机给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SQA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压测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/>
                      <a:r>
                        <a:rPr lang="zh-CN" sz="1000">
                          <a:latin typeface="等线" panose="02010600030101010101" charset="-122"/>
                          <a:ea typeface="微软雅黑" panose="020B0503020204020204" charset="-122"/>
                          <a:cs typeface="+mn-cs"/>
                        </a:rPr>
                        <a:t>风险发生</a:t>
                      </a:r>
                      <a:endParaRPr lang="zh-CN" sz="1000">
                        <a:latin typeface="等线" panose="02010600030101010101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3495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号进入全功能测试和相关稳定性压测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</a:tr>
              <a:tr h="17145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月份问题收敛，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11.20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号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STR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问题清零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</a:tr>
              <a:tr h="444500">
                <a:tc rowSpan="3"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Airplay2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认证进度风险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、中间件与底层对接时间影响，基于安卓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版本海外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Airplay2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认证，极大可能无法满足量产时间，预计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9/30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完成认证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、由于认证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年启动，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Airplay2 SDK 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版本当前不确定，技术风险不定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lvl="0" algn="l"/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影响宣传及卖点达成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Airplay 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在量产前要保证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TCL Server  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功能正常，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Airplay 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功能开发，认证通过直接云端开放功能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严鹏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李丽君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2023.7.30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/>
                      <a:r>
                        <a:rPr lang="zh-CN" sz="1000">
                          <a:latin typeface="等线" panose="02010600030101010101" charset="-122"/>
                          <a:ea typeface="微软雅黑" panose="020B0503020204020204" charset="-122"/>
                          <a:cs typeface="+mn-cs"/>
                        </a:rPr>
                        <a:t>风险接受</a:t>
                      </a:r>
                      <a:r>
                        <a:rPr lang="en-US" sz="1000">
                          <a:latin typeface="等线" panose="02010600030101010101" charset="-122"/>
                          <a:ea typeface="微软雅黑" panose="020B0503020204020204" charset="-122"/>
                          <a:cs typeface="+mn-cs"/>
                        </a:rPr>
                        <a:t>/</a:t>
                      </a:r>
                      <a:r>
                        <a:rPr lang="zh-CN" sz="1000">
                          <a:latin typeface="等线" panose="02010600030101010101" charset="-122"/>
                          <a:ea typeface="微软雅黑" panose="020B0503020204020204" charset="-122"/>
                          <a:cs typeface="+mn-cs"/>
                        </a:rPr>
                        <a:t>忽略</a:t>
                      </a:r>
                      <a:endParaRPr lang="zh-CN" sz="1000">
                        <a:latin typeface="等线" panose="02010600030101010101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alpha val="100000"/>
                      </a:schemeClr>
                    </a:solidFill>
                  </a:tcPr>
                </a:tc>
              </a:tr>
              <a:tr h="32385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月底释放利用船运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-&gt;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到用户这段时间部署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；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57150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日前提前进行美工资料审核（需要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Apple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同意）；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444500">
                <a:tc rowSpan="4"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下一代中间件开发风险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l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下一代中间件完全基于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AOW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适配架构达成共识耗时长，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日下一代中间件交付风险大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CI+/Airplay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认证计划及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NPI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计划</a:t>
                      </a:r>
                      <a:endParaRPr lang="zh-CN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SOC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实现新定义的全部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T-hal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接口（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200+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），基于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AOW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框架的讨论可以并行但不能影响当今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T-hal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接口的实现；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赵德民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2022.9.30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ctr" defTabSz="3937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基础软件部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/MTK/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技术架构部资源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r>
                        <a:rPr lang="zh-CN" sz="1000">
                          <a:latin typeface="等线" panose="02010600030101010101" charset="-122"/>
                          <a:ea typeface="微软雅黑" panose="020B0503020204020204" charset="-122"/>
                          <a:cs typeface="+mn-cs"/>
                        </a:rPr>
                        <a:t>风险缓解</a:t>
                      </a:r>
                      <a:endParaRPr lang="zh-CN" sz="1000">
                        <a:latin typeface="等线" panose="02010600030101010101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51435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、下一代中间件设计需与各厂商协同，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T-hal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的定义需要尽量考虑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AOW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架构上的可实现性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罗阳志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2022.11.30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33655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、技术架构部需要参与下一代中间件架构设计，承担播放器的设计与交付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陈佩斯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2022.11.30</a:t>
                      </a:r>
                      <a:endParaRPr lang="en-US" sz="10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59690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、底线策略：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lvl="0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如果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11.30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下一代中间件评估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51M R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升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风险大则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MT9653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项目需要推动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SOC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实现所有原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FPP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接口（</a:t>
                      </a:r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900+</a:t>
                      </a:r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）；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赵德民</a:t>
                      </a:r>
                      <a:endParaRPr lang="en-US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lvl="0" algn="ctr"/>
                      <a:r>
                        <a:rPr lang="en-US" sz="1000" b="0" i="0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202211.30</a:t>
                      </a:r>
                      <a:endParaRPr lang="zh-CN" sz="1100" b="0" i="0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288" name="折角形 287"/>
          <p:cNvSpPr/>
          <p:nvPr/>
        </p:nvSpPr>
        <p:spPr>
          <a:xfrm>
            <a:off x="8725890" y="574131"/>
            <a:ext cx="3314698" cy="510942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根据立项报告列出的风险管控策略，确认各项风险在项目过程中是否按时解除，或接受</a:t>
            </a:r>
            <a:r>
              <a:rPr lang="en-US" sz="1050"/>
              <a:t>/</a:t>
            </a:r>
            <a:r>
              <a:rPr lang="zh-CN" sz="1050"/>
              <a:t>忽略风险，或缓解了风险，未对项目造成影响</a:t>
            </a:r>
            <a:endParaRPr lang="zh-CN" sz="10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2"/>
          <p:cNvGrpSpPr/>
          <p:nvPr/>
        </p:nvGrpSpPr>
        <p:grpSpPr>
          <a:xfrm>
            <a:off x="244646" y="1955472"/>
            <a:ext cx="11702708" cy="3168085"/>
            <a:chOff x="244646" y="1955472"/>
            <a:chExt cx="11702708" cy="3168085"/>
          </a:xfrm>
        </p:grpSpPr>
        <p:sp>
          <p:nvSpPr>
            <p:cNvPr id="291" name="Rectangle 3"/>
            <p:cNvSpPr/>
            <p:nvPr/>
          </p:nvSpPr>
          <p:spPr>
            <a:xfrm rot="1907724">
              <a:off x="6684375" y="1955472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92" name="Rectangle 4"/>
            <p:cNvSpPr/>
            <p:nvPr/>
          </p:nvSpPr>
          <p:spPr>
            <a:xfrm rot="1907724">
              <a:off x="3503068" y="2852515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93" name="Rectangle 5"/>
            <p:cNvSpPr/>
            <p:nvPr/>
          </p:nvSpPr>
          <p:spPr>
            <a:xfrm rot="1907724">
              <a:off x="244646" y="4354116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 dirty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 dirty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294" name="灯片编号占位符 29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</p:sp>
      <p:sp>
        <p:nvSpPr>
          <p:cNvPr id="295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软件运作代表：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页内）</a:t>
            </a:r>
            <a:endParaRPr lang="zh-CN" sz="1400"/>
          </a:p>
        </p:txBody>
      </p:sp>
      <p:sp>
        <p:nvSpPr>
          <p:cNvPr id="296" name="折角形 295"/>
          <p:cNvSpPr/>
          <p:nvPr/>
        </p:nvSpPr>
        <p:spPr>
          <a:xfrm>
            <a:off x="8725890" y="574131"/>
            <a:ext cx="3314698" cy="510942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根据立项报告列出的风险管控策略，对未解除导致风险已发生的项进行复盘分析</a:t>
            </a:r>
            <a:endParaRPr lang="zh-CN" sz="1050"/>
          </a:p>
        </p:txBody>
      </p:sp>
      <p:sp>
        <p:nvSpPr>
          <p:cNvPr id="297" name="主标题为方正兰亭 , 最大30pt"/>
          <p:cNvSpPr txBox="1"/>
          <p:nvPr/>
        </p:nvSpPr>
        <p:spPr>
          <a:xfrm>
            <a:off x="1123472" y="195734"/>
            <a:ext cx="2668905" cy="37338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 dirty="0" smtClean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3.6 </a:t>
            </a:r>
            <a:r>
              <a:rPr lang="zh-CN" sz="2100" b="1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风险管控偏差分析</a:t>
            </a:r>
            <a:endParaRPr dirty="0"/>
          </a:p>
        </p:txBody>
      </p:sp>
      <p:graphicFrame>
        <p:nvGraphicFramePr>
          <p:cNvPr id="298" name="表格 3"/>
          <p:cNvGraphicFramePr/>
          <p:nvPr/>
        </p:nvGraphicFramePr>
        <p:xfrm>
          <a:off x="465726" y="1203963"/>
          <a:ext cx="11055350" cy="2870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6550"/>
                <a:gridCol w="1587500"/>
                <a:gridCol w="3079750"/>
                <a:gridCol w="2692400"/>
                <a:gridCol w="1136650"/>
                <a:gridCol w="952500"/>
              </a:tblGrid>
              <a:tr h="381000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风险未按时解除的项</a:t>
                      </a:r>
                      <a:endParaRPr lang="zh-CN" sz="1400" b="1" i="0" strike="noStrike" spc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因风险未按时解除带来的影响描述</a:t>
                      </a:r>
                      <a:endParaRPr lang="zh-CN" sz="1400" b="1" i="0" strike="noStrike" spc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风险管控措施未生效的根因分析</a:t>
                      </a:r>
                      <a:endParaRPr lang="zh-CN" sz="1400" b="1" i="0" strike="noStrike" spc="0">
                        <a:solidFill>
                          <a:srgbClr val="FFFFF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  <a:buNone/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r>
                        <a:rPr lang="zh-CN" sz="1400" b="1" i="0" strike="noStrike" spc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400" b="1" i="0" strike="noStrike" spc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lvl="0" algn="ctr"/>
                      <a:endParaRPr lang="en-US" sz="1200" b="1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buNone/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30000"/>
                        </a:lnSpc>
                      </a:pPr>
                      <a:endParaRPr lang="zh-CN" sz="1200" b="1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</a:pPr>
                      <a:endParaRPr lang="zh-CN" sz="1200" b="0" i="0" strike="noStrike" spc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644" marR="25644" marT="17951" marB="17951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9DF44E7-393C-41BE-B203-AC6F3DF80C97}" type="slidenum">
              <a:rPr/>
            </a:fld>
            <a:endParaRPr lang="zh-CN"/>
          </a:p>
        </p:txBody>
      </p:sp>
      <p:sp>
        <p:nvSpPr>
          <p:cNvPr id="301" name="矩形 2"/>
          <p:cNvSpPr/>
          <p:nvPr/>
        </p:nvSpPr>
        <p:spPr>
          <a:xfrm>
            <a:off x="4697219" y="2912181"/>
            <a:ext cx="2616200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+mn-cs"/>
              </a:rPr>
              <a:t>四、资源预算</a:t>
            </a:r>
            <a:endParaRPr lang="zh-CN" sz="32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02" name="矩形 3"/>
          <p:cNvSpPr/>
          <p:nvPr/>
        </p:nvSpPr>
        <p:spPr>
          <a:xfrm>
            <a:off x="4684863" y="3517664"/>
            <a:ext cx="2717800" cy="393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2000">
                <a:latin typeface="微软雅黑" panose="020B0503020204020204" charset="-122"/>
                <a:ea typeface="微软雅黑" panose="020B0503020204020204" charset="-122"/>
                <a:cs typeface="+mn-cs"/>
              </a:rPr>
              <a:t>资源预算执行偏差分析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5A9FA8-E300-469C-B36E-F85BF2F321AE}" type="slidenum">
              <a:rPr/>
            </a:fld>
            <a:endParaRPr lang="zh-CN"/>
          </a:p>
        </p:txBody>
      </p:sp>
      <p:sp>
        <p:nvSpPr>
          <p:cNvPr id="305" name="主标题为方正兰亭 , 最大30pt"/>
          <p:cNvSpPr txBox="1"/>
          <p:nvPr/>
        </p:nvSpPr>
        <p:spPr>
          <a:xfrm>
            <a:off x="1141944" y="195099"/>
            <a:ext cx="36830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en-US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4.1 软件资源</a:t>
            </a: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预算执行偏差分析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06" name="Group 2"/>
          <p:cNvGrpSpPr/>
          <p:nvPr/>
        </p:nvGrpSpPr>
        <p:grpSpPr>
          <a:xfrm>
            <a:off x="244646" y="1955472"/>
            <a:ext cx="11702708" cy="3168085"/>
            <a:chOff x="244646" y="1955472"/>
            <a:chExt cx="11702708" cy="3168085"/>
          </a:xfrm>
        </p:grpSpPr>
        <p:sp>
          <p:nvSpPr>
            <p:cNvPr id="307" name="Rectangle 3"/>
            <p:cNvSpPr/>
            <p:nvPr/>
          </p:nvSpPr>
          <p:spPr>
            <a:xfrm rot="1907724">
              <a:off x="6684375" y="1955472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08" name="Rectangle 4"/>
            <p:cNvSpPr/>
            <p:nvPr/>
          </p:nvSpPr>
          <p:spPr>
            <a:xfrm rot="1907724">
              <a:off x="3503068" y="2852515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09" name="Rectangle 5"/>
            <p:cNvSpPr/>
            <p:nvPr/>
          </p:nvSpPr>
          <p:spPr>
            <a:xfrm rot="1907724">
              <a:off x="244646" y="4354116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310" name="表格 8"/>
          <p:cNvGraphicFramePr/>
          <p:nvPr/>
        </p:nvGraphicFramePr>
        <p:xfrm>
          <a:off x="937260" y="1420495"/>
          <a:ext cx="10318115" cy="1060450"/>
        </p:xfrm>
        <a:graphic>
          <a:graphicData uri="http://schemas.openxmlformats.org/drawingml/2006/table">
            <a:tbl>
              <a:tblPr/>
              <a:tblGrid>
                <a:gridCol w="746125"/>
                <a:gridCol w="1644015"/>
                <a:gridCol w="767080"/>
                <a:gridCol w="714375"/>
                <a:gridCol w="581025"/>
                <a:gridCol w="483235"/>
                <a:gridCol w="471170"/>
                <a:gridCol w="577850"/>
                <a:gridCol w="775335"/>
                <a:gridCol w="762635"/>
                <a:gridCol w="618490"/>
                <a:gridCol w="626110"/>
                <a:gridCol w="629920"/>
                <a:gridCol w="513715"/>
                <a:gridCol w="407035"/>
              </a:tblGrid>
              <a:tr h="69215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Project</a:t>
                      </a:r>
                      <a:endParaRPr lang="en-US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Plan Sum</a:t>
                      </a:r>
                      <a:endParaRPr lang="en-US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（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单位：人月）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8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9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10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11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12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</a:t>
                      </a:r>
                      <a:r>
                        <a:rPr lang="zh-CN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月</a:t>
                      </a:r>
                      <a:endParaRPr lang="zh-CN" sz="1400" b="1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4月</a:t>
                      </a:r>
                      <a:endParaRPr lang="en-US" sz="1400" b="1" i="0" u="none" strike="noStrike">
                        <a:solidFill>
                          <a:srgbClr val="FFFFFF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5月</a:t>
                      </a:r>
                      <a:endParaRPr lang="en-US" sz="1400" b="1" i="0" u="none" strike="noStrike">
                        <a:solidFill>
                          <a:srgbClr val="FFFFFF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6月</a:t>
                      </a:r>
                      <a:endParaRPr lang="en-US" sz="1400" b="1" i="0" u="none" strike="noStrike">
                        <a:solidFill>
                          <a:srgbClr val="FFFFFF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7月</a:t>
                      </a:r>
                      <a:endParaRPr lang="en-US" sz="1400" b="1" i="0" u="none" strike="noStrike">
                        <a:solidFill>
                          <a:srgbClr val="FFFFFF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8月</a:t>
                      </a:r>
                      <a:endParaRPr lang="en-US" sz="1400" b="1" i="0" u="none" strike="noStrike">
                        <a:solidFill>
                          <a:srgbClr val="FFFFFF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MT9653-</a:t>
                      </a:r>
                      <a:r>
                        <a:rPr lang="zh-CN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海外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515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28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30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30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35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40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40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43</a:t>
                      </a:r>
                      <a:endParaRPr lang="zh-CN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50</a:t>
                      </a:r>
                      <a:endParaRPr lang="en-US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50</a:t>
                      </a:r>
                      <a:endParaRPr lang="en-US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50</a:t>
                      </a:r>
                      <a:endParaRPr lang="en-US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43</a:t>
                      </a:r>
                      <a:endParaRPr lang="en-US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>
                            <a:alpha val="100000"/>
                          </a:srgbClr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1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软件运作代表：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312" name="折角形 311"/>
          <p:cNvSpPr/>
          <p:nvPr/>
        </p:nvSpPr>
        <p:spPr>
          <a:xfrm>
            <a:off x="8725890" y="574131"/>
            <a:ext cx="3314698" cy="510942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需要经过泛智屏业务线</a:t>
            </a:r>
            <a:r>
              <a:rPr lang="en-US" sz="1050"/>
              <a:t>PMO</a:t>
            </a:r>
            <a:r>
              <a:rPr lang="zh-CN" sz="1050"/>
              <a:t>的审核后，由软件运作代表对偏差项进行复盘分析</a:t>
            </a:r>
            <a:endParaRPr lang="zh-CN" sz="1050"/>
          </a:p>
        </p:txBody>
      </p:sp>
      <p:graphicFrame>
        <p:nvGraphicFramePr>
          <p:cNvPr id="313" name="表格 2"/>
          <p:cNvGraphicFramePr/>
          <p:nvPr/>
        </p:nvGraphicFramePr>
        <p:xfrm>
          <a:off x="757380" y="2817090"/>
          <a:ext cx="11146972" cy="3632200"/>
        </p:xfrm>
        <a:graphic>
          <a:graphicData uri="http://schemas.openxmlformats.org/drawingml/2006/table">
            <a:tbl>
              <a:tblPr/>
              <a:tblGrid>
                <a:gridCol w="920933"/>
                <a:gridCol w="711200"/>
                <a:gridCol w="622300"/>
                <a:gridCol w="1282700"/>
                <a:gridCol w="1885950"/>
                <a:gridCol w="1907963"/>
                <a:gridCol w="1907963"/>
                <a:gridCol w="1907963"/>
              </a:tblGrid>
              <a:tr h="342900"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费用科目</a:t>
                      </a:r>
                      <a:endParaRPr lang="zh-CN" sz="1400" b="1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费用预算（万元）</a:t>
                      </a:r>
                      <a:endParaRPr lang="zh-CN" sz="1400" b="1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费用实际</a:t>
                      </a:r>
                      <a:r>
                        <a:rPr lang="en-US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sz="1100" b="1" i="0" strike="noStrike" spc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费用详情说明</a:t>
                      </a:r>
                      <a:endParaRPr lang="zh-CN" sz="1400" b="1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根因分析</a:t>
                      </a:r>
                      <a:endParaRPr lang="zh-CN" sz="1100" b="1" i="0" strike="noStrike" spc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改善措施</a:t>
                      </a:r>
                      <a:endParaRPr lang="zh-CN" sz="1100" b="1" i="0" strike="noStrike" spc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  <a:endParaRPr lang="zh-CN" sz="1100" b="1" i="0" strike="noStrike" spc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CN" sz="1100" b="1" i="0" strike="noStrike" spc="0">
                          <a:solidFill>
                            <a:srgbClr val="FFFFFF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sz="1100" b="1" i="0" strike="noStrike" spc="0">
                        <a:solidFill>
                          <a:srgbClr val="FFFFFF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ctr"/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人力费用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465</a:t>
                      </a:r>
                      <a:endParaRPr lang="zh-CN" sz="14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人月：</a:t>
                      </a:r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150</a:t>
                      </a:r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人月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zh-CN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zh-CN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algn="ctr"/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材料费用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90.5</a:t>
                      </a:r>
                      <a:endParaRPr lang="zh-CN" sz="14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单板：</a:t>
                      </a:r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450</a:t>
                      </a:r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台（单价：</a:t>
                      </a:r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350</a:t>
                      </a:r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元</a:t>
                      </a:r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台）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整机：</a:t>
                      </a:r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115</a:t>
                      </a:r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台（单价</a:t>
                      </a:r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6500/</a:t>
                      </a:r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台）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zh-CN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algn="ctr"/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认证费用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zh-CN" sz="14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zh-CN" sz="14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国内运费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zh-CN" sz="14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给</a:t>
                      </a:r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MTK</a:t>
                      </a:r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、西安、邮寄样机及物资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zh-CN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zh-CN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差旅费</a:t>
                      </a:r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zh-CN" sz="14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US" sz="1200" b="1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sz="12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r>
                        <a:rPr lang="en-US" sz="1200" b="0" i="0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endParaRPr lang="zh-CN" sz="1400" b="0" i="0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anchor="b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sz="1200">
                        <a:solidFill>
                          <a:srgbClr val="000000"/>
                        </a:solidFill>
                        <a:ea typeface="微软雅黑" panose="020B0503020204020204" charset="-122"/>
                      </a:endParaRPr>
                    </a:p>
                  </a:txBody>
                  <a:tcPr marL="6350" marR="6350" marT="6350" anchor="ctr">
                    <a:lnL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77185D-0683-4156-95A1-9D039145E844}" type="slidenum">
              <a:rPr/>
            </a:fld>
            <a:endParaRPr lang="zh-CN"/>
          </a:p>
        </p:txBody>
      </p:sp>
      <p:sp>
        <p:nvSpPr>
          <p:cNvPr id="316" name="矩形 2"/>
          <p:cNvSpPr/>
          <p:nvPr/>
        </p:nvSpPr>
        <p:spPr>
          <a:xfrm>
            <a:off x="4697219" y="2912181"/>
            <a:ext cx="3429000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+mn-cs"/>
              </a:rPr>
              <a:t>五、上市保障计划</a:t>
            </a:r>
            <a:endParaRPr lang="zh-CN" sz="32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17" name="矩形 3"/>
          <p:cNvSpPr/>
          <p:nvPr/>
        </p:nvSpPr>
        <p:spPr>
          <a:xfrm>
            <a:off x="4684863" y="3517664"/>
            <a:ext cx="2971800" cy="393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后续计划、上市保障计划</a:t>
            </a:r>
            <a:endParaRPr lang="zh-CN" sz="2000" b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6D76D12-F890-4050-BAB5-35AF4AF0995D}" type="slidenum">
              <a:rPr/>
            </a:fld>
            <a:endParaRPr lang="zh-CN"/>
          </a:p>
        </p:txBody>
      </p:sp>
      <p:sp>
        <p:nvSpPr>
          <p:cNvPr id="324" name="主标题为方正兰亭 , 最大30pt"/>
          <p:cNvSpPr txBox="1"/>
          <p:nvPr/>
        </p:nvSpPr>
        <p:spPr>
          <a:xfrm>
            <a:off x="1123472" y="195099"/>
            <a:ext cx="16510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上市保障计划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25" name="Group 2"/>
          <p:cNvGrpSpPr/>
          <p:nvPr/>
        </p:nvGrpSpPr>
        <p:grpSpPr>
          <a:xfrm>
            <a:off x="244646" y="1955472"/>
            <a:ext cx="11702708" cy="3168085"/>
            <a:chOff x="244646" y="1955472"/>
            <a:chExt cx="11702708" cy="3168085"/>
          </a:xfrm>
        </p:grpSpPr>
        <p:sp>
          <p:nvSpPr>
            <p:cNvPr id="326" name="Rectangle 3"/>
            <p:cNvSpPr/>
            <p:nvPr/>
          </p:nvSpPr>
          <p:spPr>
            <a:xfrm rot="1907724">
              <a:off x="6684375" y="1955472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27" name="Rectangle 4"/>
            <p:cNvSpPr/>
            <p:nvPr/>
          </p:nvSpPr>
          <p:spPr>
            <a:xfrm rot="1907724">
              <a:off x="3503068" y="2852515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28" name="Rectangle 5"/>
            <p:cNvSpPr/>
            <p:nvPr/>
          </p:nvSpPr>
          <p:spPr>
            <a:xfrm rot="1907724">
              <a:off x="244646" y="4354116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329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软件运作代表：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330" name="折角形 329"/>
          <p:cNvSpPr/>
          <p:nvPr/>
        </p:nvSpPr>
        <p:spPr>
          <a:xfrm>
            <a:off x="8725890" y="574131"/>
            <a:ext cx="3314698" cy="565514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后续上市保障计划，保障项目价值落地到用户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必须包含在线</a:t>
            </a:r>
            <a:r>
              <a:rPr lang="en-US" sz="1050"/>
              <a:t>NPS</a:t>
            </a:r>
            <a:r>
              <a:rPr lang="zh-CN" sz="1050"/>
              <a:t>调研计划、</a:t>
            </a:r>
            <a:r>
              <a:rPr lang="en-US" sz="1050"/>
              <a:t>LMT</a:t>
            </a:r>
            <a:r>
              <a:rPr lang="zh-CN" sz="1050"/>
              <a:t>相关关键动作</a:t>
            </a:r>
            <a:endParaRPr lang="zh-CN" sz="10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77185D-0683-4156-95A1-9D039145E844}" type="slidenum">
              <a:rPr/>
            </a:fld>
            <a:endParaRPr lang="zh-CN"/>
          </a:p>
        </p:txBody>
      </p:sp>
      <p:sp>
        <p:nvSpPr>
          <p:cNvPr id="333" name="矩形 2"/>
          <p:cNvSpPr/>
          <p:nvPr/>
        </p:nvSpPr>
        <p:spPr>
          <a:xfrm>
            <a:off x="4697219" y="2912181"/>
            <a:ext cx="3429000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+mn-cs"/>
              </a:rPr>
              <a:t>六、知识沉淀汇总</a:t>
            </a:r>
            <a:endParaRPr lang="zh-CN" sz="320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幻灯片编号占位符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99E37A4-167A-452B-B4D1-8F3E642C54E2}" type="slidenum">
              <a:rPr/>
            </a:fld>
            <a:endParaRPr lang="zh-CN"/>
          </a:p>
        </p:txBody>
      </p:sp>
      <p:sp>
        <p:nvSpPr>
          <p:cNvPr id="336" name="主标题为方正兰亭 , 最大30pt"/>
          <p:cNvSpPr txBox="1"/>
          <p:nvPr/>
        </p:nvSpPr>
        <p:spPr>
          <a:xfrm>
            <a:off x="1123472" y="195099"/>
            <a:ext cx="1651000" cy="374650"/>
          </a:xfrm>
          <a:prstGeom prst="rect">
            <a:avLst/>
          </a:prstGeom>
          <a:ln w="12700">
            <a:miter/>
          </a:ln>
        </p:spPr>
        <p:txBody>
          <a:bodyPr wrap="none" lIns="25400" tIns="25400" rIns="25400" bIns="25400" anchor="ctr">
            <a:spAutoFit/>
          </a:bodyPr>
          <a:lstStyle/>
          <a:p>
            <a:pPr defTabSz="205740">
              <a:defRPr sz="6000" b="1">
                <a:solidFill>
                  <a:srgbClr val="5E5E5E">
                    <a:alpha val="100000"/>
                  </a:srgbClr>
                </a:solidFill>
                <a:latin typeface="Helvetica"/>
                <a:ea typeface="Helvetica"/>
                <a:cs typeface="+mn-cs"/>
              </a:defRPr>
            </a:pPr>
            <a:r>
              <a:rPr lang="zh-CN" sz="2100" b="1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知识沉淀汇总</a:t>
            </a:r>
            <a:endParaRPr lang="zh-CN" sz="2100" b="1">
              <a:solidFill>
                <a:srgbClr val="FF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37" name="Group 4"/>
          <p:cNvGrpSpPr/>
          <p:nvPr/>
        </p:nvGrpSpPr>
        <p:grpSpPr>
          <a:xfrm>
            <a:off x="244646" y="1955472"/>
            <a:ext cx="11702708" cy="3168085"/>
            <a:chOff x="244646" y="1955472"/>
            <a:chExt cx="11702708" cy="3168085"/>
          </a:xfrm>
        </p:grpSpPr>
        <p:sp>
          <p:nvSpPr>
            <p:cNvPr id="338" name="Rectangle 5"/>
            <p:cNvSpPr/>
            <p:nvPr/>
          </p:nvSpPr>
          <p:spPr>
            <a:xfrm rot="1907724">
              <a:off x="6684375" y="1955472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39" name="Rectangle 6"/>
            <p:cNvSpPr/>
            <p:nvPr/>
          </p:nvSpPr>
          <p:spPr>
            <a:xfrm rot="1907724">
              <a:off x="3503068" y="2852515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40" name="Rectangle 7"/>
            <p:cNvSpPr/>
            <p:nvPr/>
          </p:nvSpPr>
          <p:spPr>
            <a:xfrm rot="1907724">
              <a:off x="244646" y="4354116"/>
              <a:ext cx="5262979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机密文件</a:t>
              </a:r>
              <a:r>
                <a:rPr lang="zh-CN" sz="4400" b="0" spc="0">
                  <a:ln w="0"/>
                  <a:solidFill>
                    <a:schemeClr val="tx1">
                      <a:alpha val="31000"/>
                      <a:lumMod val="50000"/>
                      <a:lumOff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，请勿外发</a:t>
              </a:r>
              <a:endParaRPr lang="en-US" sz="4400" b="0" spc="0">
                <a:ln w="0"/>
                <a:solidFill>
                  <a:schemeClr val="tx1">
                    <a:alpha val="31000"/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341" name="文本框 4"/>
          <p:cNvSpPr txBox="1"/>
          <p:nvPr/>
        </p:nvSpPr>
        <p:spPr>
          <a:xfrm>
            <a:off x="8725890" y="199481"/>
            <a:ext cx="2743200" cy="304800"/>
          </a:xfrm>
          <a:prstGeom prst="rect">
            <a:avLst/>
          </a:prstGeom>
          <a:solidFill>
            <a:schemeClr val="bg1">
              <a:alpha val="10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1400"/>
              <a:t>软件开发代表：</a:t>
            </a:r>
            <a:r>
              <a:rPr lang="en-US" sz="1400"/>
              <a:t>xx</a:t>
            </a:r>
            <a:r>
              <a:rPr lang="zh-CN" sz="1400"/>
              <a:t>输出（</a:t>
            </a:r>
            <a:r>
              <a:rPr lang="en-US" sz="1400"/>
              <a:t>1</a:t>
            </a:r>
            <a:r>
              <a:rPr lang="zh-CN" sz="1400"/>
              <a:t>页）</a:t>
            </a:r>
            <a:endParaRPr lang="zh-CN" sz="1400"/>
          </a:p>
        </p:txBody>
      </p:sp>
      <p:sp>
        <p:nvSpPr>
          <p:cNvPr id="342" name="折角形 341"/>
          <p:cNvSpPr/>
          <p:nvPr/>
        </p:nvSpPr>
        <p:spPr>
          <a:xfrm>
            <a:off x="8725890" y="574131"/>
            <a:ext cx="3314698" cy="565514"/>
          </a:xfrm>
          <a:prstGeom prst="foldedCorner">
            <a:avLst/>
          </a:prstGeom>
          <a:solidFill>
            <a:schemeClr val="bg1">
              <a:alpha val="100000"/>
            </a:schemeClr>
          </a:solidFill>
          <a:ln w="9525">
            <a:solidFill>
              <a:schemeClr val="bg1">
                <a:lumMod val="85000"/>
                <a:alpha val="100000"/>
              </a:schemeClr>
            </a:solidFill>
            <a:prstDash val="solid"/>
            <a:miter lim="800000"/>
          </a:ln>
        </p:spPr>
        <p:txBody>
          <a:bodyPr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按流程机制、标准规范、团队能力等纬度汇总沉淀</a:t>
            </a:r>
            <a:endParaRPr lang="zh-CN" sz="105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CN" sz="1050"/>
              <a:t>能够沉淀推广，保障协作更加顺畅，风险更加可控，项目开发更加有序</a:t>
            </a:r>
            <a:endParaRPr lang="zh-CN" sz="10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矩形 1"/>
          <p:cNvSpPr/>
          <p:nvPr/>
        </p:nvSpPr>
        <p:spPr>
          <a:xfrm>
            <a:off x="8343186" y="6111102"/>
            <a:ext cx="19078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sz="1200">
                <a:solidFill>
                  <a:srgbClr val="898989"/>
                </a:solidFill>
                <a:latin typeface="FZLanTingHei-M-GBK"/>
                <a:ea typeface="FZLanTingHei-M-GBK"/>
              </a:rPr>
              <a:t>Speaker name and title</a:t>
            </a:r>
            <a:endParaRPr lang="zh-CN" sz="1200">
              <a:solidFill>
                <a:srgbClr val="898989"/>
              </a:solidFill>
              <a:latin typeface="FZLanTingHei-M-GBK"/>
              <a:ea typeface="FZLanTingHei-M-GBK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34*439"/>
  <p:tag name="TABLE_ENDDRAG_RECT" val="12*73*934*43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9563</Words>
  <Application>WPS 演示</Application>
  <PresentationFormat>宽屏</PresentationFormat>
  <Paragraphs>1661</Paragraphs>
  <Slides>35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Arial</vt:lpstr>
      <vt:lpstr>宋体</vt:lpstr>
      <vt:lpstr>Wingdings</vt:lpstr>
      <vt:lpstr>FZLanTingHei-M-GBK</vt:lpstr>
      <vt:lpstr>Segoe Print</vt:lpstr>
      <vt:lpstr>微软雅黑</vt:lpstr>
      <vt:lpstr>Helvetica</vt:lpstr>
      <vt:lpstr>FZLanTingHei-M-GBK</vt:lpstr>
      <vt:lpstr>Wingdings</vt:lpstr>
      <vt:lpstr>Helvetica Neue</vt:lpstr>
      <vt:lpstr>等线</vt:lpstr>
      <vt:lpstr>微软雅黑 Light</vt:lpstr>
      <vt:lpstr>Arial</vt:lpstr>
      <vt:lpstr>华文细黑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许琴琴</dc:creator>
  <cp:lastModifiedBy>admin</cp:lastModifiedBy>
  <cp:revision>6</cp:revision>
  <dcterms:created xsi:type="dcterms:W3CDTF">2024-05-25T14:30:00Z</dcterms:created>
  <dcterms:modified xsi:type="dcterms:W3CDTF">2025-11-24T12:33:49Z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2109B7BC9288456FAAA02DEC035A3236_12</vt:lpwstr>
  </property>
  <property fmtid="{D5CDD505-2E9C-101B-9397-08002B2CF9AE}" pid="3" name="KSOProductBuildVer">
    <vt:lpwstr>2052-12.1.0.23542</vt:lpwstr>
  </property>
</Properties>
</file>