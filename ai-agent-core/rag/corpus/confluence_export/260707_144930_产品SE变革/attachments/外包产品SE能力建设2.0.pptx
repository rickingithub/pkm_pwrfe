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1"/>
    <p:sldMasterId id="2147483654" r:id="rId2"/>
  </p:sldMasterIdLst>
  <p:notesMasterIdLst>
    <p:notesMasterId r:id="rId7"/>
  </p:notesMasterIdLst>
  <p:sldIdLst>
    <p:sldId id="263" r:id="rId3"/>
    <p:sldId id="345" r:id="rId4"/>
    <p:sldId id="353" r:id="rId5"/>
    <p:sldId id="267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7341" userDrawn="1">
          <p15:clr>
            <a:srgbClr val="A4A3A4"/>
          </p15:clr>
        </p15:guide>
        <p15:guide id="3" pos="454" userDrawn="1">
          <p15:clr>
            <a:srgbClr val="A4A3A4"/>
          </p15:clr>
        </p15:guide>
        <p15:guide id="4" pos="37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8DC"/>
    <a:srgbClr val="6339C1"/>
    <a:srgbClr val="E1D1E2"/>
    <a:srgbClr val="0000FF"/>
    <a:srgbClr val="ED7D31"/>
    <a:srgbClr val="006699"/>
    <a:srgbClr val="336699"/>
    <a:srgbClr val="959595"/>
    <a:srgbClr val="00FF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5" autoAdjust="0"/>
    <p:restoredTop sz="95837" autoAdjust="0"/>
  </p:normalViewPr>
  <p:slideViewPr>
    <p:cSldViewPr snapToGrid="0" snapToObjects="1" showGuides="1">
      <p:cViewPr varScale="1">
        <p:scale>
          <a:sx n="156" d="100"/>
          <a:sy n="156" d="100"/>
        </p:scale>
        <p:origin x="1236" y="138"/>
      </p:cViewPr>
      <p:guideLst>
        <p:guide orient="horz" pos="2171"/>
        <p:guide pos="7341"/>
        <p:guide pos="454"/>
        <p:guide pos="37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DC459-2FDE-384B-BC4D-E0C5A62CC535}" type="datetimeFigureOut">
              <a:rPr kumimoji="1" lang="zh-CN" altLang="en-US" smtClean="0"/>
              <a:t>2024/1/10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F79E-B6B7-534B-AAEE-1F443B7D50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08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8" name="组合 12"/>
          <p:cNvGrpSpPr/>
          <p:nvPr userDrawn="1"/>
        </p:nvGrpSpPr>
        <p:grpSpPr>
          <a:xfrm>
            <a:off x="0" y="0"/>
            <a:ext cx="3200400" cy="901700"/>
            <a:chOff x="0" y="0"/>
            <a:chExt cx="3200400" cy="901700"/>
          </a:xfrm>
        </p:grpSpPr>
        <p:pic>
          <p:nvPicPr>
            <p:cNvPr id="9" name="图片 8" descr="图片包含 图形用户界面&#10;&#10;描述已自动生成"/>
            <p:cNvPicPr>
              <a:picLocks noChangeAspect="1"/>
            </p:cNvPicPr>
            <p:nvPr/>
          </p:nvPicPr>
          <p:blipFill rotWithShape="1">
            <a:blip r:embed="rId2"/>
            <a:srcRect r="68049"/>
            <a:stretch>
              <a:fillRect/>
            </a:stretch>
          </p:blipFill>
          <p:spPr>
            <a:xfrm>
              <a:off x="0" y="0"/>
              <a:ext cx="1022559" cy="90170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0" name="直线连接符 9"/>
            <p:cNvCxnSpPr/>
            <p:nvPr/>
          </p:nvCxnSpPr>
          <p:spPr>
            <a:xfrm>
              <a:off x="1108710" y="593368"/>
              <a:ext cx="209169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 descr="徽标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800" y="2997198"/>
            <a:ext cx="1231900" cy="863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徽标, 公司名称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8600" y="2441487"/>
            <a:ext cx="1574800" cy="17526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10570040" y="6111102"/>
            <a:ext cx="11272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 err="1">
                <a:solidFill>
                  <a:srgbClr val="898989"/>
                </a:solidFill>
                <a:latin typeface="FZLanTingHei-M-GBK" panose="02000000000000000000" pitchFamily="2" charset="-122"/>
                <a:ea typeface="FZLanTingHei-M-GBK" panose="02000000000000000000" pitchFamily="2" charset="-122"/>
              </a:rPr>
              <a:t>www.tcl.com</a:t>
            </a:r>
            <a:endParaRPr lang="zh-CN" altLang="en-US" sz="1200" dirty="0">
              <a:solidFill>
                <a:srgbClr val="898989"/>
              </a:solidFill>
              <a:latin typeface="FZLanTingHei-M-GBK" panose="02000000000000000000" pitchFamily="2" charset="-122"/>
              <a:ea typeface="FZLanTingHei-M-GBK" panose="020000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942228" y="6356350"/>
            <a:ext cx="2743200" cy="365125"/>
          </a:xfrm>
        </p:spPr>
        <p:txBody>
          <a:bodyPr/>
          <a:lstStyle/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646" y="-1"/>
            <a:ext cx="2079120" cy="601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E292F-1EBE-6D4A-B339-A324D614A3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主标题为方正兰亭 , 最大30pt"/>
          <p:cNvSpPr txBox="1"/>
          <p:nvPr/>
        </p:nvSpPr>
        <p:spPr>
          <a:xfrm>
            <a:off x="740175" y="3464320"/>
            <a:ext cx="5795096" cy="51296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外包产品</a:t>
            </a:r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SE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charset="-122"/>
                <a:sym typeface="+mn-lt"/>
              </a:rPr>
              <a:t>能力建设</a:t>
            </a:r>
            <a:endParaRPr lang="zh-CN" altLang="en-US" sz="30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" name="副标题字体为方正兰亭, 14pt"/>
          <p:cNvSpPr txBox="1"/>
          <p:nvPr/>
        </p:nvSpPr>
        <p:spPr>
          <a:xfrm>
            <a:off x="740174" y="4606304"/>
            <a:ext cx="51361" cy="31290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defTabSz="210820">
              <a:defRPr sz="2800" b="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17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ZLanTingHei-M-GBK" panose="02000000000000000000" pitchFamily="2" charset="-122"/>
            </a:endParaRPr>
          </a:p>
        </p:txBody>
      </p:sp>
      <p:sp>
        <p:nvSpPr>
          <p:cNvPr id="5" name="Helvetica 常规体 8pt"/>
          <p:cNvSpPr txBox="1"/>
          <p:nvPr/>
        </p:nvSpPr>
        <p:spPr>
          <a:xfrm>
            <a:off x="740174" y="4918227"/>
            <a:ext cx="3418025" cy="29565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>
            <a:lvl1pPr algn="l" defTabSz="421640">
              <a:defRPr sz="1600" b="0" cap="all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2024-01-11</a:t>
            </a:r>
            <a:endParaRPr lang="en-GB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87" y="1118301"/>
            <a:ext cx="2646628" cy="608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5" name="主标题为方正兰亭 , 最大30pt"/>
          <p:cNvSpPr txBox="1"/>
          <p:nvPr/>
        </p:nvSpPr>
        <p:spPr>
          <a:xfrm>
            <a:off x="1083197" y="226288"/>
            <a:ext cx="3697458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 defTabSz="206375">
              <a:defRPr sz="60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D1.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外包产品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SE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能力建设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-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目标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0048" y="892498"/>
            <a:ext cx="9229917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现状分析：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在员工激励方面没有形成固定流程，外包人员归属感较弱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作为主导岗位，项目人员和事项剥离不彻底，外包尤其是离岸在资源拉通上有所欠缺；推动力需要提升；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对于岗位职责认知不足，风险识别和项目全局把控能力不足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质量意识有待进一步提升，软件生命周期，售前售后，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管理没有形成一套有效的管理机制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04617" y="6336784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内部资料，严禁外传</a:t>
            </a:r>
          </a:p>
        </p:txBody>
      </p:sp>
      <p:sp>
        <p:nvSpPr>
          <p:cNvPr id="10" name="矩形 9"/>
          <p:cNvSpPr/>
          <p:nvPr/>
        </p:nvSpPr>
        <p:spPr>
          <a:xfrm>
            <a:off x="5781358" y="63569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软件工程中心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571BD7-BD43-46E9-10FC-797ACB2B348A}"/>
              </a:ext>
            </a:extLst>
          </p:cNvPr>
          <p:cNvSpPr txBox="1"/>
          <p:nvPr/>
        </p:nvSpPr>
        <p:spPr>
          <a:xfrm>
            <a:off x="540048" y="3208209"/>
            <a:ext cx="609702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能力建设目标：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提高外包产品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专业知识技能水平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能够独立承接派生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维护类项目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E292F-1EBE-6D4A-B339-A324D614A372}" type="slidenum">
              <a:rPr kumimoji="1" lang="zh-CN" altLang="en-US" smtClean="0"/>
              <a:t>2</a:t>
            </a:fld>
            <a:endParaRPr kumimoji="1" lang="zh-CN" altLang="en-US"/>
          </a:p>
        </p:txBody>
      </p:sp>
      <p:sp>
        <p:nvSpPr>
          <p:cNvPr id="5" name="主标题为方正兰亭 , 最大30pt"/>
          <p:cNvSpPr txBox="1"/>
          <p:nvPr/>
        </p:nvSpPr>
        <p:spPr>
          <a:xfrm>
            <a:off x="1110503" y="193375"/>
            <a:ext cx="3829712" cy="38933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 algn="l" defTabSz="531495">
              <a:lnSpc>
                <a:spcPct val="12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外包产品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能力建设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抓手</a:t>
            </a:r>
          </a:p>
        </p:txBody>
      </p:sp>
      <p:sp>
        <p:nvSpPr>
          <p:cNvPr id="8" name="矩形 7"/>
          <p:cNvSpPr/>
          <p:nvPr/>
        </p:nvSpPr>
        <p:spPr>
          <a:xfrm>
            <a:off x="1304617" y="6336784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内部资料，严禁外传</a:t>
            </a:r>
          </a:p>
        </p:txBody>
      </p:sp>
      <p:sp>
        <p:nvSpPr>
          <p:cNvPr id="10" name="矩形 9"/>
          <p:cNvSpPr/>
          <p:nvPr/>
        </p:nvSpPr>
        <p:spPr>
          <a:xfrm>
            <a:off x="5781358" y="6356989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软件工程中心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06476E8-6CE0-B4CB-B368-00D955EB8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66825"/>
              </p:ext>
            </p:extLst>
          </p:nvPr>
        </p:nvGraphicFramePr>
        <p:xfrm>
          <a:off x="914122" y="1031001"/>
          <a:ext cx="9567726" cy="2990175"/>
        </p:xfrm>
        <a:graphic>
          <a:graphicData uri="http://schemas.openxmlformats.org/drawingml/2006/table">
            <a:tbl>
              <a:tblPr/>
              <a:tblGrid>
                <a:gridCol w="728522">
                  <a:extLst>
                    <a:ext uri="{9D8B030D-6E8A-4147-A177-3AD203B41FA5}">
                      <a16:colId xmlns:a16="http://schemas.microsoft.com/office/drawing/2014/main" val="3477929201"/>
                    </a:ext>
                  </a:extLst>
                </a:gridCol>
                <a:gridCol w="1196515">
                  <a:extLst>
                    <a:ext uri="{9D8B030D-6E8A-4147-A177-3AD203B41FA5}">
                      <a16:colId xmlns:a16="http://schemas.microsoft.com/office/drawing/2014/main" val="1135507151"/>
                    </a:ext>
                  </a:extLst>
                </a:gridCol>
                <a:gridCol w="5505898">
                  <a:extLst>
                    <a:ext uri="{9D8B030D-6E8A-4147-A177-3AD203B41FA5}">
                      <a16:colId xmlns:a16="http://schemas.microsoft.com/office/drawing/2014/main" val="2173533090"/>
                    </a:ext>
                  </a:extLst>
                </a:gridCol>
                <a:gridCol w="2136791">
                  <a:extLst>
                    <a:ext uri="{9D8B030D-6E8A-4147-A177-3AD203B41FA5}">
                      <a16:colId xmlns:a16="http://schemas.microsoft.com/office/drawing/2014/main" val="985252359"/>
                    </a:ext>
                  </a:extLst>
                </a:gridCol>
              </a:tblGrid>
              <a:tr h="202176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子维度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维度分层描述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800" b="1" dirty="0">
                          <a:solidFill>
                            <a:srgbClr val="172B4D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主要抓手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592414"/>
                  </a:ext>
                </a:extLst>
              </a:tr>
              <a:tr h="52122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专业能力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软件开发与交付能力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主导重点、难点的跨模块软件开发工作或主导软件模块优化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重构的实施，输出需求矩阵、设计文档、总结报告并组织评审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能定位跨系统、跨产品的疑难问题，能提出多种解决方案，选择最优的解决方案解决问题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主导复杂项目的软件评估、技术开发和技术协调，并指导实施工作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纳入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CTS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联合作战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013361"/>
                  </a:ext>
                </a:extLst>
              </a:tr>
              <a:tr h="38509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软件质量保障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能完善软件的成熟度衡量体系，包括质量标准、流程及规范等，并落地实施；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能够主导领域进行全面排雷，能制定可行改善措施，并落地实施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能够借鉴行业标准，引入新的工具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软件全生命周期管理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997514"/>
                  </a:ext>
                </a:extLst>
              </a:tr>
              <a:tr h="1247291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通用能力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知识沉淀与人才培养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知识沉淀：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能主导策划领域内建立完善的知识总结平台（网站论坛、 案例库、知识库等）；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主动组织并参加本领域知识总结与共享活动（沙龙、讲座、培训、研讨会等），并分享自己的知识总结（工作技巧、方法、心得体会和失败的教训）；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能开发出专业课程，并能开展中心级授课，达到公司内部培训的满意度要求。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人才培养：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在业务指导和人才培养过程中（指导时间在三个月以上），注重培养的方法和技巧，能结合员工个人工作风格，了解自身工作风格对员工造成的影响，并能因材施教，制订、实施针对性的员工培养计划；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参与建立或改进本业务领域人才培养的相关机制，制定针对性的员工培养计划，促进“导师指导”、“师带徒”、“人才梯队建设”工作在本业务领域的顺利开展，本专业领域人才梯队建设取得良好的效果。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FAQ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文档积累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强基计划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648229"/>
                  </a:ext>
                </a:extLst>
              </a:tr>
              <a:tr h="61198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沟通协作</a:t>
                      </a:r>
                    </a:p>
                  </a:txBody>
                  <a:tcPr marL="15757" marR="15757" marT="11030" marB="110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积极倡导并主动推动跨部门、跨团队的协作，主动理解并重视部门成员及相关方的意见与反馈，并引导化解协作中的利益冲突，顾全大局探求共赢方案；</a:t>
                      </a:r>
                      <a:b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沟通时能准确识别对方的需求，在出现理解偏差和意见分歧时，能主动站在他人角度思考，了解对方行为动机，并通过运用合适的沟通技巧和展示有力的论据，谋得共识并正面影响并说服他人。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定期沟通交流（产品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沟通交流），经验共享，查漏补缺，痛点梳理</a:t>
                      </a:r>
                      <a:endParaRPr lang="en-US" altLang="zh-CN" sz="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 fontAlgn="t"/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项目五角星（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SPM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VPM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，质量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，产品</a:t>
                      </a:r>
                      <a:r>
                        <a:rPr lang="en-US" altLang="zh-CN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BA</a:t>
                      </a:r>
                      <a:r>
                        <a:rPr lang="zh-CN" altLang="en-US" sz="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核心团队交流会，项目团队内部自我批判和相互赋能，形成经验萃取</a:t>
                      </a:r>
                    </a:p>
                  </a:txBody>
                  <a:tcPr marL="15757" marR="15757" marT="11030" marB="1103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9471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yN2I3NzlmNDM2NjZjYmMzYjU5ZjE0ZWRmNTA2MmMifQ=="/>
  <p:tag name="KSO_WPP_MARK_KEY" val="ee0f878b-b0a7-4ecd-aec3-88ee8d8216f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6564</TotalTime>
  <Words>681</Words>
  <Application>Microsoft Office PowerPoint</Application>
  <PresentationFormat>宽屏</PresentationFormat>
  <Paragraphs>47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FZLanTingHei-M-GBK</vt:lpstr>
      <vt:lpstr>DengXian</vt:lpstr>
      <vt:lpstr>DengXian</vt:lpstr>
      <vt:lpstr>等线 Light</vt:lpstr>
      <vt:lpstr>微软雅黑</vt:lpstr>
      <vt:lpstr>Arial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w1683</dc:creator>
  <cp:lastModifiedBy>夏鹏飞</cp:lastModifiedBy>
  <cp:revision>847</cp:revision>
  <cp:lastPrinted>2021-01-25T06:16:00Z</cp:lastPrinted>
  <dcterms:created xsi:type="dcterms:W3CDTF">2020-12-26T13:45:00Z</dcterms:created>
  <dcterms:modified xsi:type="dcterms:W3CDTF">2024-01-10T12:01:39Z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738DB8A990BF4070A37A138E185A2DA4</vt:lpwstr>
  </property>
  <property fmtid="{D5CDD505-2E9C-101B-9397-08002B2CF9AE}" pid="3" name="KSOProductBuildVer">
    <vt:lpwstr>2052-11.1.0.13703</vt:lpwstr>
  </property>
</Properties>
</file>