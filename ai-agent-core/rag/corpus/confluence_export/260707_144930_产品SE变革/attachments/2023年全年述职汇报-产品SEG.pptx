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10"/>
  </p:notesMasterIdLst>
  <p:sldIdLst>
    <p:sldId id="331" r:id="rId3"/>
    <p:sldId id="344" r:id="rId4"/>
    <p:sldId id="347" r:id="rId5"/>
    <p:sldId id="346" r:id="rId6"/>
    <p:sldId id="339" r:id="rId7"/>
    <p:sldId id="349" r:id="rId8"/>
    <p:sldId id="300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徐聪" initials="徐聪" lastIdx="1" clrIdx="0"/>
  <p:cmAuthor id="2" name="未知用户1" initials="未知用户1" lastIdx="19" clrIdx="1"/>
  <p:cmAuthor id="3" name="Author" initials="A" lastIdx="0" clrIdx="2"/>
  <p:cmAuthor id="4" name="Administrator" initials="A" lastIdx="4" clrIdx="3"/>
  <p:cmAuthor id="5" name="作者" initials="A" lastIdx="0" clrIdx="2"/>
  <p:cmAuthor id="6" name="汤雪琪" initials="汤雪琪" lastIdx="12" clrIdx="3"/>
  <p:cmAuthor id="7" name="1206988966@qq.com" initials="1" lastIdx="1" clrIdx="2"/>
  <p:cmAuthor id="8" name="姜伟光" initials="姜" lastIdx="1" clrIdx="0"/>
  <p:cmAuthor id="9" name="利杰" initials="利" lastIdx="1" clrIdx="8"/>
  <p:cmAuthor id="11" name="GaryW" initials="G" lastIdx="2" clrIdx="0"/>
  <p:cmAuthor id="12" name="e-works" initials="e" lastIdx="2" clrIdx="2"/>
  <p:cmAuthor id="13" name="未知用户3" initials="未" lastIdx="1" clrIdx="0"/>
  <p:cmAuthor id="14" name="未知用户2" initials="未" lastIdx="1" clrIdx="0"/>
  <p:cmAuthor id="15" name="未知用户4" initials="未" lastIdx="1" clrIdx="0"/>
  <p:cmAuthor id="16" name="未知用户5" initials="未" lastIdx="1" clrIdx="1"/>
  <p:cmAuthor id="17" name="bin4.zhong" initials="b" lastIdx="1" clrIdx="16"/>
  <p:cmAuthor id="18" name="Stephen, WANG(R&amp;D GCS SYSD-SZ-TCT)" initials="SWGS" lastIdx="1" clrIdx="17"/>
  <p:cmAuthor id="19" name="tang.ding" initials="t" lastIdx="1" clrIdx="18"/>
  <p:cmAuthor id="20" name="董恩萌" initials="董恩萌" lastIdx="1" clrIdx="19"/>
  <p:cmAuthor id="21" name="xiesining" initials="x" lastIdx="1" clrIdx="2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44CD239-0EC1-495C-A925-8D48FC66EE2F}" styleName="{5d05cfbe-12ce-4e85-a5b9-2697565cfbd6}">
    <a:wholeTbl>
      <a:tcTxStyle>
        <a:fontRef idx="none">
          <a:prstClr val="black"/>
        </a:fontRef>
      </a:tcTxStyle>
      <a:tcStyle>
        <a:tcBdr>
          <a:top>
            <a:ln w="12700" cmpd="sng">
              <a:solidFill>
                <a:srgbClr val="4A626E"/>
              </a:solidFill>
            </a:ln>
          </a:top>
          <a:bottom>
            <a:ln w="12700" cmpd="sng">
              <a:solidFill>
                <a:srgbClr val="4A626E"/>
              </a:solidFill>
            </a:ln>
          </a:bottom>
        </a:tcBdr>
        <a:fill>
          <a:solidFill>
            <a:srgbClr val="D4DEE2"/>
          </a:solidFill>
        </a:fill>
      </a:tcStyle>
    </a:wholeTbl>
    <a:lastRow>
      <a:tcTxStyle>
        <a:fontRef idx="none">
          <a:prstClr val="black"/>
        </a:fontRef>
      </a:tcTxStyle>
      <a:tcStyle>
        <a:tcBdr>
          <a:top>
            <a:ln w="12700" cmpd="sng">
              <a:solidFill>
                <a:srgbClr val="4A626E"/>
              </a:solidFill>
            </a:ln>
          </a:top>
          <a:bottom>
            <a:ln w="12700" cmpd="sng">
              <a:solidFill>
                <a:srgbClr val="4A626E"/>
              </a:solidFill>
            </a:ln>
          </a:bottom>
        </a:tcBdr>
        <a:fill>
          <a:solidFill>
            <a:srgbClr val="FFFFFF"/>
          </a:solidFill>
        </a:fill>
      </a:tcStyle>
    </a:lastRow>
    <a:firstRow>
      <a:tcTxStyle>
        <a:fontRef idx="none">
          <a:prstClr val="black"/>
        </a:fontRef>
      </a:tcTxStyle>
      <a:tcStyle>
        <a:tcBdr>
          <a:top>
            <a:ln w="12700" cmpd="sng">
              <a:solidFill>
                <a:srgbClr val="4A626E"/>
              </a:solidFill>
            </a:ln>
          </a:top>
          <a:bottom>
            <a:ln w="12700" cmpd="sng">
              <a:solidFill>
                <a:srgbClr val="4A626E"/>
              </a:solidFill>
            </a:ln>
          </a:bottom>
        </a:tcBdr>
        <a:fill>
          <a:solidFill>
            <a:srgbClr val="FFFFFF"/>
          </a:solidFill>
        </a:fill>
      </a:tcStyle>
    </a:firstRow>
  </a:tblStyle>
  <a:tblStyle styleId="{92035E39-A97B-4AD6-A3AF-86644779A598}" styleName="{5e54ee44-2122-4b89-9784-b75a85ec0aa5}">
    <a:wholeTbl>
      <a:tcTxStyle>
        <a:fontRef idx="none">
          <a:prstClr val="black"/>
        </a:fontRef>
      </a:tcTxStyle>
      <a:tcStyle>
        <a:tcBdr>
          <a:insideH>
            <a:ln w="12700" cmpd="sng">
              <a:solidFill>
                <a:srgbClr val="E9E9E9"/>
              </a:solidFill>
            </a:ln>
          </a:insideH>
          <a:insideV>
            <a:ln w="12700" cmpd="sng">
              <a:solidFill>
                <a:srgbClr val="E9E9E9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/>
        <a:fill>
          <a:solidFill>
            <a:srgbClr val="E9E9E9"/>
          </a:solidFill>
        </a:fill>
      </a:tcStyle>
    </a:lastRow>
    <a:firstRow>
      <a:tcTxStyle>
        <a:fontRef idx="none">
          <a:prstClr val="black"/>
        </a:fontRef>
      </a:tcTxStyle>
      <a:tcStyle>
        <a:tcBdr>
          <a:insideH>
            <a:ln w="12700" cmpd="sng">
              <a:solidFill>
                <a:srgbClr val="E9E9E9"/>
              </a:solidFill>
            </a:ln>
          </a:insideH>
          <a:insideV>
            <a:ln w="12700" cmpd="sng">
              <a:solidFill>
                <a:srgbClr val="E9E9E9"/>
              </a:solidFill>
            </a:ln>
          </a:insideV>
        </a:tcBdr>
        <a:fill>
          <a:solidFill>
            <a:srgbClr val="E24D4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758" autoAdjust="0"/>
  </p:normalViewPr>
  <p:slideViewPr>
    <p:cSldViewPr snapToGrid="0">
      <p:cViewPr varScale="1">
        <p:scale>
          <a:sx n="91" d="100"/>
          <a:sy n="91" d="100"/>
        </p:scale>
        <p:origin x="10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TCL\Tlink\&#20135;&#21697;SE&#33021;&#21147;&#35843;&#30740;&#65288;&#38454;&#26799;&#20998;&#25968;&#29256;&#65289;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TCL\&#24037;&#20316;&#36164;&#26009;\&#20135;&#21697;SEG\H2&#27934;&#23519;\&#20135;&#21697;SE&#33021;&#21147;&#35843;&#30740;&#65288;&#38454;&#26799;&#20998;&#25968;&#29256;&#65289;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 forceAA="0">
                <a:spAutoFit/>
              </a:bodyPr>
              <a:lstStyle/>
              <a:p>
                <a:pPr>
                  <a:defRPr lang="zh-CN" sz="800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'[产品SE能力调研（阶梯分数版）(1).xlsx]客观维度-数据分析（原版）'!$F$44:$L$44</c:f>
              <c:strCache>
                <c:ptCount val="7"/>
                <c:pt idx="0">
                  <c:v>方案设计</c:v>
                </c:pt>
                <c:pt idx="1">
                  <c:v>项目疑难问题攻关</c:v>
                </c:pt>
                <c:pt idx="2">
                  <c:v>项目风险识别闭环</c:v>
                </c:pt>
                <c:pt idx="3">
                  <c:v>技术方案评审</c:v>
                </c:pt>
                <c:pt idx="4">
                  <c:v>技术沉淀</c:v>
                </c:pt>
                <c:pt idx="5">
                  <c:v>产品SE痛点解决</c:v>
                </c:pt>
                <c:pt idx="6">
                  <c:v>流程规范制定&amp;完善</c:v>
                </c:pt>
              </c:strCache>
            </c:strRef>
          </c:cat>
          <c:val>
            <c:numRef>
              <c:f>'[产品SE能力调研（阶梯分数版）(1).xlsx]客观维度-数据分析（原版）'!$F$45:$L$45</c:f>
              <c:numCache>
                <c:formatCode>General</c:formatCode>
                <c:ptCount val="7"/>
                <c:pt idx="0">
                  <c:v>43</c:v>
                </c:pt>
                <c:pt idx="1">
                  <c:v>915</c:v>
                </c:pt>
                <c:pt idx="2">
                  <c:v>774</c:v>
                </c:pt>
                <c:pt idx="3">
                  <c:v>87</c:v>
                </c:pt>
                <c:pt idx="4">
                  <c:v>137</c:v>
                </c:pt>
                <c:pt idx="5">
                  <c:v>13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CE-40DC-8902-D126873FBF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0"/>
        <c:overlap val="-61"/>
        <c:axId val="144105435"/>
        <c:axId val="541164674"/>
      </c:barChart>
      <c:catAx>
        <c:axId val="1441054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600" b="0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41164674"/>
        <c:crosses val="autoZero"/>
        <c:auto val="1"/>
        <c:lblAlgn val="ctr"/>
        <c:lblOffset val="100"/>
        <c:noMultiLvlLbl val="0"/>
      </c:catAx>
      <c:valAx>
        <c:axId val="54116467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41054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b="1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'[产品SE能力调研（阶梯分数版）(1).xlsx]客观维度-数据分析（原版）'!$S$96</c:f>
              <c:strCache>
                <c:ptCount val="1"/>
                <c:pt idx="0">
                  <c:v>22年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'[产品SE能力调研（阶梯分数版）(1).xlsx]客观维度-数据分析（原版）'!$T$95:$W$95</c:f>
              <c:strCache>
                <c:ptCount val="4"/>
                <c:pt idx="0">
                  <c:v>项目软件V版本测试通过率</c:v>
                </c:pt>
                <c:pt idx="1">
                  <c:v>项目软件版本有效提测率</c:v>
                </c:pt>
                <c:pt idx="2">
                  <c:v>项目关键问题解决闭环率</c:v>
                </c:pt>
                <c:pt idx="3">
                  <c:v>项目版本集成发布成功率</c:v>
                </c:pt>
              </c:strCache>
            </c:strRef>
          </c:cat>
          <c:val>
            <c:numRef>
              <c:f>'[产品SE能力调研（阶梯分数版）(1).xlsx]客观维度-数据分析（原版）'!$T$96:$W$96</c:f>
              <c:numCache>
                <c:formatCode>0.00%</c:formatCode>
                <c:ptCount val="4"/>
                <c:pt idx="0">
                  <c:v>0.4975</c:v>
                </c:pt>
                <c:pt idx="1">
                  <c:v>0.88500000000000001</c:v>
                </c:pt>
                <c:pt idx="2">
                  <c:v>1</c:v>
                </c:pt>
                <c:pt idx="3" formatCode="0%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97-4A2D-AA90-313B7CB4D371}"/>
            </c:ext>
          </c:extLst>
        </c:ser>
        <c:ser>
          <c:idx val="1"/>
          <c:order val="1"/>
          <c:tx>
            <c:strRef>
              <c:f>'[产品SE能力调研（阶梯分数版）(1).xlsx]客观维度-数据分析（原版）'!$S$97</c:f>
              <c:strCache>
                <c:ptCount val="1"/>
                <c:pt idx="0">
                  <c:v>23年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'[产品SE能力调研（阶梯分数版）(1).xlsx]客观维度-数据分析（原版）'!$T$95:$W$95</c:f>
              <c:strCache>
                <c:ptCount val="4"/>
                <c:pt idx="0">
                  <c:v>项目软件V版本测试通过率</c:v>
                </c:pt>
                <c:pt idx="1">
                  <c:v>项目软件版本有效提测率</c:v>
                </c:pt>
                <c:pt idx="2">
                  <c:v>项目关键问题解决闭环率</c:v>
                </c:pt>
                <c:pt idx="3">
                  <c:v>项目版本集成发布成功率</c:v>
                </c:pt>
              </c:strCache>
            </c:strRef>
          </c:cat>
          <c:val>
            <c:numRef>
              <c:f>'[产品SE能力调研（阶梯分数版）(1).xlsx]客观维度-数据分析（原版）'!$T$97:$W$97</c:f>
              <c:numCache>
                <c:formatCode>0.00%</c:formatCode>
                <c:ptCount val="4"/>
                <c:pt idx="0" formatCode="0%">
                  <c:v>1</c:v>
                </c:pt>
                <c:pt idx="1">
                  <c:v>0.93500000000000005</c:v>
                </c:pt>
                <c:pt idx="2">
                  <c:v>1</c:v>
                </c:pt>
                <c:pt idx="3" formatCode="0%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97-4A2D-AA90-313B7CB4D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791536830"/>
        <c:axId val="58281822"/>
      </c:barChart>
      <c:catAx>
        <c:axId val="79153683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281822"/>
        <c:crosses val="autoZero"/>
        <c:auto val="1"/>
        <c:lblAlgn val="ctr"/>
        <c:lblOffset val="100"/>
        <c:noMultiLvlLbl val="0"/>
      </c:catAx>
      <c:valAx>
        <c:axId val="5828182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53683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359EB-5B4A-4ED0-9B57-E266A88925D0}" type="datetimeFigureOut">
              <a:rPr lang="zh-CN" altLang="en-US" smtClean="0"/>
              <a:t>2024/3/31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E54B3E-8750-4DE7-9A22-886261D34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22"/>
          <a:stretch>
            <a:fillRect/>
          </a:stretch>
        </p:blipFill>
        <p:spPr>
          <a:xfrm>
            <a:off x="0" y="5181600"/>
            <a:ext cx="12192000" cy="1676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r="-479" b="62623"/>
          <a:stretch>
            <a:fillRect/>
          </a:stretch>
        </p:blipFill>
        <p:spPr>
          <a:xfrm>
            <a:off x="0" y="0"/>
            <a:ext cx="12072078" cy="1847850"/>
          </a:xfrm>
          <a:prstGeom prst="rect">
            <a:avLst/>
          </a:prstGeom>
        </p:spPr>
      </p:pic>
      <p:sp>
        <p:nvSpPr>
          <p:cNvPr id="14" name="任意形状 13"/>
          <p:cNvSpPr/>
          <p:nvPr userDrawn="1"/>
        </p:nvSpPr>
        <p:spPr>
          <a:xfrm>
            <a:off x="4" y="224141"/>
            <a:ext cx="279556" cy="573604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604" h="1147208">
                <a:moveTo>
                  <a:pt x="0" y="0"/>
                </a:moveTo>
                <a:cubicBezTo>
                  <a:pt x="316793" y="0"/>
                  <a:pt x="573604" y="256811"/>
                  <a:pt x="573604" y="573604"/>
                </a:cubicBezTo>
                <a:cubicBezTo>
                  <a:pt x="573604" y="890397"/>
                  <a:pt x="316793" y="1147208"/>
                  <a:pt x="0" y="1147208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endParaRPr lang="zh-CN" altLang="en-US" sz="160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29" y="209966"/>
            <a:ext cx="1325764" cy="62247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21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122087" y="6632001"/>
            <a:ext cx="733906" cy="23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2E6D20B-5538-E34D-91FE-E40835CF0C83}" type="slidenum">
              <a:rPr kumimoji="1" lang="zh-CN" altLang="en-US" smtClean="0">
                <a:solidFill>
                  <a:prstClr val="black"/>
                </a:solidFill>
              </a:rPr>
              <a:t>‹#›</a:t>
            </a:fld>
            <a:endParaRPr kumimoji="1" lang="zh-CN" altLang="en-US" dirty="0">
              <a:solidFill>
                <a:prstClr val="black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22"/>
          <a:stretch>
            <a:fillRect/>
          </a:stretch>
        </p:blipFill>
        <p:spPr>
          <a:xfrm>
            <a:off x="841" y="5187449"/>
            <a:ext cx="12192000" cy="1676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r="-479" b="62623"/>
          <a:stretch>
            <a:fillRect/>
          </a:stretch>
        </p:blipFill>
        <p:spPr>
          <a:xfrm>
            <a:off x="842" y="5849"/>
            <a:ext cx="12072078" cy="184785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22"/>
          <a:stretch>
            <a:fillRect/>
          </a:stretch>
        </p:blipFill>
        <p:spPr>
          <a:xfrm>
            <a:off x="0" y="5181600"/>
            <a:ext cx="12192000" cy="1676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r="-479" b="62623"/>
          <a:stretch>
            <a:fillRect/>
          </a:stretch>
        </p:blipFill>
        <p:spPr>
          <a:xfrm>
            <a:off x="0" y="0"/>
            <a:ext cx="12072078" cy="1847850"/>
          </a:xfrm>
          <a:prstGeom prst="rect">
            <a:avLst/>
          </a:prstGeom>
        </p:spPr>
      </p:pic>
      <p:sp>
        <p:nvSpPr>
          <p:cNvPr id="14" name="任意形状 13"/>
          <p:cNvSpPr/>
          <p:nvPr userDrawn="1"/>
        </p:nvSpPr>
        <p:spPr>
          <a:xfrm>
            <a:off x="4" y="224141"/>
            <a:ext cx="279556" cy="573604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604" h="1147208">
                <a:moveTo>
                  <a:pt x="0" y="0"/>
                </a:moveTo>
                <a:cubicBezTo>
                  <a:pt x="316793" y="0"/>
                  <a:pt x="573604" y="256811"/>
                  <a:pt x="573604" y="573604"/>
                </a:cubicBezTo>
                <a:cubicBezTo>
                  <a:pt x="573604" y="890397"/>
                  <a:pt x="316793" y="1147208"/>
                  <a:pt x="0" y="1147208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endParaRPr lang="zh-CN" altLang="en-US" sz="160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29" y="209966"/>
            <a:ext cx="1325764" cy="62247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21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122087" y="6632001"/>
            <a:ext cx="733906" cy="23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2E6D20B-5538-E34D-91FE-E40835CF0C83}" type="slidenum">
              <a:rPr kumimoji="1" lang="zh-CN" altLang="en-US" smtClean="0">
                <a:solidFill>
                  <a:prstClr val="black"/>
                </a:solidFill>
              </a:rPr>
              <a:t>‹#›</a:t>
            </a:fld>
            <a:endParaRPr kumimoji="1"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22"/>
          <a:stretch>
            <a:fillRect/>
          </a:stretch>
        </p:blipFill>
        <p:spPr>
          <a:xfrm>
            <a:off x="0" y="5181600"/>
            <a:ext cx="12192000" cy="1676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r="-479" b="62623"/>
          <a:stretch>
            <a:fillRect/>
          </a:stretch>
        </p:blipFill>
        <p:spPr>
          <a:xfrm>
            <a:off x="0" y="0"/>
            <a:ext cx="12072078" cy="1847850"/>
          </a:xfrm>
          <a:prstGeom prst="rect">
            <a:avLst/>
          </a:prstGeom>
        </p:spPr>
      </p:pic>
      <p:sp>
        <p:nvSpPr>
          <p:cNvPr id="14" name="任意形状 13"/>
          <p:cNvSpPr/>
          <p:nvPr userDrawn="1"/>
        </p:nvSpPr>
        <p:spPr>
          <a:xfrm>
            <a:off x="4" y="224141"/>
            <a:ext cx="279556" cy="573604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604" h="1147208">
                <a:moveTo>
                  <a:pt x="0" y="0"/>
                </a:moveTo>
                <a:cubicBezTo>
                  <a:pt x="316793" y="0"/>
                  <a:pt x="573604" y="256811"/>
                  <a:pt x="573604" y="573604"/>
                </a:cubicBezTo>
                <a:cubicBezTo>
                  <a:pt x="573604" y="890397"/>
                  <a:pt x="316793" y="1147208"/>
                  <a:pt x="0" y="1147208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endParaRPr lang="zh-CN" altLang="en-US" sz="160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29" y="209966"/>
            <a:ext cx="1325764" cy="62247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21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122087" y="6632001"/>
            <a:ext cx="733906" cy="23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2E6D20B-5538-E34D-91FE-E40835CF0C83}" type="slidenum">
              <a:rPr kumimoji="1" lang="zh-CN" altLang="en-US" smtClean="0">
                <a:solidFill>
                  <a:prstClr val="black"/>
                </a:solidFill>
              </a:rPr>
              <a:t>‹#›</a:t>
            </a:fld>
            <a:endParaRPr kumimoji="1"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形状 13"/>
          <p:cNvSpPr/>
          <p:nvPr userDrawn="1"/>
        </p:nvSpPr>
        <p:spPr>
          <a:xfrm>
            <a:off x="4" y="224141"/>
            <a:ext cx="279556" cy="573604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604" h="1147208">
                <a:moveTo>
                  <a:pt x="0" y="0"/>
                </a:moveTo>
                <a:cubicBezTo>
                  <a:pt x="316793" y="0"/>
                  <a:pt x="573604" y="256811"/>
                  <a:pt x="573604" y="573604"/>
                </a:cubicBezTo>
                <a:cubicBezTo>
                  <a:pt x="573604" y="890397"/>
                  <a:pt x="316793" y="1147208"/>
                  <a:pt x="0" y="1147208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endParaRPr lang="zh-CN" altLang="en-US" sz="160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29" y="209966"/>
            <a:ext cx="1325764" cy="62247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21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122087" y="6632001"/>
            <a:ext cx="733906" cy="23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2E6D20B-5538-E34D-91FE-E40835CF0C83}" type="slidenum">
              <a:rPr kumimoji="1" lang="zh-CN" altLang="en-US" smtClean="0">
                <a:solidFill>
                  <a:prstClr val="black"/>
                </a:solidFill>
              </a:rPr>
              <a:t>‹#›</a:t>
            </a:fld>
            <a:endParaRPr kumimoji="1"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22"/>
          <a:stretch>
            <a:fillRect/>
          </a:stretch>
        </p:blipFill>
        <p:spPr>
          <a:xfrm>
            <a:off x="0" y="5181600"/>
            <a:ext cx="12192000" cy="1676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r="-479" b="62623"/>
          <a:stretch>
            <a:fillRect/>
          </a:stretch>
        </p:blipFill>
        <p:spPr>
          <a:xfrm>
            <a:off x="0" y="0"/>
            <a:ext cx="12072078" cy="1847850"/>
          </a:xfrm>
          <a:prstGeom prst="rect">
            <a:avLst/>
          </a:prstGeom>
        </p:spPr>
      </p:pic>
      <p:sp>
        <p:nvSpPr>
          <p:cNvPr id="14" name="任意形状 13"/>
          <p:cNvSpPr/>
          <p:nvPr userDrawn="1"/>
        </p:nvSpPr>
        <p:spPr>
          <a:xfrm>
            <a:off x="4" y="224141"/>
            <a:ext cx="279556" cy="573604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604" h="1147208">
                <a:moveTo>
                  <a:pt x="0" y="0"/>
                </a:moveTo>
                <a:cubicBezTo>
                  <a:pt x="316793" y="0"/>
                  <a:pt x="573604" y="256811"/>
                  <a:pt x="573604" y="573604"/>
                </a:cubicBezTo>
                <a:cubicBezTo>
                  <a:pt x="573604" y="890397"/>
                  <a:pt x="316793" y="1147208"/>
                  <a:pt x="0" y="1147208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endParaRPr lang="zh-CN" altLang="en-US" sz="160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29" y="209966"/>
            <a:ext cx="1325764" cy="62247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21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122087" y="6632001"/>
            <a:ext cx="733906" cy="23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2E6D20B-5538-E34D-91FE-E40835CF0C83}" type="slidenum">
              <a:rPr kumimoji="1" lang="zh-CN" altLang="en-US" smtClean="0">
                <a:solidFill>
                  <a:prstClr val="black"/>
                </a:solidFill>
              </a:rPr>
              <a:t>‹#›</a:t>
            </a:fld>
            <a:endParaRPr kumimoji="1"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形状 13"/>
          <p:cNvSpPr/>
          <p:nvPr userDrawn="1"/>
        </p:nvSpPr>
        <p:spPr>
          <a:xfrm>
            <a:off x="4" y="224141"/>
            <a:ext cx="279556" cy="573604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604" h="1147208">
                <a:moveTo>
                  <a:pt x="0" y="0"/>
                </a:moveTo>
                <a:cubicBezTo>
                  <a:pt x="316793" y="0"/>
                  <a:pt x="573604" y="256811"/>
                  <a:pt x="573604" y="573604"/>
                </a:cubicBezTo>
                <a:cubicBezTo>
                  <a:pt x="573604" y="890397"/>
                  <a:pt x="316793" y="1147208"/>
                  <a:pt x="0" y="1147208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endParaRPr lang="zh-CN" altLang="en-US" sz="1600" b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29" y="209966"/>
            <a:ext cx="1325764" cy="622477"/>
          </a:xfrm>
          <a:prstGeom prst="rect">
            <a:avLst/>
          </a:prstGeom>
        </p:spPr>
      </p:pic>
      <p:sp>
        <p:nvSpPr>
          <p:cNvPr id="21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193534" y="6490068"/>
            <a:ext cx="662460" cy="304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2E6D20B-5538-E34D-91FE-E40835CF0C83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1"/>
            <a:ext cx="1219108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30" y="2977728"/>
            <a:ext cx="12216730" cy="38802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-24728" y="0"/>
            <a:ext cx="12217571" cy="3693224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1967" y="6502401"/>
            <a:ext cx="2743200" cy="365125"/>
          </a:xfrm>
        </p:spPr>
        <p:txBody>
          <a:bodyPr/>
          <a:lstStyle>
            <a:lvl1pPr>
              <a:defRPr sz="11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9" name="图片 8" descr="图片包含 图形用户界面&#10;&#10;描述已自动生成"/>
          <p:cNvPicPr>
            <a:picLocks noChangeAspect="1"/>
          </p:cNvPicPr>
          <p:nvPr/>
        </p:nvPicPr>
        <p:blipFill rotWithShape="1">
          <a:blip r:embed="rId4" cstate="screen"/>
          <a:srcRect r="68049"/>
          <a:stretch>
            <a:fillRect/>
          </a:stretch>
        </p:blipFill>
        <p:spPr>
          <a:xfrm>
            <a:off x="3" y="1"/>
            <a:ext cx="379231" cy="601199"/>
          </a:xfrm>
          <a:prstGeom prst="rect">
            <a:avLst/>
          </a:prstGeom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3413" y="269875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线连接符 11"/>
          <p:cNvCxnSpPr/>
          <p:nvPr userDrawn="1"/>
        </p:nvCxnSpPr>
        <p:spPr>
          <a:xfrm>
            <a:off x="246000" y="661035"/>
            <a:ext cx="11700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60924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8944" y="228310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2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208747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93413" y="269875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307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3413" y="269875"/>
            <a:ext cx="854075" cy="2730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7" name="图片 6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3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8" name="直线连接符 7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徽标, 公司名称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err="1">
                <a:solidFill>
                  <a:srgbClr val="898989"/>
                </a:solidFill>
                <a:latin typeface="FZLanTingHei-M-GBK" panose="02000000000000000000" pitchFamily="2" charset="-122"/>
                <a:ea typeface="FZLanTingHei-M-GBK" panose="02000000000000000000" pitchFamily="2" charset="-122"/>
              </a:rPr>
              <a:t>www.tcl.com</a:t>
            </a:r>
            <a:endParaRPr lang="zh-CN" altLang="en-US" sz="1200" dirty="0">
              <a:solidFill>
                <a:srgbClr val="898989"/>
              </a:solidFill>
              <a:latin typeface="FZLanTingHei-M-GBK" panose="02000000000000000000" pitchFamily="2" charset="-122"/>
              <a:ea typeface="FZLanTingHei-M-GBK" panose="02000000000000000000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307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3413" y="269875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1050" y="124834"/>
            <a:ext cx="10515600" cy="480002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cxnSp>
        <p:nvCxnSpPr>
          <p:cNvPr id="11" name="直线连接符 11"/>
          <p:cNvCxnSpPr/>
          <p:nvPr userDrawn="1"/>
        </p:nvCxnSpPr>
        <p:spPr>
          <a:xfrm>
            <a:off x="246000" y="661035"/>
            <a:ext cx="11700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60924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8944" y="228310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31050" y="124834"/>
            <a:ext cx="10515600" cy="480002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cxnSp>
        <p:nvCxnSpPr>
          <p:cNvPr id="10" name="直线连接符 9"/>
          <p:cNvCxnSpPr/>
          <p:nvPr userDrawn="1"/>
        </p:nvCxnSpPr>
        <p:spPr>
          <a:xfrm>
            <a:off x="246000" y="661035"/>
            <a:ext cx="11700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60924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2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8944" y="228310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线连接符 11"/>
          <p:cNvCxnSpPr/>
          <p:nvPr userDrawn="1"/>
        </p:nvCxnSpPr>
        <p:spPr>
          <a:xfrm>
            <a:off x="246000" y="661035"/>
            <a:ext cx="11700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60924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8944" y="228310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1050" y="124834"/>
            <a:ext cx="10515600" cy="480002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cxnSp>
        <p:nvCxnSpPr>
          <p:cNvPr id="11" name="直线连接符 11"/>
          <p:cNvCxnSpPr/>
          <p:nvPr userDrawn="1"/>
        </p:nvCxnSpPr>
        <p:spPr>
          <a:xfrm>
            <a:off x="246000" y="661035"/>
            <a:ext cx="11700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60924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8944" y="228310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占位符 11"/>
          <p:cNvSpPr>
            <a:spLocks noGrp="1"/>
          </p:cNvSpPr>
          <p:nvPr>
            <p:ph type="title"/>
          </p:nvPr>
        </p:nvSpPr>
        <p:spPr>
          <a:xfrm>
            <a:off x="336007" y="364574"/>
            <a:ext cx="5760834" cy="2805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13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8610170" y="6490068"/>
            <a:ext cx="3245824" cy="23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2E6D20B-5538-E34D-91FE-E40835CF0C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marL="0" marR="0" indent="0" algn="l" defTabSz="550545" rtl="0" eaLnBrk="1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8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105410" indent="-105410" algn="l" defTabSz="422275" rtl="0" eaLnBrk="1" latinLnBrk="0" hangingPunct="1">
        <a:lnSpc>
          <a:spcPct val="90000"/>
        </a:lnSpc>
        <a:spcBef>
          <a:spcPts val="460"/>
        </a:spcBef>
        <a:buFont typeface="Arial" panose="020B0604020202020204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16865" indent="-105410" algn="l" defTabSz="422275" rtl="0" eaLnBrk="1" latinLnBrk="0" hangingPunct="1">
        <a:lnSpc>
          <a:spcPct val="90000"/>
        </a:lnSpc>
        <a:spcBef>
          <a:spcPts val="230"/>
        </a:spcBef>
        <a:buFont typeface="Arial" panose="020B0604020202020204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2pPr>
      <a:lvl3pPr marL="527685" indent="-105410" algn="l" defTabSz="422275" rtl="0" eaLnBrk="1" latinLnBrk="0" hangingPunct="1">
        <a:lnSpc>
          <a:spcPct val="90000"/>
        </a:lnSpc>
        <a:spcBef>
          <a:spcPts val="230"/>
        </a:spcBef>
        <a:buFont typeface="Arial" panose="020B0604020202020204"/>
        <a:buChar char="•"/>
        <a:defRPr sz="925" kern="1200">
          <a:solidFill>
            <a:schemeClr val="tx1"/>
          </a:solidFill>
          <a:latin typeface="+mn-lt"/>
          <a:ea typeface="+mn-ea"/>
          <a:cs typeface="+mn-cs"/>
        </a:defRPr>
      </a:lvl3pPr>
      <a:lvl4pPr marL="738505" indent="-105410" algn="l" defTabSz="422275" rtl="0" eaLnBrk="1" latinLnBrk="0" hangingPunct="1">
        <a:lnSpc>
          <a:spcPct val="90000"/>
        </a:lnSpc>
        <a:spcBef>
          <a:spcPts val="230"/>
        </a:spcBef>
        <a:buFont typeface="Arial" panose="020B0604020202020204"/>
        <a:buChar char="•"/>
        <a:defRPr sz="830" kern="1200">
          <a:solidFill>
            <a:schemeClr val="tx1"/>
          </a:solidFill>
          <a:latin typeface="+mn-lt"/>
          <a:ea typeface="+mn-ea"/>
          <a:cs typeface="+mn-cs"/>
        </a:defRPr>
      </a:lvl4pPr>
      <a:lvl5pPr marL="949960" indent="-105410" algn="l" defTabSz="422275" rtl="0" eaLnBrk="1" latinLnBrk="0" hangingPunct="1">
        <a:lnSpc>
          <a:spcPct val="90000"/>
        </a:lnSpc>
        <a:spcBef>
          <a:spcPts val="230"/>
        </a:spcBef>
        <a:buFont typeface="Arial" panose="020B0604020202020204"/>
        <a:buChar char="•"/>
        <a:defRPr sz="830" kern="1200">
          <a:solidFill>
            <a:schemeClr val="tx1"/>
          </a:solidFill>
          <a:latin typeface="+mn-lt"/>
          <a:ea typeface="+mn-ea"/>
          <a:cs typeface="+mn-cs"/>
        </a:defRPr>
      </a:lvl5pPr>
      <a:lvl6pPr marL="1160780" indent="-105410" algn="l" defTabSz="422275" rtl="0" eaLnBrk="1" latinLnBrk="0" hangingPunct="1">
        <a:lnSpc>
          <a:spcPct val="90000"/>
        </a:lnSpc>
        <a:spcBef>
          <a:spcPts val="230"/>
        </a:spcBef>
        <a:buFont typeface="Arial" panose="020B0604020202020204"/>
        <a:buChar char="•"/>
        <a:defRPr sz="83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05410" algn="l" defTabSz="422275" rtl="0" eaLnBrk="1" latinLnBrk="0" hangingPunct="1">
        <a:lnSpc>
          <a:spcPct val="90000"/>
        </a:lnSpc>
        <a:spcBef>
          <a:spcPts val="230"/>
        </a:spcBef>
        <a:buFont typeface="Arial" panose="020B0604020202020204"/>
        <a:buChar char="•"/>
        <a:defRPr sz="830" kern="1200">
          <a:solidFill>
            <a:schemeClr val="tx1"/>
          </a:solidFill>
          <a:latin typeface="+mn-lt"/>
          <a:ea typeface="+mn-ea"/>
          <a:cs typeface="+mn-cs"/>
        </a:defRPr>
      </a:lvl7pPr>
      <a:lvl8pPr marL="1583055" indent="-105410" algn="l" defTabSz="422275" rtl="0" eaLnBrk="1" latinLnBrk="0" hangingPunct="1">
        <a:lnSpc>
          <a:spcPct val="90000"/>
        </a:lnSpc>
        <a:spcBef>
          <a:spcPts val="230"/>
        </a:spcBef>
        <a:buFont typeface="Arial" panose="020B0604020202020204"/>
        <a:buChar char="•"/>
        <a:defRPr sz="830" kern="1200">
          <a:solidFill>
            <a:schemeClr val="tx1"/>
          </a:solidFill>
          <a:latin typeface="+mn-lt"/>
          <a:ea typeface="+mn-ea"/>
          <a:cs typeface="+mn-cs"/>
        </a:defRPr>
      </a:lvl8pPr>
      <a:lvl9pPr marL="1793875" indent="-105410" algn="l" defTabSz="422275" rtl="0" eaLnBrk="1" latinLnBrk="0" hangingPunct="1">
        <a:lnSpc>
          <a:spcPct val="90000"/>
        </a:lnSpc>
        <a:spcBef>
          <a:spcPts val="230"/>
        </a:spcBef>
        <a:buFont typeface="Arial" panose="020B0604020202020204"/>
        <a:buChar char="•"/>
        <a:defRPr sz="8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1pPr>
      <a:lvl2pPr marL="210820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2pPr>
      <a:lvl3pPr marL="422275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3pPr>
      <a:lvl4pPr marL="633095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4pPr>
      <a:lvl5pPr marL="843915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5pPr>
      <a:lvl6pPr marL="1055370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6pPr>
      <a:lvl7pPr marL="1266190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7pPr>
      <a:lvl8pPr marL="1477645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8pPr>
      <a:lvl9pPr marL="1688465" algn="l" defTabSz="422275" rtl="0" eaLnBrk="1" latinLnBrk="0" hangingPunct="1">
        <a:defRPr sz="8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4.png"/><Relationship Id="rId7" Type="http://schemas.openxmlformats.org/officeDocument/2006/relationships/image" Target="../media/image17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10" Type="http://schemas.openxmlformats.org/officeDocument/2006/relationships/image" Target="../media/image20.png"/><Relationship Id="rId4" Type="http://schemas.openxmlformats.org/officeDocument/2006/relationships/chart" Target="../charts/chart2.xml"/><Relationship Id="rId9" Type="http://schemas.openxmlformats.org/officeDocument/2006/relationships/image" Target="../media/image19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81" y="1211127"/>
            <a:ext cx="1686959" cy="540000"/>
          </a:xfrm>
          <a:prstGeom prst="rect">
            <a:avLst/>
          </a:prstGeom>
        </p:spPr>
      </p:pic>
      <p:sp>
        <p:nvSpPr>
          <p:cNvPr id="6" name="副标题字体为方正兰亭, 14pt"/>
          <p:cNvSpPr txBox="1"/>
          <p:nvPr/>
        </p:nvSpPr>
        <p:spPr>
          <a:xfrm>
            <a:off x="3645498" y="4344695"/>
            <a:ext cx="1731243" cy="83612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defTabSz="210820">
              <a:lnSpc>
                <a:spcPct val="150000"/>
              </a:lnSpc>
              <a:defRPr sz="2800" b="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泛智屏产品</a:t>
            </a:r>
            <a:r>
              <a:rPr lang="en-US" altLang="zh-CN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SEG</a:t>
            </a:r>
            <a:endParaRPr lang="en-US" altLang="zh-CN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ZLanTingHei-M-GBK" panose="02000000000000000000" pitchFamily="2" charset="-122"/>
            </a:endParaRPr>
          </a:p>
          <a:p>
            <a:pPr defTabSz="210820">
              <a:lnSpc>
                <a:spcPct val="150000"/>
              </a:lnSpc>
              <a:defRPr sz="2800" b="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2023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年</a:t>
            </a:r>
            <a:r>
              <a:rPr lang="en-US" altLang="zh-CN" sz="17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12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月</a:t>
            </a:r>
            <a:r>
              <a:rPr lang="en-US" altLang="zh-CN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08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日</a:t>
            </a:r>
            <a:endParaRPr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ZLanTingHei-M-GBK" panose="02000000000000000000" pitchFamily="2" charset="-122"/>
            </a:endParaRPr>
          </a:p>
        </p:txBody>
      </p:sp>
      <p:sp>
        <p:nvSpPr>
          <p:cNvPr id="3" name="主标题为方正兰亭 , 最大30pt"/>
          <p:cNvSpPr txBox="1"/>
          <p:nvPr/>
        </p:nvSpPr>
        <p:spPr>
          <a:xfrm>
            <a:off x="733511" y="3348905"/>
            <a:ext cx="3648435" cy="743793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lnSpc>
                <a:spcPct val="150000"/>
              </a:lnSpc>
              <a:defRPr sz="60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3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2023</a:t>
            </a:r>
            <a:r>
              <a:rPr lang="zh-CN" altLang="en-US" sz="3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年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-M-GBK" panose="02000000000000000000" pitchFamily="2" charset="-122"/>
              </a:rPr>
              <a:t>全年述职汇报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9119986" y="816726"/>
            <a:ext cx="2803284" cy="4868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29505" y="827991"/>
            <a:ext cx="2927308" cy="48688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94387" y="828379"/>
            <a:ext cx="2803284" cy="48688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29505" y="866535"/>
            <a:ext cx="176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/>
              <a:t>1. </a:t>
            </a:r>
            <a:r>
              <a:rPr lang="zh-CN" altLang="en-US" sz="1600" b="1" dirty="0" smtClean="0"/>
              <a:t>交付能力</a:t>
            </a:r>
            <a:endParaRPr lang="zh-CN" altLang="en-US" sz="1600" b="1" dirty="0"/>
          </a:p>
        </p:txBody>
      </p:sp>
      <p:sp>
        <p:nvSpPr>
          <p:cNvPr id="16" name="矩形 15"/>
          <p:cNvSpPr/>
          <p:nvPr/>
        </p:nvSpPr>
        <p:spPr>
          <a:xfrm>
            <a:off x="6252501" y="816727"/>
            <a:ext cx="2803284" cy="4868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436742" y="866923"/>
            <a:ext cx="1381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/>
              <a:t>2. </a:t>
            </a:r>
            <a:r>
              <a:rPr lang="zh-CN" altLang="en-US" sz="1600" b="1" dirty="0" smtClean="0"/>
              <a:t>交付质量</a:t>
            </a:r>
            <a:endParaRPr lang="zh-CN" altLang="en-US" sz="16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6252501" y="855272"/>
            <a:ext cx="1381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/>
              <a:t>3. </a:t>
            </a:r>
            <a:r>
              <a:rPr lang="zh-CN" altLang="en-US" sz="1600" b="1" dirty="0" smtClean="0"/>
              <a:t>交付效率</a:t>
            </a:r>
            <a:endParaRPr lang="zh-CN" altLang="en-US" sz="1600" b="1" dirty="0"/>
          </a:p>
        </p:txBody>
      </p:sp>
      <p:graphicFrame>
        <p:nvGraphicFramePr>
          <p:cNvPr id="19" name="图表 18" descr="7b0a202020202263686172745265734964223a20223230343736303833220a7d0a"/>
          <p:cNvGraphicFramePr/>
          <p:nvPr>
            <p:extLst/>
          </p:nvPr>
        </p:nvGraphicFramePr>
        <p:xfrm>
          <a:off x="569398" y="1348872"/>
          <a:ext cx="2612539" cy="2182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6313167" y="3907598"/>
            <a:ext cx="156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分支收敛情况</a:t>
            </a:r>
            <a:endParaRPr lang="zh-CN" altLang="en-US" sz="1600" dirty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/>
          </p:nvPr>
        </p:nvGraphicFramePr>
        <p:xfrm>
          <a:off x="6421689" y="4287236"/>
          <a:ext cx="2511075" cy="792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7450">
                  <a:extLst>
                    <a:ext uri="{9D8B030D-6E8A-4147-A177-3AD203B41FA5}">
                      <a16:colId xmlns:a16="http://schemas.microsoft.com/office/drawing/2014/main" val="1710826619"/>
                    </a:ext>
                  </a:extLst>
                </a:gridCol>
                <a:gridCol w="887692">
                  <a:extLst>
                    <a:ext uri="{9D8B030D-6E8A-4147-A177-3AD203B41FA5}">
                      <a16:colId xmlns:a16="http://schemas.microsoft.com/office/drawing/2014/main" val="2406195738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4127795178"/>
                    </a:ext>
                  </a:extLst>
                </a:gridCol>
              </a:tblGrid>
              <a:tr h="19805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年度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中国区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海外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463921"/>
                  </a:ext>
                </a:extLst>
              </a:tr>
              <a:tr h="1980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22</a:t>
                      </a:r>
                      <a:r>
                        <a:rPr lang="zh-CN" altLang="en-US" sz="1000" u="none" strike="noStrike">
                          <a:effectLst/>
                        </a:rPr>
                        <a:t>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7313607"/>
                  </a:ext>
                </a:extLst>
              </a:tr>
              <a:tr h="1980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23</a:t>
                      </a:r>
                      <a:r>
                        <a:rPr lang="zh-CN" altLang="en-US" sz="1000" u="none" strike="noStrike">
                          <a:effectLst/>
                        </a:rPr>
                        <a:t>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3855515"/>
                  </a:ext>
                </a:extLst>
              </a:tr>
              <a:tr h="19805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目标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9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5441012"/>
                  </a:ext>
                </a:extLst>
              </a:tr>
            </a:tbl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3389622" y="2919841"/>
            <a:ext cx="1760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管控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379706" y="3208514"/>
            <a:ext cx="1828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释放版本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 DI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3670364" y="3526701"/>
          <a:ext cx="2160947" cy="693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902">
                  <a:extLst>
                    <a:ext uri="{9D8B030D-6E8A-4147-A177-3AD203B41FA5}">
                      <a16:colId xmlns:a16="http://schemas.microsoft.com/office/drawing/2014/main" val="3373164549"/>
                    </a:ext>
                  </a:extLst>
                </a:gridCol>
                <a:gridCol w="610285">
                  <a:extLst>
                    <a:ext uri="{9D8B030D-6E8A-4147-A177-3AD203B41FA5}">
                      <a16:colId xmlns:a16="http://schemas.microsoft.com/office/drawing/2014/main" val="332278903"/>
                    </a:ext>
                  </a:extLst>
                </a:gridCol>
                <a:gridCol w="571902">
                  <a:extLst>
                    <a:ext uri="{9D8B030D-6E8A-4147-A177-3AD203B41FA5}">
                      <a16:colId xmlns:a16="http://schemas.microsoft.com/office/drawing/2014/main" val="1706747667"/>
                    </a:ext>
                  </a:extLst>
                </a:gridCol>
                <a:gridCol w="406858">
                  <a:extLst>
                    <a:ext uri="{9D8B030D-6E8A-4147-A177-3AD203B41FA5}">
                      <a16:colId xmlns:a16="http://schemas.microsoft.com/office/drawing/2014/main" val="4226679756"/>
                    </a:ext>
                  </a:extLst>
                </a:gridCol>
              </a:tblGrid>
              <a:tr h="1485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SOC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H1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11</a:t>
                      </a:r>
                      <a:r>
                        <a:rPr lang="zh-CN" altLang="en-US" sz="1000" u="none" strike="noStrike">
                          <a:effectLst/>
                        </a:rPr>
                        <a:t>月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改善率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6660948"/>
                  </a:ext>
                </a:extLst>
              </a:tr>
              <a:tr h="162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AML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43.85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36.4%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7215549"/>
                  </a:ext>
                </a:extLst>
              </a:tr>
              <a:tr h="162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RTK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48.7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37.5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23.0%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6243341"/>
                  </a:ext>
                </a:extLst>
              </a:tr>
              <a:tr h="162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MTK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42.6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32.5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23.7%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7518079"/>
                  </a:ext>
                </a:extLst>
              </a:tr>
            </a:tbl>
          </a:graphicData>
        </a:graphic>
      </p:graphicFrame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812" y="4240165"/>
            <a:ext cx="2821940" cy="1762857"/>
          </a:xfrm>
          <a:prstGeom prst="rect">
            <a:avLst/>
          </a:prstGeom>
        </p:spPr>
      </p:pic>
      <p:graphicFrame>
        <p:nvGraphicFramePr>
          <p:cNvPr id="26" name="图表 25"/>
          <p:cNvGraphicFramePr/>
          <p:nvPr>
            <p:extLst/>
          </p:nvPr>
        </p:nvGraphicFramePr>
        <p:xfrm>
          <a:off x="6388470" y="1344388"/>
          <a:ext cx="2561926" cy="1984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0" name="Picture 3">
            <a:extLst>
              <a:ext uri="{FF2B5EF4-FFF2-40B4-BE49-F238E27FC236}">
                <a16:creationId xmlns:a16="http://schemas.microsoft.com/office/drawing/2014/main" id="{05EF8E19-9E15-5149-65B7-51EE542EF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576" y="3846580"/>
            <a:ext cx="2366940" cy="870257"/>
          </a:xfrm>
          <a:prstGeom prst="rect">
            <a:avLst/>
          </a:prstGeom>
        </p:spPr>
      </p:pic>
      <p:pic>
        <p:nvPicPr>
          <p:cNvPr id="31" name="Picture 20">
            <a:extLst>
              <a:ext uri="{FF2B5EF4-FFF2-40B4-BE49-F238E27FC236}">
                <a16:creationId xmlns:a16="http://schemas.microsoft.com/office/drawing/2014/main" id="{ED7CC2C1-BEF0-25D6-232D-53227339A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105" y="1227317"/>
            <a:ext cx="2362602" cy="884749"/>
          </a:xfrm>
          <a:prstGeom prst="rect">
            <a:avLst/>
          </a:prstGeom>
        </p:spPr>
      </p:pic>
      <p:pic>
        <p:nvPicPr>
          <p:cNvPr id="32" name="Picture 24">
            <a:extLst>
              <a:ext uri="{FF2B5EF4-FFF2-40B4-BE49-F238E27FC236}">
                <a16:creationId xmlns:a16="http://schemas.microsoft.com/office/drawing/2014/main" id="{AD55F186-EFD5-F891-2005-30EEA3DBC2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9105" y="2114387"/>
            <a:ext cx="2362602" cy="884749"/>
          </a:xfrm>
          <a:prstGeom prst="rect">
            <a:avLst/>
          </a:prstGeom>
        </p:spPr>
      </p:pic>
      <p:pic>
        <p:nvPicPr>
          <p:cNvPr id="34" name="Picture 3">
            <a:extLst>
              <a:ext uri="{FF2B5EF4-FFF2-40B4-BE49-F238E27FC236}">
                <a16:creationId xmlns:a16="http://schemas.microsoft.com/office/drawing/2014/main" id="{CCEF1EF4-51DB-76D3-64A4-0E2A935376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532" y="2974477"/>
            <a:ext cx="2366940" cy="884748"/>
          </a:xfrm>
          <a:prstGeom prst="rect">
            <a:avLst/>
          </a:prstGeom>
        </p:spPr>
      </p:pic>
      <p:pic>
        <p:nvPicPr>
          <p:cNvPr id="35" name="Picture 6">
            <a:extLst>
              <a:ext uri="{FF2B5EF4-FFF2-40B4-BE49-F238E27FC236}">
                <a16:creationId xmlns:a16="http://schemas.microsoft.com/office/drawing/2014/main" id="{E97123F1-7748-0C68-7A2F-2871023753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8814" y="4719927"/>
            <a:ext cx="2375614" cy="872922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9146292" y="843898"/>
            <a:ext cx="2089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4</a:t>
            </a:r>
            <a:r>
              <a:rPr lang="en-US" altLang="zh-CN" sz="1600" b="1" dirty="0" smtClean="0"/>
              <a:t>. </a:t>
            </a:r>
            <a:r>
              <a:rPr lang="zh-CN" altLang="en-US" sz="1600" b="1" dirty="0" smtClean="0"/>
              <a:t>内外包</a:t>
            </a:r>
            <a:r>
              <a:rPr lang="en-US" altLang="zh-CN" sz="1600" b="1" dirty="0" smtClean="0"/>
              <a:t>SE</a:t>
            </a:r>
            <a:r>
              <a:rPr lang="zh-CN" altLang="en-US" sz="1600" b="1" dirty="0" smtClean="0"/>
              <a:t>交付对比</a:t>
            </a:r>
            <a:endParaRPr lang="zh-CN" altLang="en-US" sz="16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435" y="4127679"/>
            <a:ext cx="2571448" cy="11603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8831" y="5730441"/>
            <a:ext cx="2758641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Wingdings" panose="05000000000000000000" pitchFamily="2" charset="2"/>
              <a:buChar char="Ø"/>
              <a:defRPr/>
            </a:pP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暗点：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系统解决方案设计能力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不足</a:t>
            </a:r>
            <a:endParaRPr lang="en-US" altLang="zh-CN" sz="105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Wingdings" panose="05000000000000000000" pitchFamily="2" charset="2"/>
              <a:buChar char="Ø"/>
              <a:defRPr/>
            </a:pP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亮点：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完成了作战手册的修订及全员</a:t>
            </a:r>
            <a:r>
              <a:rPr lang="zh-CN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</a:t>
            </a:r>
            <a:endParaRPr lang="en-US" altLang="zh-CN" sz="105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制定产品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标杆</a:t>
            </a:r>
            <a:r>
              <a:rPr lang="zh-CN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方案，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数据周度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牵引</a:t>
            </a:r>
            <a:r>
              <a:rPr lang="zh-CN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不断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提升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394387" y="5730441"/>
            <a:ext cx="279391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暗点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值看护不足，整体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上升，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值达标率下降明显</a:t>
            </a:r>
            <a:endParaRPr lang="en-US" altLang="zh-CN" sz="105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Ø"/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SOC DI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下半年改善明显，改善率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29%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全年质量事故数为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55785" y="5730441"/>
            <a:ext cx="2807454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179388">
              <a:lnSpc>
                <a:spcPct val="130000"/>
              </a:lnSpc>
            </a:pPr>
            <a:r>
              <a:rPr lang="zh-CN" altLang="en-US" sz="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产品</a:t>
            </a:r>
            <a:r>
              <a:rPr lang="en-US" altLang="zh-CN" sz="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</a:t>
            </a:r>
            <a:r>
              <a:rPr lang="zh-CN" altLang="en-US" sz="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内外包对比：</a:t>
            </a:r>
            <a:endParaRPr lang="en-US" altLang="zh-CN" sz="8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lvl="1" defTabSz="17938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整体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en-US" altLang="zh-CN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GGS11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～</a:t>
            </a:r>
            <a:r>
              <a:rPr lang="en-US" altLang="zh-CN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部分差距明显</a:t>
            </a:r>
            <a:endParaRPr lang="en-US" altLang="zh-CN" sz="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lvl="1" defTabSz="17938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主观维度</a:t>
            </a:r>
            <a:r>
              <a:rPr lang="en-US" altLang="zh-CN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GGS9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～</a:t>
            </a:r>
            <a:r>
              <a:rPr lang="en-US" altLang="zh-CN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部分差距明显</a:t>
            </a:r>
            <a:endParaRPr lang="en-US" altLang="zh-CN" sz="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lvl="1" defTabSz="17938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客观维度</a:t>
            </a:r>
            <a:r>
              <a:rPr lang="en-US" altLang="zh-CN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GGS11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～</a:t>
            </a:r>
            <a:r>
              <a:rPr lang="en-US" altLang="zh-CN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部分差距明显</a:t>
            </a:r>
            <a:endParaRPr lang="en-US" altLang="zh-CN" sz="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lvl="1" defTabSz="17938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交付能力正编强于外包</a:t>
            </a:r>
            <a:endParaRPr lang="en-US" altLang="zh-CN" sz="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lvl="1" defTabSz="17938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交付质量正编明显强于外包且在</a:t>
            </a:r>
            <a:r>
              <a:rPr lang="en-US" altLang="zh-CN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GGS11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～</a:t>
            </a:r>
            <a:r>
              <a:rPr lang="en-US" altLang="zh-CN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r>
            <a:r>
              <a:rPr lang="zh-CN" altLang="en-US" sz="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</a:t>
            </a:r>
            <a:endParaRPr lang="en-US" altLang="zh-CN" sz="8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lvl="1" defTabSz="17938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差异</a:t>
            </a:r>
            <a:r>
              <a:rPr lang="zh-CN" altLang="en-US" sz="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巨大</a:t>
            </a:r>
            <a:endParaRPr lang="en-US" altLang="zh-CN" sz="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252501" y="5730441"/>
            <a:ext cx="313721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暗点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5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海外分支收敛目标未达成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Ø"/>
              <a:defRPr/>
            </a:pP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V版本测试通过率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3379706" y="1453201"/>
          <a:ext cx="2808593" cy="1043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041">
                  <a:extLst>
                    <a:ext uri="{9D8B030D-6E8A-4147-A177-3AD203B41FA5}">
                      <a16:colId xmlns:a16="http://schemas.microsoft.com/office/drawing/2014/main" val="3534438830"/>
                    </a:ext>
                  </a:extLst>
                </a:gridCol>
                <a:gridCol w="676770">
                  <a:extLst>
                    <a:ext uri="{9D8B030D-6E8A-4147-A177-3AD203B41FA5}">
                      <a16:colId xmlns:a16="http://schemas.microsoft.com/office/drawing/2014/main" val="2258329270"/>
                    </a:ext>
                  </a:extLst>
                </a:gridCol>
                <a:gridCol w="629396">
                  <a:extLst>
                    <a:ext uri="{9D8B030D-6E8A-4147-A177-3AD203B41FA5}">
                      <a16:colId xmlns:a16="http://schemas.microsoft.com/office/drawing/2014/main" val="167446880"/>
                    </a:ext>
                  </a:extLst>
                </a:gridCol>
                <a:gridCol w="504193">
                  <a:extLst>
                    <a:ext uri="{9D8B030D-6E8A-4147-A177-3AD203B41FA5}">
                      <a16:colId xmlns:a16="http://schemas.microsoft.com/office/drawing/2014/main" val="20430136"/>
                    </a:ext>
                  </a:extLst>
                </a:gridCol>
                <a:gridCol w="504193">
                  <a:extLst>
                    <a:ext uri="{9D8B030D-6E8A-4147-A177-3AD203B41FA5}">
                      <a16:colId xmlns:a16="http://schemas.microsoft.com/office/drawing/2014/main" val="315315652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中国区项目版本释放</a:t>
                      </a:r>
                      <a:r>
                        <a:rPr lang="en-US" altLang="zh-CN" sz="900" u="none" strike="noStrike">
                          <a:effectLst/>
                        </a:rPr>
                        <a:t>DI</a:t>
                      </a:r>
                      <a:r>
                        <a:rPr lang="zh-CN" altLang="en-US" sz="900" u="none" strike="noStrike">
                          <a:effectLst/>
                        </a:rPr>
                        <a:t>值达标率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海外项目版本释放</a:t>
                      </a:r>
                      <a:r>
                        <a:rPr lang="en-US" altLang="zh-CN" sz="900" u="none" strike="noStrike">
                          <a:effectLst/>
                        </a:rPr>
                        <a:t>DI</a:t>
                      </a:r>
                      <a:r>
                        <a:rPr lang="zh-CN" altLang="en-US" sz="900" u="none" strike="noStrike">
                          <a:effectLst/>
                        </a:rPr>
                        <a:t>值达标率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项目</a:t>
                      </a:r>
                      <a:r>
                        <a:rPr lang="en-US" sz="900" u="none" strike="noStrike">
                          <a:effectLst/>
                        </a:rPr>
                        <a:t>TTM </a:t>
                      </a:r>
                      <a:r>
                        <a:rPr lang="zh-CN" altLang="en-US" sz="900" u="none" strike="noStrike">
                          <a:effectLst/>
                        </a:rPr>
                        <a:t>达成率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项目质量事件或质量事故数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284741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22</a:t>
                      </a:r>
                      <a:r>
                        <a:rPr lang="zh-CN" altLang="en-US" sz="1000" u="none" strike="noStrike">
                          <a:effectLst/>
                        </a:rPr>
                        <a:t>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56.5%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96.1%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98%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27094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23</a:t>
                      </a:r>
                      <a:r>
                        <a:rPr lang="zh-CN" altLang="en-US" sz="1000" u="none" strike="noStrike">
                          <a:effectLst/>
                        </a:rPr>
                        <a:t>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22.80%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76%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100%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0085589"/>
                  </a:ext>
                </a:extLst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920718" y="144315"/>
            <a:ext cx="10142900" cy="36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 整体运作情况总结</a:t>
            </a:r>
            <a:endParaRPr lang="zh-CN" sz="2400" b="1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58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主标题为方正兰亭 , 最大30pt"/>
          <p:cNvSpPr txBox="1"/>
          <p:nvPr/>
        </p:nvSpPr>
        <p:spPr>
          <a:xfrm>
            <a:off x="526415" y="195580"/>
            <a:ext cx="39395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0" algn="l">
              <a:buClrTx/>
              <a:buSzTx/>
              <a:buFontTx/>
              <a:buNone/>
            </a:pPr>
            <a:r>
              <a:rPr 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2023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年总结 </a:t>
            </a:r>
            <a:r>
              <a:rPr lang="en-US" altLang="zh-CN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– 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主要事项</a:t>
            </a:r>
            <a:endParaRPr lang="en-US" sz="2400" b="1" kern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8526018"/>
              </p:ext>
            </p:extLst>
          </p:nvPr>
        </p:nvGraphicFramePr>
        <p:xfrm>
          <a:off x="300365" y="792445"/>
          <a:ext cx="11536680" cy="6044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8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5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829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维度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微软雅黑"/>
                        <a:ea typeface="微软雅黑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40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23</a:t>
                      </a:r>
                      <a:r>
                        <a:rPr lang="zh-CN" altLang="en-US" sz="140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年主要完成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事项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微软雅黑"/>
                        <a:ea typeface="微软雅黑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完成效果总结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微软雅黑"/>
                        <a:ea typeface="微软雅黑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52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团队建设</a:t>
                      </a: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下半年新增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SEG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成员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171450" indent="-17145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周例会运作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113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项目看护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全年输出技术方案</a:t>
                      </a: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44</a:t>
                      </a: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篇</a:t>
                      </a:r>
                      <a:endParaRPr lang="en-US" altLang="zh-CN" sz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全年完成项目技术攻关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全年完成项目风险识别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规避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77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全年组织技术方案评审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200" kern="1200" baseline="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全年</a:t>
                      </a:r>
                      <a:r>
                        <a:rPr lang="en-US" altLang="zh-CN" sz="1200" kern="1200" baseline="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TTM</a:t>
                      </a:r>
                      <a:r>
                        <a:rPr lang="zh-CN" altLang="en-US" sz="1200" kern="1200" baseline="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达成率</a:t>
                      </a:r>
                      <a:r>
                        <a:rPr lang="en-US" altLang="zh-CN" sz="1200" kern="1200" baseline="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100%</a:t>
                      </a:r>
                    </a:p>
                    <a:p>
                      <a:pPr marL="0" algn="l" defTabSz="914400" rtl="0" eaLnBrk="1" fontAlgn="ctr" latinLnBrk="0" hangingPunct="1"/>
                      <a:endParaRPr lang="zh-CN" altLang="en-US" sz="1200" kern="1200" baseline="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862277"/>
                  </a:ext>
                </a:extLst>
              </a:tr>
              <a:tr h="1620456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质量看护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痛点收集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个，目前解决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个，解决率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55%</a:t>
                      </a:r>
                    </a:p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SOC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质量管控：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66700" marR="0" lvl="1" indent="-9366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SoC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feature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开发规范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66700" marR="0" lvl="1" indent="-9366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SOC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流水线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66700" marR="0" lvl="1" indent="-9366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代码格式规范性检查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66700" marR="0" lvl="1" indent="-9366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SoC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代码进行性能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稳定性专项测试，提升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SoC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代码交付质量</a:t>
                      </a:r>
                      <a:endParaRPr lang="zh-CN" altLang="en-US" sz="12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年因产品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引起的质量事件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事故为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件，首次全年无质量事故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101660"/>
                  </a:ext>
                </a:extLst>
              </a:tr>
              <a:tr h="405114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技术预研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全年完成行业洞察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15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篇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36412"/>
                  </a:ext>
                </a:extLst>
              </a:tr>
              <a:tr h="666104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流程及规范建设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全年完成流程规范新建</a:t>
                      </a: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</a:t>
                      </a: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篇、流程迭代优化</a:t>
                      </a: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篇</a:t>
                      </a:r>
                      <a:endParaRPr lang="en-US" altLang="zh-CN" sz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149210"/>
                  </a:ext>
                </a:extLst>
              </a:tr>
              <a:tr h="733717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团队能力建设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全年培训</a:t>
                      </a: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</a:t>
                      </a: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  <a:endParaRPr lang="en-US" altLang="zh-CN" sz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技术沉淀</a:t>
                      </a: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94</a:t>
                      </a: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篇</a:t>
                      </a:r>
                      <a:endParaRPr lang="en-US" altLang="zh-CN" sz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制定产品</a:t>
                      </a: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</a:t>
                      </a: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标杆方案，周度</a:t>
                      </a: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review</a:t>
                      </a: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效能指标</a:t>
                      </a:r>
                      <a:endParaRPr lang="en-US" altLang="zh-CN" sz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完成产品</a:t>
                      </a: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</a:t>
                      </a: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能力地图、作战手册修订</a:t>
                      </a:r>
                      <a:endParaRPr lang="en-US" altLang="zh-CN" sz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年参与晋升评审人员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名，均晋升通过，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人晋升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GGS13</a:t>
                      </a:r>
                      <a:endParaRPr lang="zh-CN" altLang="en-US" sz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564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83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主标题为方正兰亭 , 最大30pt"/>
          <p:cNvSpPr txBox="1"/>
          <p:nvPr/>
        </p:nvSpPr>
        <p:spPr>
          <a:xfrm>
            <a:off x="526415" y="195580"/>
            <a:ext cx="452866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0" algn="l">
              <a:buClrTx/>
              <a:buSzTx/>
              <a:buFontTx/>
              <a:buNone/>
            </a:pPr>
            <a:r>
              <a:rPr 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2023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年总结 </a:t>
            </a:r>
            <a:r>
              <a:rPr lang="en-US" altLang="zh-CN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– 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产品</a:t>
            </a:r>
            <a:r>
              <a:rPr lang="en-US" altLang="zh-CN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SE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团队变革</a:t>
            </a:r>
            <a:endParaRPr lang="en-US" sz="2400" b="1" kern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574632"/>
              </p:ext>
            </p:extLst>
          </p:nvPr>
        </p:nvGraphicFramePr>
        <p:xfrm>
          <a:off x="199259" y="690957"/>
          <a:ext cx="11082013" cy="6154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545">
                  <a:extLst>
                    <a:ext uri="{9D8B030D-6E8A-4147-A177-3AD203B41FA5}">
                      <a16:colId xmlns:a16="http://schemas.microsoft.com/office/drawing/2014/main" val="3831295800"/>
                    </a:ext>
                  </a:extLst>
                </a:gridCol>
                <a:gridCol w="5255571">
                  <a:extLst>
                    <a:ext uri="{9D8B030D-6E8A-4147-A177-3AD203B41FA5}">
                      <a16:colId xmlns:a16="http://schemas.microsoft.com/office/drawing/2014/main" val="1765928531"/>
                    </a:ext>
                  </a:extLst>
                </a:gridCol>
                <a:gridCol w="4273897">
                  <a:extLst>
                    <a:ext uri="{9D8B030D-6E8A-4147-A177-3AD203B41FA5}">
                      <a16:colId xmlns:a16="http://schemas.microsoft.com/office/drawing/2014/main" val="3371683006"/>
                    </a:ext>
                  </a:extLst>
                </a:gridCol>
              </a:tblGrid>
              <a:tr h="28400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zh-CN" sz="1400" b="1" kern="1200" dirty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  <a:cs typeface="+mn-cs"/>
                        </a:rPr>
                        <a:t>分类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zh-CN" sz="1400" b="1" kern="1200" dirty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  <a:cs typeface="+mn-cs"/>
                        </a:rPr>
                        <a:t>事项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  <a:cs typeface="+mn-cs"/>
                        </a:rPr>
                        <a:t>进度</a:t>
                      </a:r>
                      <a:endParaRPr lang="zh-CN" altLang="zh-CN" sz="1400" b="1" kern="1200" dirty="0">
                        <a:solidFill>
                          <a:srgbClr val="000000"/>
                        </a:solidFill>
                        <a:effectLst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081333"/>
                  </a:ext>
                </a:extLst>
              </a:tr>
              <a:tr h="439305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第一阶段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内外部洞察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理想开发模式洞察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从理想开发模式看产品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岗位</a:t>
                      </a:r>
                      <a:endParaRPr lang="en-US" altLang="zh-CN" sz="10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0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666313"/>
                  </a:ext>
                </a:extLst>
              </a:tr>
              <a:tr h="626342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看行业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对手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外部视角洞察产品</a:t>
                      </a:r>
                      <a:r>
                        <a:rPr lang="en-US" altLang="zh-CN" sz="10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岗位行业做法</a:t>
                      </a:r>
                      <a:endParaRPr lang="en-US" altLang="zh-CN" sz="10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华为、</a:t>
                      </a:r>
                      <a:r>
                        <a:rPr lang="en-US" altLang="zh-CN" sz="10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OPPO</a:t>
                      </a:r>
                      <a:r>
                        <a:rPr lang="zh-CN" altLang="en-US" sz="10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、海信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CN" sz="10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491868"/>
                  </a:ext>
                </a:extLst>
              </a:tr>
              <a:tr h="626342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看自己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岗位现状痛点分析</a:t>
                      </a:r>
                      <a:endParaRPr lang="en-US" altLang="zh-CN" sz="10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方式方法：问卷调研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/KOL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访谈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CN" sz="10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128531"/>
                  </a:ext>
                </a:extLst>
              </a:tr>
              <a:tr h="626342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看客户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主要看内部客户：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SPM/VPM/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软件经理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endParaRPr lang="en-US" altLang="zh-CN" sz="1000" b="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方式方法：问卷调研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/KOL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访谈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CN" sz="10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290766"/>
                  </a:ext>
                </a:extLst>
              </a:tr>
              <a:tr h="25245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第二阶段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认知层</a:t>
                      </a:r>
                      <a:endParaRPr lang="en-US" altLang="zh-CN" sz="12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235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 sz="1600"/>
                      </a:pPr>
                      <a:r>
                        <a:rPr lang="zh-CN" altLang="zh-CN" sz="10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角色定位</a:t>
                      </a:r>
                      <a:r>
                        <a:rPr lang="zh-CN" altLang="en-US" sz="10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zh-CN" sz="10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核心价值</a:t>
                      </a:r>
                      <a:r>
                        <a:rPr lang="zh-CN" altLang="en-US" sz="10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zh-CN" sz="1000" b="0" i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关键职责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0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41442"/>
                  </a:ext>
                </a:extLst>
              </a:tr>
              <a:tr h="252450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0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435849"/>
                  </a:ext>
                </a:extLst>
              </a:tr>
              <a:tr h="252450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ASK</a:t>
                      </a:r>
                      <a:r>
                        <a:rPr lang="zh-CN" altLang="en-US" sz="10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能力模型建立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已完成</a:t>
                      </a:r>
                      <a:endParaRPr lang="en-US" altLang="zh-CN" sz="10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54934"/>
                  </a:ext>
                </a:extLst>
              </a:tr>
              <a:tr h="418848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第三阶段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规范层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业务流程与其他相关角色的职责边界梳理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完成产品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相关流程梳理</a:t>
                      </a:r>
                      <a:endParaRPr lang="en-US" altLang="zh-CN" sz="10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完成产品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相关流程完善与变更</a:t>
                      </a:r>
                      <a:endParaRPr lang="zh-CN" altLang="en-US" sz="1000" kern="1200" baseline="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634817"/>
                  </a:ext>
                </a:extLst>
              </a:tr>
              <a:tr h="41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</a:t>
                      </a:r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</a:t>
                      </a:r>
                      <a:r>
                        <a:rPr lang="zh-CN" altLang="en-US" sz="10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培养和发展</a:t>
                      </a:r>
                      <a:endParaRPr lang="en-US" altLang="zh-CN" sz="100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成长路径制定 </a:t>
                      </a:r>
                      <a:endParaRPr lang="en-US" altLang="zh-CN" sz="1000" baseline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技术领域知识清单</a:t>
                      </a:r>
                      <a:endParaRPr lang="en-US" altLang="zh-CN" sz="1000" baseline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294187"/>
                  </a:ext>
                </a:extLst>
              </a:tr>
              <a:tr h="418848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进行场景经验萃取、沉淀到作战手册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完成产品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作战手册制定</a:t>
                      </a:r>
                      <a:endParaRPr lang="en-US" altLang="zh-CN" sz="1000" baseline="0" dirty="0" smtClean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完成产品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作战手册培训</a:t>
                      </a:r>
                      <a:endParaRPr lang="zh-CN" altLang="en-US" sz="100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974946"/>
                  </a:ext>
                </a:extLst>
              </a:tr>
              <a:tr h="594196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岗位标杆打造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标杆方案发布 </a:t>
                      </a:r>
                      <a:endParaRPr lang="en-US" altLang="zh-CN" sz="10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标杆方案指标制定 </a:t>
                      </a:r>
                      <a:endParaRPr lang="en-US" altLang="zh-CN" sz="10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标杆指标收集，周例会进行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review</a:t>
                      </a:r>
                      <a:endParaRPr lang="zh-CN" altLang="en-US" sz="100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059153"/>
                  </a:ext>
                </a:extLst>
              </a:tr>
              <a:tr h="252450">
                <a:tc vMerge="1">
                  <a:txBody>
                    <a:bodyPr/>
                    <a:lstStyle/>
                    <a:p>
                      <a:pPr algn="l"/>
                      <a:endParaRPr lang="zh-CN" altLang="en-US" sz="1100" b="1" dirty="0" smtClean="0"/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角色与能力模型嵌入任职资格标准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完成任职资格标准修订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771620"/>
                  </a:ext>
                </a:extLst>
              </a:tr>
              <a:tr h="25245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第四阶段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执行层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基于产品线的业务变革与团队调整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20990"/>
                  </a:ext>
                </a:extLst>
              </a:tr>
              <a:tr h="418848">
                <a:tc vMerge="1">
                  <a:txBody>
                    <a:bodyPr/>
                    <a:lstStyle/>
                    <a:p>
                      <a:pPr algn="ctr"/>
                      <a:endParaRPr lang="en-US" altLang="zh-CN" sz="11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岗位培训课程制定与实施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输出技术领域知识清单</a:t>
                      </a:r>
                      <a:endParaRPr lang="en-US" altLang="zh-CN" sz="1000" baseline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基于领域知识清单，完成专业培训课程制定</a:t>
                      </a:r>
                      <a:r>
                        <a:rPr lang="zh-CN" altLang="en-US" sz="1000" kern="1200" baseline="0" dirty="0" smtClean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0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– </a:t>
                      </a:r>
                      <a:r>
                        <a:rPr lang="zh-CN" altLang="en-US" sz="10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进行中</a:t>
                      </a:r>
                      <a:endParaRPr lang="en-US" altLang="zh-CN" sz="1000" kern="1200" baseline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533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65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主标题为方正兰亭 , 最大30pt"/>
          <p:cNvSpPr txBox="1"/>
          <p:nvPr/>
        </p:nvSpPr>
        <p:spPr>
          <a:xfrm>
            <a:off x="526415" y="195580"/>
            <a:ext cx="5470058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0" algn="l">
              <a:buClrTx/>
              <a:buSzTx/>
              <a:buFontTx/>
              <a:buNone/>
            </a:pPr>
            <a:r>
              <a:rPr 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2024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年策略及重点事项</a:t>
            </a:r>
            <a:endParaRPr lang="en-US" sz="2400" b="1" kern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6038853"/>
              </p:ext>
            </p:extLst>
          </p:nvPr>
        </p:nvGraphicFramePr>
        <p:xfrm>
          <a:off x="642552" y="907333"/>
          <a:ext cx="10554306" cy="5782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7878">
                  <a:extLst>
                    <a:ext uri="{9D8B030D-6E8A-4147-A177-3AD203B41FA5}">
                      <a16:colId xmlns:a16="http://schemas.microsoft.com/office/drawing/2014/main" val="2727061566"/>
                    </a:ext>
                  </a:extLst>
                </a:gridCol>
              </a:tblGrid>
              <a:tr h="378252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40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维度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微软雅黑"/>
                        <a:ea typeface="微软雅黑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40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24</a:t>
                      </a:r>
                      <a:r>
                        <a:rPr lang="zh-CN" altLang="en-US" sz="140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年工作策略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微软雅黑"/>
                        <a:ea typeface="微软雅黑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40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24</a:t>
                      </a:r>
                      <a:r>
                        <a:rPr lang="zh-CN" altLang="en-US" sz="140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微软雅黑"/>
                        </a:rPr>
                        <a:t>年重点事项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微软雅黑"/>
                        <a:ea typeface="微软雅黑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224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团队建设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 latinLnBrk="0">
                        <a:buFont typeface="+mj-lt"/>
                        <a:buAutoNum type="arabicPeriod"/>
                      </a:pP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SEG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运作方案优化，通过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OKR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对齐工作目标</a:t>
                      </a:r>
                      <a:endParaRPr lang="en-US" altLang="zh-CN" sz="10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indent="-228600" algn="l" fontAlgn="ctr" latinLnBrk="0">
                        <a:buFont typeface="+mj-lt"/>
                        <a:buAutoNum type="arabicPeriod"/>
                      </a:pP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标杆方案推进，实现效能指标线上化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标杆方案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911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方案看护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4222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根据</a:t>
                      </a:r>
                      <a:r>
                        <a:rPr lang="en-US" altLang="zh-CN" sz="1000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NPI</a:t>
                      </a:r>
                      <a:r>
                        <a:rPr lang="zh-CN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方案缺陷，主导系统解决方案设计</a:t>
                      </a:r>
                      <a:endParaRPr lang="en-US" altLang="zh-CN" sz="1000" kern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228600" marR="0" lvl="0" indent="-228600" algn="l" defTabSz="4222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技术评审</a:t>
                      </a:r>
                      <a:endParaRPr lang="en-US" altLang="zh-CN" sz="1000" kern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171450" indent="1588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外部评审：RAT评审、技术评审、需求上车评审</a:t>
                      </a:r>
                    </a:p>
                    <a:p>
                      <a:pPr marL="171450" indent="1588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内部评审：NPI方案评审(*)、技术方案评审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需求上车流程优化</a:t>
                      </a:r>
                      <a:endParaRPr lang="en-US" altLang="zh-CN" sz="10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 fontAlgn="ctr" latinLnBrk="0"/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需求价值验收方案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588948"/>
                  </a:ext>
                </a:extLst>
              </a:tr>
              <a:tr h="725924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流程及规范建设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对齐行业开发模式，不断进行NPI流程规范制定、修正、优化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SEG</a:t>
                      </a: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进行流程宣导，先固化、再优化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NPI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流水线建设（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SOC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流水线）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862277"/>
                  </a:ext>
                </a:extLst>
              </a:tr>
              <a:tr h="1040551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质量看护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痛点收集/改善：</a:t>
                      </a:r>
                      <a:endParaRPr lang="en-US" altLang="zh-CN" sz="10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266700">
                        <a:buNone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a. NPI痛点收集、输出解决方案、闭环改善(*)</a:t>
                      </a:r>
                    </a:p>
                    <a:p>
                      <a:pPr marL="0" indent="266700">
                        <a:buNone/>
                      </a:pP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b. 高频问题主动审视</a:t>
                      </a:r>
                    </a:p>
                    <a:p>
                      <a:pPr marL="228600" marR="0" lvl="0" indent="-228600" algn="l" defTabSz="4222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zh-CN" altLang="en-US" sz="10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老大难攻关，对长期未能解决的问题进行攻关</a:t>
                      </a:r>
                      <a:endParaRPr lang="en-US" altLang="zh-CN" sz="10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28600" marR="0" lvl="0" indent="-228600" algn="l" defTabSz="4222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zh-CN" altLang="en-US" sz="10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对NPI举旗问题进行风险对齐、闭环落地</a:t>
                      </a:r>
                      <a:endParaRPr lang="en-US" altLang="zh-CN" sz="10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SOC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质量管控</a:t>
                      </a:r>
                      <a:endParaRPr lang="en-US" altLang="zh-CN" sz="10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 fontAlgn="ctr" latinLnBrk="0"/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质量门禁修订、优化</a:t>
                      </a:r>
                      <a:endParaRPr lang="en-US" altLang="zh-CN" sz="10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 fontAlgn="ctr" latinLnBrk="0"/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LMT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平台能力建设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101660"/>
                  </a:ext>
                </a:extLst>
              </a:tr>
              <a:tr h="911218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技术预研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222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洞察，创新小齿轮，专利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持续洞察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16073"/>
                  </a:ext>
                </a:extLst>
              </a:tr>
              <a:tr h="1246754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团队能力建设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 latinLnBrk="0">
                        <a:buFont typeface="+mj-lt"/>
                        <a:buAutoNum type="arabicPeriod"/>
                      </a:pP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团队变革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2.0</a:t>
                      </a:r>
                    </a:p>
                    <a:p>
                      <a:pPr marL="228600" indent="-228600" algn="l" fontAlgn="ctr" latinLnBrk="0">
                        <a:buFont typeface="+mj-lt"/>
                        <a:buAutoNum type="arabicPeriod"/>
                      </a:pP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SWLMT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团队建设</a:t>
                      </a:r>
                      <a:endParaRPr lang="en-US" altLang="zh-CN" sz="10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indent="-228600" algn="l" fontAlgn="ctr" latinLnBrk="0">
                        <a:buFont typeface="+mj-lt"/>
                        <a:buAutoNum type="arabicPeriod"/>
                      </a:pP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DE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模式持续优化</a:t>
                      </a:r>
                      <a:endParaRPr lang="en-US" altLang="zh-CN" sz="10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indent="-228600" algn="l" fontAlgn="ctr" latinLnBrk="0">
                        <a:buFont typeface="+mj-lt"/>
                        <a:buAutoNum type="arabicPeriod"/>
                      </a:pP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持续双周培训，对重点内容引进外部培训资源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222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产品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团队变革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2.0</a:t>
                      </a:r>
                    </a:p>
                    <a:p>
                      <a:pPr marL="0" marR="0" lvl="0" indent="0" algn="l" defTabSz="42227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外包产品</a:t>
                      </a: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</a:t>
                      </a:r>
                      <a:r>
                        <a:rPr lang="zh-CN" altLang="en-US" sz="100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能力建设</a:t>
                      </a:r>
                      <a:endParaRPr lang="en-US" altLang="zh-CN" sz="10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149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401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/>
          <p:cNvSpPr txBox="1"/>
          <p:nvPr/>
        </p:nvSpPr>
        <p:spPr>
          <a:xfrm>
            <a:off x="1000199" y="185828"/>
            <a:ext cx="25335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产品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SEG KPI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  <p:extLst/>
          </p:nvPr>
        </p:nvGraphicFramePr>
        <p:xfrm>
          <a:off x="243840" y="1"/>
          <a:ext cx="11597639" cy="6808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2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196415859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688920816"/>
                    </a:ext>
                  </a:extLst>
                </a:gridCol>
                <a:gridCol w="740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69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事项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1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指标</a:t>
                      </a:r>
                      <a:r>
                        <a:rPr lang="en-US" altLang="zh-CN" sz="11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衡量标准</a:t>
                      </a:r>
                      <a:r>
                        <a:rPr lang="en-US" altLang="zh-CN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关键结果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1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泽欢</a:t>
                      </a:r>
                      <a:endParaRPr lang="zh-CN" altLang="en-US" sz="11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1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江亭</a:t>
                      </a:r>
                      <a:endParaRPr lang="zh-CN" altLang="en-US" sz="11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1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雪梅</a:t>
                      </a:r>
                      <a:endParaRPr lang="zh-CN" altLang="en-US" sz="11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524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重要三件事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重要三件事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marL="228600" indent="-228600" fontAlgn="auto">
                        <a:lnSpc>
                          <a:spcPct val="100000"/>
                        </a:lnSpc>
                        <a:buAutoNum type="arabicPeriod"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持续构建产品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培养体系，重点培养产品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的全局意识、作战方法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   a. 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完成产品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作战手册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2.0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迭代，并制定培训计划，完成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60%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培训课程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   b, 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完成产品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效能指标线上化，并开始运作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2. LMT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流程及平台能力建设，得分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分以上（得分同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LMT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指标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)</a:t>
                      </a: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灵悉流水线建设，得分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分以上（得分同灵悉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OS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）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按指标完成情况进行打分：</a:t>
                      </a: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a. 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项，得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zh-CN" altLang="zh-CN" sz="900" b="0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b. 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项，得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c. 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其余不得分</a:t>
                      </a:r>
                      <a:endParaRPr lang="en-US" altLang="zh-CN" sz="900" b="0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10%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6381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重要三件事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LMT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流程及平台能力建设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LMT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流程及平台能力建设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（一）、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LMT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流程建设：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各项流程建设优化或者建立，经复盘落地优化措施取得明显效果，得到软工中心认可，得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各项流程建设优化或者建立，经复盘落地优化措施取得明显效果，得到解决方案中心认可，得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各项流程建设优化或者建立，经复盘落地优化措施取得明显效果，得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4.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其他不得分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（二）、平台建设：流水线、自动化巡检、自动签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BOM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、量产分支入库流程等平台工具的导入：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导入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个及以上平台工具或流程，并落地执行得到解决方案中心认可，得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导入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个平台工具或流程，并落地执行，得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导入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个平台工具或流程，并落地执行，得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4.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其他不得分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总分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=LMT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流程建设*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50%+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平台建设*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50%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423314179"/>
                  </a:ext>
                </a:extLst>
              </a:tr>
              <a:tr h="707027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重要三件事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灵悉流水线建设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灵悉流水线建设 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– 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雪梅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持续完善灵悉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OS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运作模式变革，致力于研发质量和效能提升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、完善流水线方案并落地，质量（异常发现率）提升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20%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，开发效率提升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10% 3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、完善流水线方案并落地，质量（异常发现率）提升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30%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，开发效率提升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20% 4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、完善流水线方案并落地，质量（异常发现率）提升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40%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，开发效率提升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30% 5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510772333"/>
                  </a:ext>
                </a:extLst>
              </a:tr>
              <a:tr h="1101036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组织贡献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组织贡献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月份开始，</a:t>
                      </a: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1，撰写和修订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NPI开发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流程规范、技术模板，并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90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tpros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发布执行，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总数X篇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，组织技术攻关、老大难问题解决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、产品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痛点解决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，完成问题解决并闭环，总数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Y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次</a:t>
                      </a: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3,</a:t>
                      </a:r>
                      <a:r>
                        <a:rPr lang="en-US" altLang="zh-CN" sz="90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   </a:t>
                      </a:r>
                      <a:r>
                        <a:rPr lang="zh-CN" altLang="en-US" sz="90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输出中心级以上培训</a:t>
                      </a:r>
                      <a:r>
                        <a:rPr lang="en-US" altLang="zh-CN" sz="90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Z</a:t>
                      </a:r>
                      <a:r>
                        <a:rPr lang="zh-CN" altLang="en-US" sz="90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次，中心级培训（参与人数超过中心总人数</a:t>
                      </a:r>
                      <a:r>
                        <a:rPr lang="en-US" altLang="zh-CN" sz="90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1/4</a:t>
                      </a:r>
                      <a:r>
                        <a:rPr lang="zh-CN" altLang="en-US" sz="90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），并录制课程，上传课件：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a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，X+Y</a:t>
                      </a: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+Z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 &gt;= </a:t>
                      </a: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7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得5分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b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，X+Y</a:t>
                      </a: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+Z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 &gt;= </a:t>
                      </a: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5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得4分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c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，X+Y</a:t>
                      </a: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+Z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 &gt;= </a:t>
                      </a:r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4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zh-CN" altLang="zh-CN" sz="9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  <a:sym typeface="+mn-ea"/>
                        </a:rPr>
                        <a:t>得3分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其余不得分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en-US" altLang="en-US" sz="10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en-US" altLang="en-US" sz="10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en-US" altLang="en-US" sz="10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709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组织贡献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组织贡献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所负责机芯（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XXX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）质量看护，持续稳定、高质量交付：</a:t>
                      </a:r>
                      <a:endParaRPr lang="en-US" altLang="zh-CN" sz="900" b="0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在线质量得分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90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分以上（机芯得分同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LMT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指标）</a:t>
                      </a:r>
                      <a:endParaRPr lang="en-US" altLang="zh-CN" sz="900" b="0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产品成熟度得分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分以上（机芯得分同解决方案指标）</a:t>
                      </a:r>
                      <a:endParaRPr lang="en-US" altLang="zh-CN" sz="900" b="0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900" b="0" kern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产品竞争力得分</a:t>
                      </a:r>
                      <a:r>
                        <a:rPr lang="en-US" altLang="zh-CN" sz="900" b="0" kern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900" b="0" kern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分以上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（机芯得分同解决方案指标）</a:t>
                      </a:r>
                      <a:endParaRPr lang="en-US" altLang="zh-CN" sz="900" b="0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所负责项目因产品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引起的质量事件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事故数，总数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所负责机芯数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&lt;1</a:t>
                      </a: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按指标完成情况进行打分：</a:t>
                      </a: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a. 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项，得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  <a:endParaRPr lang="zh-CN" altLang="zh-CN" sz="900" b="0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b. 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项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以上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，得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c. 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项</a:t>
                      </a:r>
                      <a:r>
                        <a:rPr lang="zh-CN" altLang="en-US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以上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，得</a:t>
                      </a: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分</a:t>
                      </a:r>
                    </a:p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d. </a:t>
                      </a:r>
                      <a:r>
                        <a:rPr lang="zh-CN" altLang="zh-CN" sz="900" b="0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微软雅黑" panose="020B0503020204020204" pitchFamily="34" charset="-122"/>
                        </a:rPr>
                        <a:t>其余不得分</a:t>
                      </a:r>
                      <a:endParaRPr lang="en-US" altLang="zh-CN" sz="900" b="0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10%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en-US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66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96f3feb-e402-4d67-ba36-8cc6a7d842ff"/>
  <p:tag name="COMMONDATA" val="eyJoZGlkIjoiNWQ0OGZiMjdhNDdhOGY4M2JkNzExYzk5NWVhNGY5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14746e0-3914-4d46-9c57-323bec5bd05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14746e0-3914-4d46-9c57-323bec5bd05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bbc857b-937b-419f-a4a1-17f4df7d1df0}"/>
  <p:tag name="TABLE_ENDDRAG_ORIGIN_RECT" val="795*443"/>
  <p:tag name="TABLE_ENDDRAG_RECT" val="78*51*795*443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rgbClr val="BDD7EE"/>
        </a:solidFill>
        <a:ln>
          <a:noFill/>
        </a:ln>
      </a:spPr>
      <a:bodyPr vert="horz" wrap="none" lIns="36000" tIns="36036" rIns="36000" bIns="36036" rtlCol="0" anchor="ctr">
        <a:noAutofit/>
      </a:bodyPr>
      <a:lstStyle>
        <a:defPPr defTabSz="914400" hangingPunct="1">
          <a:defRPr sz="1200" kern="1200" cap="all" spc="450" dirty="0" err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2802</TotalTime>
  <Words>1700</Words>
  <Application>Microsoft Office PowerPoint</Application>
  <PresentationFormat>宽屏</PresentationFormat>
  <Paragraphs>269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FZLanTingHei-M-GBK</vt:lpstr>
      <vt:lpstr>Helvetica Neue Medium</vt:lpstr>
      <vt:lpstr>Microsoft YaHei UI</vt:lpstr>
      <vt:lpstr>DengXian</vt:lpstr>
      <vt:lpstr>DengXian</vt:lpstr>
      <vt:lpstr>等线 Light</vt:lpstr>
      <vt:lpstr>宋体</vt:lpstr>
      <vt:lpstr>Microsoft YaHei</vt:lpstr>
      <vt:lpstr>Microsoft YaHei</vt:lpstr>
      <vt:lpstr>Arial</vt:lpstr>
      <vt:lpstr>Helvetica</vt:lpstr>
      <vt:lpstr>Wingdings</vt:lpstr>
      <vt:lpstr>自定义设计方案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叶晔</dc:creator>
  <cp:lastModifiedBy>曾泽欢</cp:lastModifiedBy>
  <cp:revision>107</cp:revision>
  <dcterms:created xsi:type="dcterms:W3CDTF">2021-11-16T02:01:00Z</dcterms:created>
  <dcterms:modified xsi:type="dcterms:W3CDTF">2024-03-31T15:20:07Z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1C08FEDFEEC4464981558655C8F5FE85</vt:lpwstr>
  </property>
  <property fmtid="{D5CDD505-2E9C-101B-9397-08002B2CF9AE}" pid="3" name="KSOProductBuildVer">
    <vt:lpwstr>2052-11.1.0.12980</vt:lpwstr>
  </property>
</Properties>
</file>