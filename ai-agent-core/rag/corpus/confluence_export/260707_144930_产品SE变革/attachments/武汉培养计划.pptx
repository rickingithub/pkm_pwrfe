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"/>
  </p:notesMasterIdLst>
  <p:sldIdLst>
    <p:sldId id="263" r:id="rId2"/>
    <p:sldId id="26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4"/>
    <p:restoredTop sz="94659"/>
  </p:normalViewPr>
  <p:slideViewPr>
    <p:cSldViewPr snapToGrid="0" snapToObjects="1">
      <p:cViewPr varScale="1">
        <p:scale>
          <a:sx n="111" d="100"/>
          <a:sy n="111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  <a:t>2023/6/26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051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9F79E-B6B7-534B-AAEE-1F443B7D50D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472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1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A7EEE-F722-6C4C-AE61-1ECE835B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>
            <a:extLst>
              <a:ext uri="{FF2B5EF4-FFF2-40B4-BE49-F238E27FC236}">
                <a16:creationId xmlns:a16="http://schemas.microsoft.com/office/drawing/2014/main" id="{75A2DA61-939B-0D4D-B601-8F7B3B9AE69B}"/>
              </a:ext>
            </a:extLst>
          </p:cNvPr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>
              <a:extLst>
                <a:ext uri="{FF2B5EF4-FFF2-40B4-BE49-F238E27FC236}">
                  <a16:creationId xmlns:a16="http://schemas.microsoft.com/office/drawing/2014/main" id="{21B9E818-B178-1C47-A295-FF7AF2A569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8049"/>
            <a:stretch/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A6B59DD9-9DB4-114D-B787-1DE236C2EBAA}"/>
                </a:ext>
              </a:extLst>
            </p:cNvPr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8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A7EEE-F722-6C4C-AE61-1ECE835B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 descr="徽标&#10;&#10;描述已自动生成">
            <a:extLst>
              <a:ext uri="{FF2B5EF4-FFF2-40B4-BE49-F238E27FC236}">
                <a16:creationId xmlns:a16="http://schemas.microsoft.com/office/drawing/2014/main" id="{336B3B5A-B23C-744C-9F53-81B6345F7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>
            <a:extLst>
              <a:ext uri="{FF2B5EF4-FFF2-40B4-BE49-F238E27FC236}">
                <a16:creationId xmlns:a16="http://schemas.microsoft.com/office/drawing/2014/main" id="{F6D0941F-F9D9-E443-A1FF-BFB7A466C5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D2D0FB9-569C-BC46-BDE2-8F7C262492F0}"/>
              </a:ext>
            </a:extLst>
          </p:cNvPr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A7EEE-F722-6C4C-AE61-1ECE835B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513AA8-AABC-BA44-A1D8-7A030285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F20C0C-40E5-5F46-AEF2-AB2BD3985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F582A-DF42-2541-86B6-00CD04DEB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FD2AD-060D-5349-9C17-62446B34A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BBA08-E8B6-3E41-A4C4-30742C0A3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027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6" r:id="rId3"/>
    <p:sldLayoutId id="2147483657" r:id="rId4"/>
    <p:sldLayoutId id="2147483658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tclking.com/pages/viewpage.action?pageId=21213017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为方正兰亭 , 最大30pt">
            <a:extLst>
              <a:ext uri="{FF2B5EF4-FFF2-40B4-BE49-F238E27FC236}">
                <a16:creationId xmlns:a16="http://schemas.microsoft.com/office/drawing/2014/main" id="{30C54735-750B-0849-864C-70B5C1DDCA77}"/>
              </a:ext>
            </a:extLst>
          </p:cNvPr>
          <p:cNvSpPr txBox="1"/>
          <p:nvPr/>
        </p:nvSpPr>
        <p:spPr>
          <a:xfrm>
            <a:off x="1419311" y="3207839"/>
            <a:ext cx="2359620" cy="512961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06058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30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LanTingHei-M-GBK" charset="-122"/>
              </a:rPr>
              <a:t>武汉培养计划</a:t>
            </a:r>
            <a:endParaRPr sz="3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FZLanTingHei-M-GBK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7" y="1118301"/>
            <a:ext cx="2646628" cy="60853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80075" y="4965107"/>
            <a:ext cx="372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2023-06-26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23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主标题为方正兰亭 , 最大30pt">
            <a:extLst>
              <a:ext uri="{FF2B5EF4-FFF2-40B4-BE49-F238E27FC236}">
                <a16:creationId xmlns:a16="http://schemas.microsoft.com/office/drawing/2014/main" id="{19A49367-C242-7244-A361-489492D1F4D8}"/>
              </a:ext>
            </a:extLst>
          </p:cNvPr>
          <p:cNvSpPr txBox="1"/>
          <p:nvPr/>
        </p:nvSpPr>
        <p:spPr>
          <a:xfrm>
            <a:off x="1123472" y="195099"/>
            <a:ext cx="1667123" cy="374461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06058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100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LanTingHei-M-GBK" charset="-122"/>
              </a:rPr>
              <a:t>武汉培养计划</a:t>
            </a:r>
            <a:endParaRPr sz="21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FZLanTingHei-M-GBK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677283"/>
              </p:ext>
            </p:extLst>
          </p:nvPr>
        </p:nvGraphicFramePr>
        <p:xfrm>
          <a:off x="445476" y="927037"/>
          <a:ext cx="11095893" cy="5090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422">
                  <a:extLst>
                    <a:ext uri="{9D8B030D-6E8A-4147-A177-3AD203B41FA5}">
                      <a16:colId xmlns:a16="http://schemas.microsoft.com/office/drawing/2014/main" val="694076309"/>
                    </a:ext>
                  </a:extLst>
                </a:gridCol>
                <a:gridCol w="2044460">
                  <a:extLst>
                    <a:ext uri="{9D8B030D-6E8A-4147-A177-3AD203B41FA5}">
                      <a16:colId xmlns:a16="http://schemas.microsoft.com/office/drawing/2014/main" val="2602946395"/>
                    </a:ext>
                  </a:extLst>
                </a:gridCol>
                <a:gridCol w="5628834">
                  <a:extLst>
                    <a:ext uri="{9D8B030D-6E8A-4147-A177-3AD203B41FA5}">
                      <a16:colId xmlns:a16="http://schemas.microsoft.com/office/drawing/2014/main" val="3260812022"/>
                    </a:ext>
                  </a:extLst>
                </a:gridCol>
                <a:gridCol w="2203177">
                  <a:extLst>
                    <a:ext uri="{9D8B030D-6E8A-4147-A177-3AD203B41FA5}">
                      <a16:colId xmlns:a16="http://schemas.microsoft.com/office/drawing/2014/main" val="2413047869"/>
                    </a:ext>
                  </a:extLst>
                </a:gridCol>
              </a:tblGrid>
              <a:tr h="3682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核心指标（结果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关键措施解码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050969"/>
                  </a:ext>
                </a:extLst>
              </a:tr>
              <a:tr h="2707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 smtClean="0"/>
                        <a:t>提效率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1</a:t>
                      </a:r>
                      <a:r>
                        <a:rPr lang="en-US" altLang="zh-CN" sz="1000" dirty="0" smtClean="0"/>
                        <a:t>.</a:t>
                      </a:r>
                      <a:r>
                        <a:rPr lang="zh-CN" altLang="en-US" sz="1000" dirty="0" smtClean="0"/>
                        <a:t>交付</a:t>
                      </a:r>
                      <a:r>
                        <a:rPr lang="zh-CN" altLang="en-US" sz="1000" dirty="0" smtClean="0"/>
                        <a:t>项目数量，释放版本数量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2.</a:t>
                      </a:r>
                      <a:r>
                        <a:rPr lang="zh-CN" altLang="en-US" sz="1000" dirty="0" smtClean="0"/>
                        <a:t>认证团队交付认证版本通过率，认证版本数量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3.</a:t>
                      </a:r>
                      <a:r>
                        <a:rPr lang="zh-CN" altLang="en-US" sz="1000" dirty="0" smtClean="0"/>
                        <a:t>三方问题</a:t>
                      </a:r>
                      <a:r>
                        <a:rPr lang="en-US" altLang="zh-CN" sz="1000" dirty="0" smtClean="0"/>
                        <a:t>DI</a:t>
                      </a:r>
                      <a:r>
                        <a:rPr lang="zh-CN" altLang="en-US" sz="1000" dirty="0" smtClean="0"/>
                        <a:t>值达标率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 smtClean="0"/>
                        <a:t>SE</a:t>
                      </a:r>
                      <a:r>
                        <a:rPr lang="zh-CN" altLang="en-US" sz="1000" b="1" dirty="0" smtClean="0"/>
                        <a:t>提效：</a:t>
                      </a:r>
                      <a:endParaRPr lang="en-US" altLang="zh-CN" sz="1000" b="1" dirty="0" smtClean="0"/>
                    </a:p>
                    <a:p>
                      <a:r>
                        <a:rPr lang="en-US" altLang="zh-CN" sz="1000" dirty="0" smtClean="0"/>
                        <a:t>1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梳理</a:t>
                      </a:r>
                      <a:r>
                        <a:rPr lang="zh-CN" altLang="en-US" sz="1000" dirty="0" smtClean="0"/>
                        <a:t>出派生、维护项目项目管理流程，</a:t>
                      </a:r>
                      <a:r>
                        <a:rPr lang="en-US" altLang="zh-CN" sz="1000" dirty="0" smtClean="0"/>
                        <a:t>DI</a:t>
                      </a:r>
                      <a:r>
                        <a:rPr lang="zh-CN" altLang="en-US" sz="1000" dirty="0" smtClean="0"/>
                        <a:t>管控流程，在现有</a:t>
                      </a:r>
                      <a:r>
                        <a:rPr lang="en-US" altLang="zh-CN" sz="1000" dirty="0" smtClean="0"/>
                        <a:t>NPI</a:t>
                      </a:r>
                      <a:r>
                        <a:rPr lang="zh-CN" altLang="en-US" sz="1000" dirty="0" smtClean="0"/>
                        <a:t>流程下能够快速派生，快速迭代。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共</a:t>
                      </a:r>
                      <a:r>
                        <a:rPr lang="zh-CN" altLang="en-US" sz="1000" dirty="0" smtClean="0"/>
                        <a:t>分支策略，加快问题收敛，版本释放。版本释放周期提升</a:t>
                      </a:r>
                      <a:r>
                        <a:rPr lang="en-US" altLang="zh-CN" sz="1000" dirty="0" smtClean="0"/>
                        <a:t>10%</a:t>
                      </a:r>
                    </a:p>
                    <a:p>
                      <a:r>
                        <a:rPr lang="zh-CN" altLang="en-US" sz="1000" b="1" dirty="0" smtClean="0"/>
                        <a:t>认证团队提效：</a:t>
                      </a:r>
                      <a:endParaRPr lang="en-US" altLang="zh-CN" sz="1000" b="1" dirty="0" smtClean="0"/>
                    </a:p>
                    <a:p>
                      <a:r>
                        <a:rPr lang="en-US" altLang="zh-CN" sz="1000" dirty="0" smtClean="0"/>
                        <a:t>1. </a:t>
                      </a:r>
                      <a:r>
                        <a:rPr lang="zh-CN" altLang="en-US" sz="1000" dirty="0" smtClean="0"/>
                        <a:t>梳理</a:t>
                      </a:r>
                      <a:r>
                        <a:rPr lang="en-US" altLang="zh-CN" sz="1000" dirty="0" err="1" smtClean="0"/>
                        <a:t>xts</a:t>
                      </a:r>
                      <a:r>
                        <a:rPr lang="en-US" altLang="zh-CN" sz="1000" dirty="0" smtClean="0"/>
                        <a:t> </a:t>
                      </a:r>
                      <a:r>
                        <a:rPr lang="zh-CN" altLang="en-US" sz="1000" dirty="0" smtClean="0"/>
                        <a:t>认证团队痛点以及制定解决策略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量</a:t>
                      </a:r>
                      <a:r>
                        <a:rPr lang="zh-CN" altLang="en-US" sz="1000" dirty="0" smtClean="0"/>
                        <a:t>产分支策略，确保</a:t>
                      </a:r>
                      <a:r>
                        <a:rPr lang="en-US" altLang="zh-CN" sz="1000" dirty="0" err="1" smtClean="0"/>
                        <a:t>xts</a:t>
                      </a:r>
                      <a:r>
                        <a:rPr lang="zh-CN" altLang="en-US" sz="1000" dirty="0" smtClean="0"/>
                        <a:t>在量产分支上面</a:t>
                      </a:r>
                      <a:r>
                        <a:rPr lang="en-US" altLang="zh-CN" sz="1000" dirty="0" smtClean="0"/>
                        <a:t>pass</a:t>
                      </a:r>
                      <a:r>
                        <a:rPr lang="zh-CN" altLang="en-US" sz="1000" dirty="0" smtClean="0"/>
                        <a:t>，减少开发人员整理</a:t>
                      </a:r>
                      <a:r>
                        <a:rPr lang="en-US" altLang="zh-CN" sz="1000" dirty="0" smtClean="0"/>
                        <a:t>pass</a:t>
                      </a:r>
                      <a:r>
                        <a:rPr lang="zh-CN" altLang="en-US" sz="1000" dirty="0" smtClean="0"/>
                        <a:t>报告时效，快速出报告。</a:t>
                      </a:r>
                      <a:r>
                        <a:rPr lang="en-US" altLang="zh-CN" sz="1000" dirty="0" smtClean="0"/>
                        <a:t>Pass </a:t>
                      </a:r>
                      <a:r>
                        <a:rPr lang="zh-CN" altLang="en-US" sz="1000" dirty="0" smtClean="0"/>
                        <a:t>版本一次通过率提升</a:t>
                      </a:r>
                      <a:r>
                        <a:rPr lang="en-US" altLang="zh-CN" sz="1000" dirty="0" smtClean="0"/>
                        <a:t>30%,</a:t>
                      </a:r>
                    </a:p>
                    <a:p>
                      <a:r>
                        <a:rPr lang="en-US" altLang="zh-CN" sz="1000" dirty="0" smtClean="0"/>
                        <a:t>3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引入</a:t>
                      </a:r>
                      <a:r>
                        <a:rPr lang="en-US" altLang="zh-CN" sz="1000" dirty="0" err="1" smtClean="0"/>
                        <a:t>xts</a:t>
                      </a:r>
                      <a:r>
                        <a:rPr lang="en-US" altLang="zh-CN" sz="1000" dirty="0" smtClean="0"/>
                        <a:t> SE</a:t>
                      </a:r>
                      <a:r>
                        <a:rPr lang="zh-CN" altLang="en-US" sz="1000" dirty="0" smtClean="0"/>
                        <a:t>对</a:t>
                      </a:r>
                      <a:r>
                        <a:rPr lang="en-US" altLang="zh-CN" sz="1000" dirty="0" err="1" smtClean="0"/>
                        <a:t>xts</a:t>
                      </a:r>
                      <a:r>
                        <a:rPr lang="zh-CN" altLang="en-US" sz="1000" dirty="0" smtClean="0"/>
                        <a:t>认证端到端交付，问题解决效率提升</a:t>
                      </a:r>
                      <a:r>
                        <a:rPr lang="en-US" altLang="zh-CN" sz="1000" dirty="0" smtClean="0"/>
                        <a:t>30%</a:t>
                      </a:r>
                    </a:p>
                    <a:p>
                      <a:r>
                        <a:rPr lang="zh-CN" altLang="en-US" sz="1000" b="1" dirty="0" smtClean="0"/>
                        <a:t>三方问题提效：</a:t>
                      </a:r>
                      <a:endParaRPr lang="en-US" altLang="zh-CN" sz="1000" b="1" dirty="0" smtClean="0"/>
                    </a:p>
                    <a:p>
                      <a:r>
                        <a:rPr lang="en-US" altLang="zh-CN" sz="1000" dirty="0" smtClean="0"/>
                        <a:t>1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梳理</a:t>
                      </a:r>
                      <a:r>
                        <a:rPr lang="zh-CN" altLang="en-US" sz="1000" dirty="0" smtClean="0"/>
                        <a:t>三方问题痛点并制定解决措施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</a:t>
                      </a:r>
                      <a:r>
                        <a:rPr lang="en-US" altLang="zh-CN" sz="1000" dirty="0" smtClean="0"/>
                        <a:t>. </a:t>
                      </a:r>
                      <a:r>
                        <a:rPr lang="zh-CN" altLang="en-US" sz="1000" dirty="0" smtClean="0"/>
                        <a:t>制定</a:t>
                      </a:r>
                      <a:r>
                        <a:rPr lang="zh-CN" altLang="en-US" sz="1000" dirty="0" smtClean="0"/>
                        <a:t>三方问题处理机制，</a:t>
                      </a:r>
                      <a:r>
                        <a:rPr lang="en-US" altLang="zh-CN" sz="1000" dirty="0" smtClean="0"/>
                        <a:t>DI</a:t>
                      </a:r>
                      <a:r>
                        <a:rPr lang="zh-CN" altLang="en-US" sz="1000" dirty="0" smtClean="0"/>
                        <a:t>值计算方式，确保三方问题能够快速收敛</a:t>
                      </a:r>
                      <a:r>
                        <a:rPr lang="en-US" altLang="zh-CN" sz="1000" dirty="0" smtClean="0"/>
                        <a:t>.DI</a:t>
                      </a:r>
                      <a:r>
                        <a:rPr lang="zh-CN" altLang="en-US" sz="1000" dirty="0" smtClean="0"/>
                        <a:t>值版本火车保持在</a:t>
                      </a:r>
                      <a:r>
                        <a:rPr lang="en-US" altLang="zh-CN" sz="1000" dirty="0" smtClean="0"/>
                        <a:t>5</a:t>
                      </a:r>
                      <a:r>
                        <a:rPr lang="zh-CN" altLang="en-US" sz="1000" dirty="0" smtClean="0"/>
                        <a:t>分，</a:t>
                      </a:r>
                      <a:r>
                        <a:rPr lang="en-US" altLang="zh-CN" sz="1000" dirty="0" smtClean="0"/>
                        <a:t>SR5</a:t>
                      </a:r>
                      <a:r>
                        <a:rPr lang="zh-CN" altLang="en-US" sz="1000" dirty="0" smtClean="0"/>
                        <a:t>保持</a:t>
                      </a:r>
                      <a:r>
                        <a:rPr lang="en-US" altLang="zh-CN" sz="1000" dirty="0" smtClean="0"/>
                        <a:t>9</a:t>
                      </a:r>
                      <a:r>
                        <a:rPr lang="zh-CN" altLang="en-US" sz="1000" dirty="0" smtClean="0"/>
                        <a:t>分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err="1" smtClean="0"/>
                        <a:t>Xts</a:t>
                      </a:r>
                      <a:r>
                        <a:rPr lang="en-US" altLang="zh-CN" sz="1000" dirty="0" smtClean="0"/>
                        <a:t> </a:t>
                      </a:r>
                      <a:r>
                        <a:rPr lang="zh-CN" altLang="en-US" sz="1000" dirty="0" smtClean="0"/>
                        <a:t>痛点：</a:t>
                      </a:r>
                      <a:r>
                        <a:rPr lang="en-US" altLang="zh-CN" sz="1000" dirty="0" smtClean="0">
                          <a:hlinkClick r:id="rId3"/>
                        </a:rPr>
                        <a:t>https://confluence.tclking.com/pages/viewpage.action?pageId=212130175</a:t>
                      </a:r>
                      <a:endParaRPr lang="en-US" altLang="zh-CN" sz="1000" dirty="0" smtClean="0"/>
                    </a:p>
                    <a:p>
                      <a:r>
                        <a:rPr lang="zh-CN" altLang="en-US" sz="1000" dirty="0" smtClean="0"/>
                        <a:t>三方问题痛点：</a:t>
                      </a:r>
                      <a:endParaRPr lang="en-US" altLang="zh-CN" sz="1000" dirty="0" smtClean="0"/>
                    </a:p>
                    <a:p>
                      <a:pPr marL="0" algn="l" defTabSz="914400" rtl="0" eaLnBrk="1" latinLnBrk="0" hangingPunct="1"/>
                      <a:r>
                        <a:rPr lang="en-US" altLang="zh-C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https://confluence.tclking.com/pages/viewpage.action?pageId=189018776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235860"/>
                  </a:ext>
                </a:extLst>
              </a:tr>
              <a:tr h="11677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 smtClean="0"/>
                        <a:t>保交付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1.TTM</a:t>
                      </a:r>
                      <a:r>
                        <a:rPr lang="zh-CN" altLang="en-US" sz="1000" dirty="0" smtClean="0"/>
                        <a:t>达成率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2.</a:t>
                      </a:r>
                      <a:r>
                        <a:rPr lang="zh-CN" altLang="en-US" sz="1000" dirty="0" smtClean="0"/>
                        <a:t>认证在项目节点按时交付率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3.</a:t>
                      </a:r>
                      <a:r>
                        <a:rPr lang="zh-CN" altLang="en-US" sz="1000" dirty="0" smtClean="0"/>
                        <a:t>三方问题过点达成率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/>
                        <a:t>1. </a:t>
                      </a:r>
                      <a:r>
                        <a:rPr lang="zh-CN" altLang="en-US" sz="1000" dirty="0" smtClean="0"/>
                        <a:t>通过产品</a:t>
                      </a:r>
                      <a:r>
                        <a:rPr lang="en-US" altLang="zh-CN" sz="1000" dirty="0" smtClean="0"/>
                        <a:t>SE</a:t>
                      </a:r>
                      <a:r>
                        <a:rPr lang="zh-CN" altLang="en-US" sz="1000" dirty="0" smtClean="0"/>
                        <a:t>变革，提高武汉产品</a:t>
                      </a:r>
                      <a:r>
                        <a:rPr lang="en-US" altLang="zh-CN" sz="1000" dirty="0" smtClean="0"/>
                        <a:t>SE</a:t>
                      </a:r>
                      <a:r>
                        <a:rPr lang="zh-CN" altLang="en-US" sz="1000" dirty="0" smtClean="0"/>
                        <a:t>能力，打造</a:t>
                      </a:r>
                      <a:r>
                        <a:rPr lang="zh-CN" altLang="en-US" sz="1000" b="0" i="0" strike="noStrike" spc="0" dirty="0" smtClean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持续输出高质量稳定的版本的能力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2. </a:t>
                      </a:r>
                      <a:r>
                        <a:rPr lang="zh-CN" altLang="en-US" sz="1000" dirty="0" smtClean="0"/>
                        <a:t>坚持主千版本火车机制，量产分支最小修改原则</a:t>
                      </a:r>
                      <a:endParaRPr lang="en-US" altLang="zh-CN" sz="1000" dirty="0" smtClean="0"/>
                    </a:p>
                    <a:p>
                      <a:r>
                        <a:rPr lang="en-US" altLang="zh-CN" sz="1000" dirty="0" smtClean="0"/>
                        <a:t>3. 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</a:rPr>
                        <a:t>认证、三方问题痛点梳理，产品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</a:rPr>
                        <a:t>SEG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</a:rPr>
                        <a:t>周例会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</a:rPr>
                        <a:t>review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</a:rPr>
                        <a:t>闭环</a:t>
                      </a:r>
                      <a:endParaRPr lang="en-US" altLang="zh-CN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647929"/>
                  </a:ext>
                </a:extLst>
              </a:tr>
              <a:tr h="8473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 smtClean="0"/>
                        <a:t>建能力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1.</a:t>
                      </a:r>
                      <a:r>
                        <a:rPr lang="zh-CN" altLang="en-US" sz="1000" dirty="0" smtClean="0"/>
                        <a:t>质量事故</a:t>
                      </a:r>
                      <a:r>
                        <a:rPr lang="en-US" altLang="zh-CN" sz="1000" dirty="0" smtClean="0"/>
                        <a:t>/</a:t>
                      </a:r>
                      <a:r>
                        <a:rPr lang="zh-CN" altLang="en-US" sz="1000" dirty="0" smtClean="0"/>
                        <a:t>事件降低</a:t>
                      </a:r>
                      <a:r>
                        <a:rPr lang="en-US" altLang="zh-CN" sz="1000" dirty="0" smtClean="0"/>
                        <a:t>50%</a:t>
                      </a:r>
                    </a:p>
                    <a:p>
                      <a:r>
                        <a:rPr lang="en-US" altLang="zh-CN" sz="1000" dirty="0" smtClean="0"/>
                        <a:t>2.</a:t>
                      </a:r>
                      <a:r>
                        <a:rPr lang="zh-CN" altLang="en-US" sz="1000" dirty="0" smtClean="0"/>
                        <a:t>能够独立承接项目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1.</a:t>
                      </a:r>
                      <a:r>
                        <a:rPr lang="en-US" altLang="zh-CN" sz="1000" baseline="0" dirty="0" smtClean="0"/>
                        <a:t> </a:t>
                      </a:r>
                      <a:r>
                        <a:rPr lang="zh-CN" altLang="en-US" sz="1000" baseline="0" dirty="0" smtClean="0"/>
                        <a:t>产品</a:t>
                      </a:r>
                      <a:r>
                        <a:rPr lang="en-US" altLang="zh-CN" sz="1000" baseline="0" dirty="0" smtClean="0"/>
                        <a:t>SE</a:t>
                      </a:r>
                      <a:r>
                        <a:rPr lang="zh-CN" altLang="en-US" sz="1000" baseline="0" dirty="0" smtClean="0"/>
                        <a:t>变革，</a:t>
                      </a:r>
                      <a:r>
                        <a:rPr lang="zh-CN" altLang="en-US" sz="1000" dirty="0" smtClean="0"/>
                        <a:t>赋能武汉团队</a:t>
                      </a:r>
                      <a:endParaRPr lang="en-US" altLang="zh-CN" sz="1000" dirty="0" smtClean="0"/>
                    </a:p>
                    <a:p>
                      <a:pPr marL="0" algn="l" defTabSz="914400" rtl="0" eaLnBrk="1" latinLnBrk="0" hangingPunct="1"/>
                      <a:r>
                        <a:rPr lang="en-US" altLang="zh-C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武汉团队平台能力建设</a:t>
                      </a:r>
                      <a:endParaRPr lang="en-US" altLang="zh-CN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000" dirty="0" smtClean="0"/>
                        <a:t>3. </a:t>
                      </a:r>
                      <a:r>
                        <a:rPr lang="zh-CN" altLang="en-US" sz="1000" dirty="0" smtClean="0"/>
                        <a:t>外包</a:t>
                      </a:r>
                      <a:r>
                        <a:rPr lang="zh-CN" altLang="en-US" sz="1000" dirty="0" smtClean="0"/>
                        <a:t>激励机制落地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414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12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354</Words>
  <Application>Microsoft Office PowerPoint</Application>
  <PresentationFormat>宽屏</PresentationFormat>
  <Paragraphs>38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FZLanTingHei-M-GBK</vt:lpstr>
      <vt:lpstr>DengXian</vt:lpstr>
      <vt:lpstr>DengXian</vt:lpstr>
      <vt:lpstr>等线 Light</vt:lpstr>
      <vt:lpstr>Microsoft YaHei</vt:lpstr>
      <vt:lpstr>Microsoft YaHei</vt:lpstr>
      <vt:lpstr>Arial</vt:lpstr>
      <vt:lpstr>Helvetica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w1683</dc:creator>
  <cp:lastModifiedBy>曾泽欢</cp:lastModifiedBy>
  <cp:revision>65</cp:revision>
  <cp:lastPrinted>2021-01-25T06:16:07Z</cp:lastPrinted>
  <dcterms:created xsi:type="dcterms:W3CDTF">2020-12-26T13:45:33Z</dcterms:created>
  <dcterms:modified xsi:type="dcterms:W3CDTF">2023-06-26T15:35:39Z</dcterms:modified>
</cp:coreProperties>
</file>